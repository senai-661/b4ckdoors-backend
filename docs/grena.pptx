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Horizon" charset="1" panose="02000500000000000000"/>
      <p:regular r:id="rId28"/>
    </p:embeddedFont>
    <p:embeddedFont>
      <p:font typeface="Montserrat" charset="1" panose="00000500000000000000"/>
      <p:regular r:id="rId29"/>
    </p:embeddedFont>
    <p:embeddedFont>
      <p:font typeface="Open Sans" charset="1" panose="020B0606030504020204"/>
      <p:regular r:id="rId30"/>
    </p:embeddedFont>
    <p:embeddedFont>
      <p:font typeface="Raleway" charset="1" panose="00000000000000000000"/>
      <p:regular r:id="rId31"/>
    </p:embeddedFont>
    <p:embeddedFont>
      <p:font typeface="Open Sauce" charset="1" panose="00000500000000000000"/>
      <p:regular r:id="rId32"/>
    </p:embeddedFont>
    <p:embeddedFont>
      <p:font typeface="DM Sans" charset="1" panose="00000000000000000000"/>
      <p:regular r:id="rId33"/>
    </p:embeddedFont>
    <p:embeddedFont>
      <p:font typeface="Open Sauce Bold" charset="1" panose="00000800000000000000"/>
      <p:regular r:id="rId34"/>
    </p:embeddedFont>
    <p:embeddedFont>
      <p:font typeface="Open Sauce Bold Italics" charset="1" panose="00000800000000000000"/>
      <p:regular r:id="rId35"/>
    </p:embeddedFont>
    <p:embeddedFont>
      <p:font typeface="Open Sans Bold" charset="1" panose="020B080603050402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2.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43.png" Type="http://schemas.openxmlformats.org/officeDocument/2006/relationships/image"/><Relationship Id="rId18" Target="../media/image44.png" Type="http://schemas.openxmlformats.org/officeDocument/2006/relationships/image"/><Relationship Id="rId19" Target="../media/image45.svg" Type="http://schemas.openxmlformats.org/officeDocument/2006/relationships/image"/><Relationship Id="rId2" Target="../media/image2.png" Type="http://schemas.openxmlformats.org/officeDocument/2006/relationships/image"/><Relationship Id="rId20" Target="../media/image46.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png" Type="http://schemas.openxmlformats.org/officeDocument/2006/relationships/image"/><Relationship Id="rId11" Target="../media/image51.png" Type="http://schemas.openxmlformats.org/officeDocument/2006/relationships/image"/><Relationship Id="rId12" Target="../media/image52.png" Type="http://schemas.openxmlformats.org/officeDocument/2006/relationships/image"/><Relationship Id="rId13" Target="../media/image53.jpeg" Type="http://schemas.openxmlformats.org/officeDocument/2006/relationships/image"/><Relationship Id="rId14" Target="../media/image54.png" Type="http://schemas.openxmlformats.org/officeDocument/2006/relationships/image"/><Relationship Id="rId15" Target="../media/image55.png" Type="http://schemas.openxmlformats.org/officeDocument/2006/relationships/image"/><Relationship Id="rId16" Target="../media/image33.png" Type="http://schemas.openxmlformats.org/officeDocument/2006/relationships/image"/><Relationship Id="rId17" Target="../media/image34.svg" Type="http://schemas.openxmlformats.org/officeDocument/2006/relationships/image"/><Relationship Id="rId18" Target="../media/image56.png" Type="http://schemas.openxmlformats.org/officeDocument/2006/relationships/image"/><Relationship Id="rId19" Target="../media/image57.svg" Type="http://schemas.openxmlformats.org/officeDocument/2006/relationships/image"/><Relationship Id="rId2" Target="../media/image47.png" Type="http://schemas.openxmlformats.org/officeDocument/2006/relationships/image"/><Relationship Id="rId20" Target="../media/image35.png" Type="http://schemas.openxmlformats.org/officeDocument/2006/relationships/image"/><Relationship Id="rId21" Target="../media/image36.svg" Type="http://schemas.openxmlformats.org/officeDocument/2006/relationships/image"/><Relationship Id="rId22" Target="../media/image37.png" Type="http://schemas.openxmlformats.org/officeDocument/2006/relationships/image"/><Relationship Id="rId23" Target="../media/image38.svg" Type="http://schemas.openxmlformats.org/officeDocument/2006/relationships/image"/><Relationship Id="rId24" Target="../media/image39.png" Type="http://schemas.openxmlformats.org/officeDocument/2006/relationships/image"/><Relationship Id="rId25" Target="../media/image40.svg" Type="http://schemas.openxmlformats.org/officeDocument/2006/relationships/image"/><Relationship Id="rId26" Target="../media/image41.png" Type="http://schemas.openxmlformats.org/officeDocument/2006/relationships/image"/><Relationship Id="rId27" Target="../media/image42.svg" Type="http://schemas.openxmlformats.org/officeDocument/2006/relationships/image"/><Relationship Id="rId3" Target="../media/image48.png" Type="http://schemas.openxmlformats.org/officeDocument/2006/relationships/image"/><Relationship Id="rId4" Target="../media/image49.jpeg" Type="http://schemas.openxmlformats.org/officeDocument/2006/relationships/image"/><Relationship Id="rId5" Target="../media/image2.pn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47.png" Type="http://schemas.openxmlformats.org/officeDocument/2006/relationships/image"/><Relationship Id="rId20" Target="../media/image58.png" Type="http://schemas.openxmlformats.org/officeDocument/2006/relationships/image"/><Relationship Id="rId21" Target="../media/image59.png" Type="http://schemas.openxmlformats.org/officeDocument/2006/relationships/image"/><Relationship Id="rId22" Target="../media/image60.png" Type="http://schemas.openxmlformats.org/officeDocument/2006/relationships/image"/><Relationship Id="rId23" Target="../media/image61.png" Type="http://schemas.openxmlformats.org/officeDocument/2006/relationships/image"/><Relationship Id="rId3" Target="../media/image2.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47.png" Type="http://schemas.openxmlformats.org/officeDocument/2006/relationships/image"/><Relationship Id="rId20" Target="../media/image62.png" Type="http://schemas.openxmlformats.org/officeDocument/2006/relationships/image"/><Relationship Id="rId21" Target="../media/image63.png" Type="http://schemas.openxmlformats.org/officeDocument/2006/relationships/image"/><Relationship Id="rId22" Target="../media/image64.png" Type="http://schemas.openxmlformats.org/officeDocument/2006/relationships/image"/><Relationship Id="rId23" Target="../media/image65.png" Type="http://schemas.openxmlformats.org/officeDocument/2006/relationships/image"/><Relationship Id="rId3" Target="../media/image2.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47.png" Type="http://schemas.openxmlformats.org/officeDocument/2006/relationships/image"/><Relationship Id="rId18" Target="../media/image56.png" Type="http://schemas.openxmlformats.org/officeDocument/2006/relationships/image"/><Relationship Id="rId19" Target="../media/image57.svg" Type="http://schemas.openxmlformats.org/officeDocument/2006/relationships/image"/><Relationship Id="rId2" Target="../media/image2.png" Type="http://schemas.openxmlformats.org/officeDocument/2006/relationships/image"/><Relationship Id="rId20" Target="../media/image66.png" Type="http://schemas.openxmlformats.org/officeDocument/2006/relationships/image"/><Relationship Id="rId21" Target="../media/image67.png" Type="http://schemas.openxmlformats.org/officeDocument/2006/relationships/image"/><Relationship Id="rId22" Target="../media/image68.png" Type="http://schemas.openxmlformats.org/officeDocument/2006/relationships/image"/><Relationship Id="rId23" Target="../media/image69.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47.png" Type="http://schemas.openxmlformats.org/officeDocument/2006/relationships/image"/><Relationship Id="rId20" Target="../media/image70.png" Type="http://schemas.openxmlformats.org/officeDocument/2006/relationships/image"/><Relationship Id="rId21" Target="../media/image71.png" Type="http://schemas.openxmlformats.org/officeDocument/2006/relationships/image"/><Relationship Id="rId22" Target="../media/image72.png" Type="http://schemas.openxmlformats.org/officeDocument/2006/relationships/image"/><Relationship Id="rId23" Target="../media/image73.png" Type="http://schemas.openxmlformats.org/officeDocument/2006/relationships/image"/><Relationship Id="rId3" Target="../media/image2.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74.png" Type="http://schemas.openxmlformats.org/officeDocument/2006/relationships/image"/><Relationship Id="rId18" Target="../media/image75.png" Type="http://schemas.openxmlformats.org/officeDocument/2006/relationships/image"/><Relationship Id="rId19" Target="../media/image76.png" Type="http://schemas.openxmlformats.org/officeDocument/2006/relationships/image"/><Relationship Id="rId2" Target="../media/image2.png" Type="http://schemas.openxmlformats.org/officeDocument/2006/relationships/image"/><Relationship Id="rId20" Target="../media/image77.png" Type="http://schemas.openxmlformats.org/officeDocument/2006/relationships/image"/><Relationship Id="rId21" Target="../media/image47.png" Type="http://schemas.openxmlformats.org/officeDocument/2006/relationships/image"/><Relationship Id="rId22" Target="../media/image56.png" Type="http://schemas.openxmlformats.org/officeDocument/2006/relationships/image"/><Relationship Id="rId23" Target="../media/image57.sv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47.png" Type="http://schemas.openxmlformats.org/officeDocument/2006/relationships/image"/><Relationship Id="rId20" Target="../media/image78.png" Type="http://schemas.openxmlformats.org/officeDocument/2006/relationships/image"/><Relationship Id="rId21" Target="../media/image79.png" Type="http://schemas.openxmlformats.org/officeDocument/2006/relationships/image"/><Relationship Id="rId22" Target="../media/image80.png" Type="http://schemas.openxmlformats.org/officeDocument/2006/relationships/image"/><Relationship Id="rId23" Target="../media/image81.png" Type="http://schemas.openxmlformats.org/officeDocument/2006/relationships/image"/><Relationship Id="rId24" Target="../media/image82.png" Type="http://schemas.openxmlformats.org/officeDocument/2006/relationships/image"/><Relationship Id="rId25" Target="../media/image83.png" Type="http://schemas.openxmlformats.org/officeDocument/2006/relationships/image"/><Relationship Id="rId26" Target="../media/image84.png" Type="http://schemas.openxmlformats.org/officeDocument/2006/relationships/image"/><Relationship Id="rId27" Target="../media/image85.png" Type="http://schemas.openxmlformats.org/officeDocument/2006/relationships/image"/><Relationship Id="rId3" Target="../media/image2.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86.pn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16" Target="../media/image41.png" Type="http://schemas.openxmlformats.org/officeDocument/2006/relationships/image"/><Relationship Id="rId17" Target="../media/image42.svg" Type="http://schemas.openxmlformats.org/officeDocument/2006/relationships/image"/><Relationship Id="rId18" Target="../media/image87.png" Type="http://schemas.openxmlformats.org/officeDocument/2006/relationships/image"/><Relationship Id="rId19" Target="../media/image88.png" Type="http://schemas.openxmlformats.org/officeDocument/2006/relationships/image"/><Relationship Id="rId2" Target="../media/image2.png" Type="http://schemas.openxmlformats.org/officeDocument/2006/relationships/image"/><Relationship Id="rId20" Target="../media/image89.png" Type="http://schemas.openxmlformats.org/officeDocument/2006/relationships/image"/><Relationship Id="rId21" Target="../media/image90.png" Type="http://schemas.openxmlformats.org/officeDocument/2006/relationships/image"/><Relationship Id="rId22" Target="../media/image91.png" Type="http://schemas.openxmlformats.org/officeDocument/2006/relationships/image"/><Relationship Id="rId23" Target="../media/image92.png" Type="http://schemas.openxmlformats.org/officeDocument/2006/relationships/image"/><Relationship Id="rId24" Target="../media/image93.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1.png" Type="http://schemas.openxmlformats.org/officeDocument/2006/relationships/image"/><Relationship Id="rId11" Target="../media/image102.svg" Type="http://schemas.openxmlformats.org/officeDocument/2006/relationships/image"/><Relationship Id="rId12" Target="../media/image103.png" Type="http://schemas.openxmlformats.org/officeDocument/2006/relationships/image"/><Relationship Id="rId13" Target="../media/image104.svg" Type="http://schemas.openxmlformats.org/officeDocument/2006/relationships/image"/><Relationship Id="rId14" Target="../media/image2.png" Type="http://schemas.openxmlformats.org/officeDocument/2006/relationships/image"/><Relationship Id="rId15" Target="../media/image29.png" Type="http://schemas.openxmlformats.org/officeDocument/2006/relationships/image"/><Relationship Id="rId16" Target="../media/image30.svg" Type="http://schemas.openxmlformats.org/officeDocument/2006/relationships/image"/><Relationship Id="rId17" Target="../media/image31.png" Type="http://schemas.openxmlformats.org/officeDocument/2006/relationships/image"/><Relationship Id="rId18" Target="../media/image32.svg" Type="http://schemas.openxmlformats.org/officeDocument/2006/relationships/image"/><Relationship Id="rId19" Target="../media/image33.png" Type="http://schemas.openxmlformats.org/officeDocument/2006/relationships/image"/><Relationship Id="rId2" Target="../media/image47.png" Type="http://schemas.openxmlformats.org/officeDocument/2006/relationships/image"/><Relationship Id="rId20" Target="../media/image34.svg" Type="http://schemas.openxmlformats.org/officeDocument/2006/relationships/image"/><Relationship Id="rId21" Target="../media/image35.png" Type="http://schemas.openxmlformats.org/officeDocument/2006/relationships/image"/><Relationship Id="rId22" Target="../media/image36.svg" Type="http://schemas.openxmlformats.org/officeDocument/2006/relationships/image"/><Relationship Id="rId23" Target="../media/image37.png" Type="http://schemas.openxmlformats.org/officeDocument/2006/relationships/image"/><Relationship Id="rId24" Target="../media/image38.svg" Type="http://schemas.openxmlformats.org/officeDocument/2006/relationships/image"/><Relationship Id="rId25" Target="../media/image41.png" Type="http://schemas.openxmlformats.org/officeDocument/2006/relationships/image"/><Relationship Id="rId26" Target="../media/image42.svg" Type="http://schemas.openxmlformats.org/officeDocument/2006/relationships/image"/><Relationship Id="rId27" Target="../media/image105.png" Type="http://schemas.openxmlformats.org/officeDocument/2006/relationships/image"/><Relationship Id="rId28" Target="../media/image106.svg" Type="http://schemas.openxmlformats.org/officeDocument/2006/relationships/image"/><Relationship Id="rId29" Target="../media/image107.png" Type="http://schemas.openxmlformats.org/officeDocument/2006/relationships/image"/><Relationship Id="rId3" Target="../media/image94.png" Type="http://schemas.openxmlformats.org/officeDocument/2006/relationships/image"/><Relationship Id="rId30" Target="../media/image108.png" Type="http://schemas.openxmlformats.org/officeDocument/2006/relationships/image"/><Relationship Id="rId31" Target="../media/image109.png" Type="http://schemas.openxmlformats.org/officeDocument/2006/relationships/image"/><Relationship Id="rId32" Target="../media/image110.png" Type="http://schemas.openxmlformats.org/officeDocument/2006/relationships/image"/><Relationship Id="rId4" Target="../media/image95.svg" Type="http://schemas.openxmlformats.org/officeDocument/2006/relationships/image"/><Relationship Id="rId5" Target="../media/image96.png" Type="http://schemas.openxmlformats.org/officeDocument/2006/relationships/image"/><Relationship Id="rId6" Target="../media/image97.svg" Type="http://schemas.openxmlformats.org/officeDocument/2006/relationships/image"/><Relationship Id="rId7" Target="../media/image98.png" Type="http://schemas.openxmlformats.org/officeDocument/2006/relationships/image"/><Relationship Id="rId8" Target="../media/image99.svg" Type="http://schemas.openxmlformats.org/officeDocument/2006/relationships/image"/><Relationship Id="rId9" Target="../media/image10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3.png" Type="http://schemas.openxmlformats.org/officeDocument/2006/relationships/image"/><Relationship Id="rId11" Target="../media/image98.png" Type="http://schemas.openxmlformats.org/officeDocument/2006/relationships/image"/><Relationship Id="rId12" Target="../media/image99.svg" Type="http://schemas.openxmlformats.org/officeDocument/2006/relationships/image"/><Relationship Id="rId13" Target="../media/image100.png" Type="http://schemas.openxmlformats.org/officeDocument/2006/relationships/image"/><Relationship Id="rId14" Target="../media/image101.png" Type="http://schemas.openxmlformats.org/officeDocument/2006/relationships/image"/><Relationship Id="rId15" Target="../media/image102.svg" Type="http://schemas.openxmlformats.org/officeDocument/2006/relationships/image"/><Relationship Id="rId16" Target="../media/image103.png" Type="http://schemas.openxmlformats.org/officeDocument/2006/relationships/image"/><Relationship Id="rId17" Target="../media/image104.svg" Type="http://schemas.openxmlformats.org/officeDocument/2006/relationships/image"/><Relationship Id="rId18" Target="../media/image2.png" Type="http://schemas.openxmlformats.org/officeDocument/2006/relationships/image"/><Relationship Id="rId19" Target="../media/image29.png" Type="http://schemas.openxmlformats.org/officeDocument/2006/relationships/image"/><Relationship Id="rId2" Target="../media/image47.png" Type="http://schemas.openxmlformats.org/officeDocument/2006/relationships/image"/><Relationship Id="rId20" Target="../media/image30.sv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svg" Type="http://schemas.openxmlformats.org/officeDocument/2006/relationships/image"/><Relationship Id="rId27" Target="../media/image37.png" Type="http://schemas.openxmlformats.org/officeDocument/2006/relationships/image"/><Relationship Id="rId28" Target="../media/image38.svg" Type="http://schemas.openxmlformats.org/officeDocument/2006/relationships/image"/><Relationship Id="rId29" Target="../media/image41.png" Type="http://schemas.openxmlformats.org/officeDocument/2006/relationships/image"/><Relationship Id="rId3" Target="../media/image50.png" Type="http://schemas.openxmlformats.org/officeDocument/2006/relationships/image"/><Relationship Id="rId30" Target="../media/image42.svg" Type="http://schemas.openxmlformats.org/officeDocument/2006/relationships/image"/><Relationship Id="rId31" Target="../media/image105.png" Type="http://schemas.openxmlformats.org/officeDocument/2006/relationships/image"/><Relationship Id="rId32" Target="../media/image106.svg" Type="http://schemas.openxmlformats.org/officeDocument/2006/relationships/image"/><Relationship Id="rId4" Target="../media/image111.jpeg" Type="http://schemas.openxmlformats.org/officeDocument/2006/relationships/image"/><Relationship Id="rId5" Target="../media/image94.png" Type="http://schemas.openxmlformats.org/officeDocument/2006/relationships/image"/><Relationship Id="rId6" Target="../media/image95.svg" Type="http://schemas.openxmlformats.org/officeDocument/2006/relationships/image"/><Relationship Id="rId7" Target="../media/image96.png" Type="http://schemas.openxmlformats.org/officeDocument/2006/relationships/image"/><Relationship Id="rId8" Target="../media/image97.svg" Type="http://schemas.openxmlformats.org/officeDocument/2006/relationships/image"/><Relationship Id="rId9" Target="../media/image1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9.svg" Type="http://schemas.openxmlformats.org/officeDocument/2006/relationships/image"/><Relationship Id="rId11" Target="../media/image120.png" Type="http://schemas.openxmlformats.org/officeDocument/2006/relationships/image"/><Relationship Id="rId12" Target="../media/image121.svg" Type="http://schemas.openxmlformats.org/officeDocument/2006/relationships/image"/><Relationship Id="rId13" Target="../media/image101.png" Type="http://schemas.openxmlformats.org/officeDocument/2006/relationships/image"/><Relationship Id="rId14" Target="../media/image102.svg" Type="http://schemas.openxmlformats.org/officeDocument/2006/relationships/image"/><Relationship Id="rId15" Target="../media/image44.png" Type="http://schemas.openxmlformats.org/officeDocument/2006/relationships/image"/><Relationship Id="rId16" Target="../media/image45.svg" Type="http://schemas.openxmlformats.org/officeDocument/2006/relationships/image"/><Relationship Id="rId17" Target="../media/image122.png" Type="http://schemas.openxmlformats.org/officeDocument/2006/relationships/image"/><Relationship Id="rId18" Target="../media/image123.svg" Type="http://schemas.openxmlformats.org/officeDocument/2006/relationships/image"/><Relationship Id="rId19" Target="../media/image107.png" Type="http://schemas.openxmlformats.org/officeDocument/2006/relationships/image"/><Relationship Id="rId2" Target="../media/image2.png" Type="http://schemas.openxmlformats.org/officeDocument/2006/relationships/image"/><Relationship Id="rId3" Target="../media/image114.png" Type="http://schemas.openxmlformats.org/officeDocument/2006/relationships/image"/><Relationship Id="rId4" Target="../media/image115.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116.png" Type="http://schemas.openxmlformats.org/officeDocument/2006/relationships/image"/><Relationship Id="rId8" Target="../media/image117.svg" Type="http://schemas.openxmlformats.org/officeDocument/2006/relationships/image"/><Relationship Id="rId9" Target="../media/image1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124.png" Type="http://schemas.openxmlformats.org/officeDocument/2006/relationships/image"/><Relationship Id="rId2" Target="../media/image2.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094562" y="3605521"/>
            <a:ext cx="14098875" cy="3156956"/>
          </a:xfrm>
          <a:prstGeom prst="rect">
            <a:avLst/>
          </a:prstGeom>
        </p:spPr>
        <p:txBody>
          <a:bodyPr anchor="t" rtlCol="false" tIns="0" lIns="0" bIns="0" rIns="0">
            <a:spAutoFit/>
          </a:bodyPr>
          <a:lstStyle/>
          <a:p>
            <a:pPr algn="just">
              <a:lnSpc>
                <a:spcPts val="12369"/>
              </a:lnSpc>
              <a:spcBef>
                <a:spcPct val="0"/>
              </a:spcBef>
            </a:pPr>
            <a:r>
              <a:rPr lang="en-US" sz="8835">
                <a:solidFill>
                  <a:srgbClr val="FFFFFF"/>
                </a:solidFill>
                <a:latin typeface="Horizon"/>
                <a:ea typeface="Horizon"/>
                <a:cs typeface="Horizon"/>
                <a:sym typeface="Horizon"/>
              </a:rPr>
              <a:t>BEM-VINDOS AO SITE DA GRENÁ</a:t>
            </a:r>
          </a:p>
        </p:txBody>
      </p:sp>
      <p:sp>
        <p:nvSpPr>
          <p:cNvPr name="AutoShape 3" id="3"/>
          <p:cNvSpPr/>
          <p:nvPr/>
        </p:nvSpPr>
        <p:spPr>
          <a:xfrm flipV="true">
            <a:off x="-962196" y="1345819"/>
            <a:ext cx="20618355" cy="0"/>
          </a:xfrm>
          <a:prstGeom prst="line">
            <a:avLst/>
          </a:prstGeom>
          <a:ln cap="flat" w="28575">
            <a:solidFill>
              <a:srgbClr val="FFFFFF"/>
            </a:solidFill>
            <a:prstDash val="solid"/>
            <a:headEnd type="none" len="sm" w="sm"/>
            <a:tailEnd type="none" len="sm" w="sm"/>
          </a:ln>
        </p:spPr>
      </p:sp>
      <p:grpSp>
        <p:nvGrpSpPr>
          <p:cNvPr name="Group 4" id="4"/>
          <p:cNvGrpSpPr/>
          <p:nvPr/>
        </p:nvGrpSpPr>
        <p:grpSpPr>
          <a:xfrm rot="0">
            <a:off x="-173980" y="9952037"/>
            <a:ext cx="18635960" cy="614051"/>
            <a:chOff x="0" y="0"/>
            <a:chExt cx="4908236" cy="161725"/>
          </a:xfrm>
        </p:grpSpPr>
        <p:sp>
          <p:nvSpPr>
            <p:cNvPr name="Freeform 5" id="5"/>
            <p:cNvSpPr/>
            <p:nvPr/>
          </p:nvSpPr>
          <p:spPr>
            <a:xfrm flipH="false" flipV="false" rot="0">
              <a:off x="0" y="0"/>
              <a:ext cx="4908236" cy="161725"/>
            </a:xfrm>
            <a:custGeom>
              <a:avLst/>
              <a:gdLst/>
              <a:ahLst/>
              <a:cxnLst/>
              <a:rect r="r" b="b" t="t" l="l"/>
              <a:pathLst>
                <a:path h="161725" w="4908236">
                  <a:moveTo>
                    <a:pt x="0" y="0"/>
                  </a:moveTo>
                  <a:lnTo>
                    <a:pt x="4908236" y="0"/>
                  </a:lnTo>
                  <a:lnTo>
                    <a:pt x="4908236" y="161725"/>
                  </a:lnTo>
                  <a:lnTo>
                    <a:pt x="0" y="161725"/>
                  </a:lnTo>
                  <a:close/>
                </a:path>
              </a:pathLst>
            </a:custGeom>
            <a:solidFill>
              <a:srgbClr val="000000"/>
            </a:solidFill>
          </p:spPr>
        </p:sp>
        <p:sp>
          <p:nvSpPr>
            <p:cNvPr name="TextBox 6" id="6"/>
            <p:cNvSpPr txBox="true"/>
            <p:nvPr/>
          </p:nvSpPr>
          <p:spPr>
            <a:xfrm>
              <a:off x="0" y="-38100"/>
              <a:ext cx="4908236" cy="199825"/>
            </a:xfrm>
            <a:prstGeom prst="rect">
              <a:avLst/>
            </a:prstGeom>
          </p:spPr>
          <p:txBody>
            <a:bodyPr anchor="ctr" rtlCol="false" tIns="50800" lIns="50800" bIns="50800" rIns="50800"/>
            <a:lstStyle/>
            <a:p>
              <a:pPr algn="ctr">
                <a:lnSpc>
                  <a:spcPts val="2871"/>
                </a:lnSpc>
              </a:pPr>
            </a:p>
          </p:txBody>
        </p:sp>
      </p:grpSp>
      <p:grpSp>
        <p:nvGrpSpPr>
          <p:cNvPr name="Group 7" id="7"/>
          <p:cNvGrpSpPr/>
          <p:nvPr/>
        </p:nvGrpSpPr>
        <p:grpSpPr>
          <a:xfrm rot="0">
            <a:off x="-173980" y="9826154"/>
            <a:ext cx="18635960" cy="1378946"/>
            <a:chOff x="0" y="0"/>
            <a:chExt cx="4908236" cy="363179"/>
          </a:xfrm>
        </p:grpSpPr>
        <p:sp>
          <p:nvSpPr>
            <p:cNvPr name="Freeform 8" id="8"/>
            <p:cNvSpPr/>
            <p:nvPr/>
          </p:nvSpPr>
          <p:spPr>
            <a:xfrm flipH="false" flipV="false" rot="0">
              <a:off x="0" y="0"/>
              <a:ext cx="4908236" cy="363179"/>
            </a:xfrm>
            <a:custGeom>
              <a:avLst/>
              <a:gdLst/>
              <a:ahLst/>
              <a:cxnLst/>
              <a:rect r="r" b="b" t="t" l="l"/>
              <a:pathLst>
                <a:path h="363179" w="4908236">
                  <a:moveTo>
                    <a:pt x="0" y="0"/>
                  </a:moveTo>
                  <a:lnTo>
                    <a:pt x="4908236" y="0"/>
                  </a:lnTo>
                  <a:lnTo>
                    <a:pt x="4908236" y="363179"/>
                  </a:lnTo>
                  <a:lnTo>
                    <a:pt x="0" y="363179"/>
                  </a:lnTo>
                  <a:close/>
                </a:path>
              </a:pathLst>
            </a:custGeom>
            <a:solidFill>
              <a:srgbClr val="85131E"/>
            </a:solidFill>
          </p:spPr>
        </p:sp>
        <p:sp>
          <p:nvSpPr>
            <p:cNvPr name="TextBox 9" id="9"/>
            <p:cNvSpPr txBox="true"/>
            <p:nvPr/>
          </p:nvSpPr>
          <p:spPr>
            <a:xfrm>
              <a:off x="0" y="-38100"/>
              <a:ext cx="4908236" cy="401279"/>
            </a:xfrm>
            <a:prstGeom prst="rect">
              <a:avLst/>
            </a:prstGeom>
          </p:spPr>
          <p:txBody>
            <a:bodyPr anchor="ctr" rtlCol="false" tIns="50800" lIns="50800" bIns="50800" rIns="50800"/>
            <a:lstStyle/>
            <a:p>
              <a:pPr algn="ctr">
                <a:lnSpc>
                  <a:spcPts val="2871"/>
                </a:lnSpc>
              </a:pPr>
            </a:p>
          </p:txBody>
        </p:sp>
      </p:grpSp>
      <p:grpSp>
        <p:nvGrpSpPr>
          <p:cNvPr name="Group 10" id="10"/>
          <p:cNvGrpSpPr/>
          <p:nvPr/>
        </p:nvGrpSpPr>
        <p:grpSpPr>
          <a:xfrm rot="0">
            <a:off x="16679665" y="3097546"/>
            <a:ext cx="579635" cy="551160"/>
            <a:chOff x="0" y="0"/>
            <a:chExt cx="152661" cy="145162"/>
          </a:xfrm>
        </p:grpSpPr>
        <p:sp>
          <p:nvSpPr>
            <p:cNvPr name="Freeform 11" id="11"/>
            <p:cNvSpPr/>
            <p:nvPr/>
          </p:nvSpPr>
          <p:spPr>
            <a:xfrm flipH="false" flipV="false" rot="0">
              <a:off x="0" y="0"/>
              <a:ext cx="152661" cy="145162"/>
            </a:xfrm>
            <a:custGeom>
              <a:avLst/>
              <a:gdLst/>
              <a:ahLst/>
              <a:cxnLst/>
              <a:rect r="r" b="b" t="t" l="l"/>
              <a:pathLst>
                <a:path h="145162" w="152661">
                  <a:moveTo>
                    <a:pt x="0" y="0"/>
                  </a:moveTo>
                  <a:lnTo>
                    <a:pt x="152661" y="0"/>
                  </a:lnTo>
                  <a:lnTo>
                    <a:pt x="152661" y="145162"/>
                  </a:lnTo>
                  <a:lnTo>
                    <a:pt x="0" y="145162"/>
                  </a:lnTo>
                  <a:close/>
                </a:path>
              </a:pathLst>
            </a:custGeom>
            <a:solidFill>
              <a:srgbClr val="000000"/>
            </a:solidFill>
          </p:spPr>
        </p:sp>
        <p:sp>
          <p:nvSpPr>
            <p:cNvPr name="TextBox 12" id="12"/>
            <p:cNvSpPr txBox="true"/>
            <p:nvPr/>
          </p:nvSpPr>
          <p:spPr>
            <a:xfrm>
              <a:off x="0" y="-38100"/>
              <a:ext cx="152661" cy="183262"/>
            </a:xfrm>
            <a:prstGeom prst="rect">
              <a:avLst/>
            </a:prstGeom>
          </p:spPr>
          <p:txBody>
            <a:bodyPr anchor="ctr" rtlCol="false" tIns="50800" lIns="50800" bIns="50800" rIns="50800"/>
            <a:lstStyle/>
            <a:p>
              <a:pPr algn="ctr">
                <a:lnSpc>
                  <a:spcPts val="2871"/>
                </a:lnSpc>
              </a:pPr>
            </a:p>
          </p:txBody>
        </p:sp>
      </p:grpSp>
      <p:grpSp>
        <p:nvGrpSpPr>
          <p:cNvPr name="Group 13" id="13"/>
          <p:cNvGrpSpPr/>
          <p:nvPr/>
        </p:nvGrpSpPr>
        <p:grpSpPr>
          <a:xfrm rot="0">
            <a:off x="17259300" y="3648706"/>
            <a:ext cx="1932259" cy="427980"/>
            <a:chOff x="0" y="0"/>
            <a:chExt cx="508908" cy="112719"/>
          </a:xfrm>
        </p:grpSpPr>
        <p:sp>
          <p:nvSpPr>
            <p:cNvPr name="Freeform 14" id="14"/>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15" id="15"/>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sp>
        <p:nvSpPr>
          <p:cNvPr name="Freeform 16" id="16"/>
          <p:cNvSpPr/>
          <p:nvPr/>
        </p:nvSpPr>
        <p:spPr>
          <a:xfrm flipH="false" flipV="false" rot="0">
            <a:off x="-7401702" y="-6883781"/>
            <a:ext cx="33028834" cy="8229600"/>
          </a:xfrm>
          <a:custGeom>
            <a:avLst/>
            <a:gdLst/>
            <a:ahLst/>
            <a:cxnLst/>
            <a:rect r="r" b="b" t="t" l="l"/>
            <a:pathLst>
              <a:path h="8229600" w="33028834">
                <a:moveTo>
                  <a:pt x="0" y="0"/>
                </a:moveTo>
                <a:lnTo>
                  <a:pt x="33028834" y="0"/>
                </a:lnTo>
                <a:lnTo>
                  <a:pt x="33028834" y="8229600"/>
                </a:lnTo>
                <a:lnTo>
                  <a:pt x="0" y="8229600"/>
                </a:lnTo>
                <a:lnTo>
                  <a:pt x="0" y="0"/>
                </a:lnTo>
                <a:close/>
              </a:path>
            </a:pathLst>
          </a:custGeom>
          <a:blipFill>
            <a:blip r:embed="rId2"/>
            <a:stretch>
              <a:fillRect l="0" t="-150670" r="0" b="-150670"/>
            </a:stretch>
          </a:blipFill>
        </p:spPr>
      </p:sp>
      <p:sp>
        <p:nvSpPr>
          <p:cNvPr name="Freeform 17" id="17"/>
          <p:cNvSpPr/>
          <p:nvPr/>
        </p:nvSpPr>
        <p:spPr>
          <a:xfrm flipH="false" flipV="false" rot="0">
            <a:off x="-75177" y="-228929"/>
            <a:ext cx="3949085" cy="2205412"/>
          </a:xfrm>
          <a:custGeom>
            <a:avLst/>
            <a:gdLst/>
            <a:ahLst/>
            <a:cxnLst/>
            <a:rect r="r" b="b" t="t" l="l"/>
            <a:pathLst>
              <a:path h="2205412" w="3949085">
                <a:moveTo>
                  <a:pt x="0" y="0"/>
                </a:moveTo>
                <a:lnTo>
                  <a:pt x="3949085" y="0"/>
                </a:lnTo>
                <a:lnTo>
                  <a:pt x="3949085" y="2205412"/>
                </a:lnTo>
                <a:lnTo>
                  <a:pt x="0" y="2205412"/>
                </a:lnTo>
                <a:lnTo>
                  <a:pt x="0" y="0"/>
                </a:lnTo>
                <a:close/>
              </a:path>
            </a:pathLst>
          </a:custGeom>
          <a:blipFill>
            <a:blip r:embed="rId3"/>
            <a:stretch>
              <a:fillRect l="0" t="-41914" r="0" b="-37148"/>
            </a:stretch>
          </a:blipFill>
        </p:spPr>
      </p:sp>
      <p:grpSp>
        <p:nvGrpSpPr>
          <p:cNvPr name="Group 18" id="18"/>
          <p:cNvGrpSpPr/>
          <p:nvPr/>
        </p:nvGrpSpPr>
        <p:grpSpPr>
          <a:xfrm rot="5400000">
            <a:off x="17015802" y="3097546"/>
            <a:ext cx="486995" cy="817864"/>
            <a:chOff x="0" y="0"/>
            <a:chExt cx="128262" cy="215404"/>
          </a:xfrm>
        </p:grpSpPr>
        <p:sp>
          <p:nvSpPr>
            <p:cNvPr name="Freeform 19" id="19"/>
            <p:cNvSpPr/>
            <p:nvPr/>
          </p:nvSpPr>
          <p:spPr>
            <a:xfrm flipH="false" flipV="false" rot="0">
              <a:off x="0" y="0"/>
              <a:ext cx="128262" cy="215404"/>
            </a:xfrm>
            <a:custGeom>
              <a:avLst/>
              <a:gdLst/>
              <a:ahLst/>
              <a:cxnLst/>
              <a:rect r="r" b="b" t="t" l="l"/>
              <a:pathLst>
                <a:path h="215404" w="128262">
                  <a:moveTo>
                    <a:pt x="0" y="0"/>
                  </a:moveTo>
                  <a:lnTo>
                    <a:pt x="128262" y="0"/>
                  </a:lnTo>
                  <a:lnTo>
                    <a:pt x="128262" y="215404"/>
                  </a:lnTo>
                  <a:lnTo>
                    <a:pt x="0" y="215404"/>
                  </a:lnTo>
                  <a:close/>
                </a:path>
              </a:pathLst>
            </a:custGeom>
            <a:solidFill>
              <a:srgbClr val="871D2A"/>
            </a:solidFill>
          </p:spPr>
        </p:sp>
        <p:sp>
          <p:nvSpPr>
            <p:cNvPr name="TextBox 20" id="20"/>
            <p:cNvSpPr txBox="true"/>
            <p:nvPr/>
          </p:nvSpPr>
          <p:spPr>
            <a:xfrm>
              <a:off x="0" y="-38100"/>
              <a:ext cx="128262" cy="253504"/>
            </a:xfrm>
            <a:prstGeom prst="rect">
              <a:avLst/>
            </a:prstGeom>
          </p:spPr>
          <p:txBody>
            <a:bodyPr anchor="ctr" rtlCol="false" tIns="50800" lIns="50800" bIns="50800" rIns="50800"/>
            <a:lstStyle/>
            <a:p>
              <a:pPr algn="ctr">
                <a:lnSpc>
                  <a:spcPts val="2871"/>
                </a:lnSpc>
              </a:pPr>
            </a:p>
          </p:txBody>
        </p:sp>
      </p:grpSp>
      <p:grpSp>
        <p:nvGrpSpPr>
          <p:cNvPr name="Group 21" id="21"/>
          <p:cNvGrpSpPr/>
          <p:nvPr/>
        </p:nvGrpSpPr>
        <p:grpSpPr>
          <a:xfrm rot="0">
            <a:off x="-437923" y="8830320"/>
            <a:ext cx="1932259" cy="427980"/>
            <a:chOff x="0" y="0"/>
            <a:chExt cx="508908" cy="112719"/>
          </a:xfrm>
        </p:grpSpPr>
        <p:sp>
          <p:nvSpPr>
            <p:cNvPr name="Freeform 22" id="22"/>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23" id="23"/>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grpSp>
        <p:nvGrpSpPr>
          <p:cNvPr name="Group 24" id="24"/>
          <p:cNvGrpSpPr/>
          <p:nvPr/>
        </p:nvGrpSpPr>
        <p:grpSpPr>
          <a:xfrm rot="5400000">
            <a:off x="1194134" y="8391881"/>
            <a:ext cx="486995" cy="817864"/>
            <a:chOff x="0" y="0"/>
            <a:chExt cx="128262" cy="215404"/>
          </a:xfrm>
        </p:grpSpPr>
        <p:sp>
          <p:nvSpPr>
            <p:cNvPr name="Freeform 25" id="25"/>
            <p:cNvSpPr/>
            <p:nvPr/>
          </p:nvSpPr>
          <p:spPr>
            <a:xfrm flipH="false" flipV="false" rot="0">
              <a:off x="0" y="0"/>
              <a:ext cx="128262" cy="215404"/>
            </a:xfrm>
            <a:custGeom>
              <a:avLst/>
              <a:gdLst/>
              <a:ahLst/>
              <a:cxnLst/>
              <a:rect r="r" b="b" t="t" l="l"/>
              <a:pathLst>
                <a:path h="215404" w="128262">
                  <a:moveTo>
                    <a:pt x="0" y="0"/>
                  </a:moveTo>
                  <a:lnTo>
                    <a:pt x="128262" y="0"/>
                  </a:lnTo>
                  <a:lnTo>
                    <a:pt x="128262" y="215404"/>
                  </a:lnTo>
                  <a:lnTo>
                    <a:pt x="0" y="215404"/>
                  </a:lnTo>
                  <a:close/>
                </a:path>
              </a:pathLst>
            </a:custGeom>
            <a:solidFill>
              <a:srgbClr val="871D2A"/>
            </a:solidFill>
          </p:spPr>
        </p:sp>
        <p:sp>
          <p:nvSpPr>
            <p:cNvPr name="TextBox 26" id="26"/>
            <p:cNvSpPr txBox="true"/>
            <p:nvPr/>
          </p:nvSpPr>
          <p:spPr>
            <a:xfrm>
              <a:off x="0" y="-38100"/>
              <a:ext cx="128262" cy="253504"/>
            </a:xfrm>
            <a:prstGeom prst="rect">
              <a:avLst/>
            </a:prstGeom>
          </p:spPr>
          <p:txBody>
            <a:bodyPr anchor="ctr" rtlCol="false" tIns="50800" lIns="50800" bIns="50800" rIns="50800"/>
            <a:lstStyle/>
            <a:p>
              <a:pPr algn="ctr">
                <a:lnSpc>
                  <a:spcPts val="2871"/>
                </a:lnSpc>
              </a:pPr>
            </a:p>
          </p:txBody>
        </p:sp>
      </p:grpSp>
      <p:sp>
        <p:nvSpPr>
          <p:cNvPr name="TextBox 27" id="27"/>
          <p:cNvSpPr txBox="true"/>
          <p:nvPr/>
        </p:nvSpPr>
        <p:spPr>
          <a:xfrm rot="0">
            <a:off x="6412670" y="837423"/>
            <a:ext cx="1999329"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JOÃO OTAVIO</a:t>
            </a:r>
          </a:p>
        </p:txBody>
      </p:sp>
      <p:sp>
        <p:nvSpPr>
          <p:cNvPr name="TextBox 28" id="28"/>
          <p:cNvSpPr txBox="true"/>
          <p:nvPr/>
        </p:nvSpPr>
        <p:spPr>
          <a:xfrm rot="0">
            <a:off x="12688247" y="837423"/>
            <a:ext cx="1907082"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RENAN</a:t>
            </a:r>
          </a:p>
        </p:txBody>
      </p:sp>
      <p:sp>
        <p:nvSpPr>
          <p:cNvPr name="TextBox 29" id="29"/>
          <p:cNvSpPr txBox="true"/>
          <p:nvPr/>
        </p:nvSpPr>
        <p:spPr>
          <a:xfrm rot="0">
            <a:off x="4178708" y="837423"/>
            <a:ext cx="1933585"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CAETANO</a:t>
            </a:r>
          </a:p>
        </p:txBody>
      </p:sp>
      <p:sp>
        <p:nvSpPr>
          <p:cNvPr name="TextBox 30" id="30"/>
          <p:cNvSpPr txBox="true"/>
          <p:nvPr/>
        </p:nvSpPr>
        <p:spPr>
          <a:xfrm rot="0">
            <a:off x="8621002" y="837423"/>
            <a:ext cx="2224975"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PEDRO ELIAS</a:t>
            </a:r>
          </a:p>
        </p:txBody>
      </p:sp>
      <p:sp>
        <p:nvSpPr>
          <p:cNvPr name="TextBox 31" id="31"/>
          <p:cNvSpPr txBox="true"/>
          <p:nvPr/>
        </p:nvSpPr>
        <p:spPr>
          <a:xfrm rot="0">
            <a:off x="10845977" y="835677"/>
            <a:ext cx="2224975"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G. DUTRA</a:t>
            </a:r>
          </a:p>
        </p:txBody>
      </p:sp>
      <p:sp>
        <p:nvSpPr>
          <p:cNvPr name="TextBox 32" id="32"/>
          <p:cNvSpPr txBox="true"/>
          <p:nvPr/>
        </p:nvSpPr>
        <p:spPr>
          <a:xfrm rot="0">
            <a:off x="16852954" y="9059863"/>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647058">
            <a:off x="11837232" y="-1744631"/>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4696085" y="-6852484"/>
            <a:ext cx="12311242" cy="12311242"/>
          </a:xfrm>
          <a:custGeom>
            <a:avLst/>
            <a:gdLst/>
            <a:ahLst/>
            <a:cxnLst/>
            <a:rect r="r" b="b" t="t" l="l"/>
            <a:pathLst>
              <a:path h="12311242" w="12311242">
                <a:moveTo>
                  <a:pt x="0" y="0"/>
                </a:moveTo>
                <a:lnTo>
                  <a:pt x="12311242" y="0"/>
                </a:lnTo>
                <a:lnTo>
                  <a:pt x="12311242" y="12311241"/>
                </a:lnTo>
                <a:lnTo>
                  <a:pt x="0" y="12311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5662215" y="2370169"/>
            <a:ext cx="579635" cy="551160"/>
            <a:chOff x="0" y="0"/>
            <a:chExt cx="152661" cy="145162"/>
          </a:xfrm>
        </p:grpSpPr>
        <p:sp>
          <p:nvSpPr>
            <p:cNvPr name="Freeform 5" id="5"/>
            <p:cNvSpPr/>
            <p:nvPr/>
          </p:nvSpPr>
          <p:spPr>
            <a:xfrm flipH="false" flipV="false" rot="0">
              <a:off x="0" y="0"/>
              <a:ext cx="152661" cy="145162"/>
            </a:xfrm>
            <a:custGeom>
              <a:avLst/>
              <a:gdLst/>
              <a:ahLst/>
              <a:cxnLst/>
              <a:rect r="r" b="b" t="t" l="l"/>
              <a:pathLst>
                <a:path h="145162" w="152661">
                  <a:moveTo>
                    <a:pt x="0" y="0"/>
                  </a:moveTo>
                  <a:lnTo>
                    <a:pt x="152661" y="0"/>
                  </a:lnTo>
                  <a:lnTo>
                    <a:pt x="152661" y="145162"/>
                  </a:lnTo>
                  <a:lnTo>
                    <a:pt x="0" y="145162"/>
                  </a:lnTo>
                  <a:close/>
                </a:path>
              </a:pathLst>
            </a:custGeom>
            <a:solidFill>
              <a:srgbClr val="871D2A"/>
            </a:solidFill>
          </p:spPr>
        </p:sp>
        <p:sp>
          <p:nvSpPr>
            <p:cNvPr name="TextBox 6" id="6"/>
            <p:cNvSpPr txBox="true"/>
            <p:nvPr/>
          </p:nvSpPr>
          <p:spPr>
            <a:xfrm>
              <a:off x="0" y="-38100"/>
              <a:ext cx="152661" cy="183262"/>
            </a:xfrm>
            <a:prstGeom prst="rect">
              <a:avLst/>
            </a:prstGeom>
          </p:spPr>
          <p:txBody>
            <a:bodyPr anchor="ctr" rtlCol="false" tIns="50800" lIns="50800" bIns="50800" rIns="50800"/>
            <a:lstStyle/>
            <a:p>
              <a:pPr algn="ctr">
                <a:lnSpc>
                  <a:spcPts val="2871"/>
                </a:lnSpc>
              </a:pPr>
            </a:p>
          </p:txBody>
        </p:sp>
      </p:grpSp>
      <p:grpSp>
        <p:nvGrpSpPr>
          <p:cNvPr name="Group 7" id="7"/>
          <p:cNvGrpSpPr/>
          <p:nvPr/>
        </p:nvGrpSpPr>
        <p:grpSpPr>
          <a:xfrm rot="0">
            <a:off x="15952032" y="2707339"/>
            <a:ext cx="1932259" cy="427980"/>
            <a:chOff x="0" y="0"/>
            <a:chExt cx="508908" cy="112719"/>
          </a:xfrm>
        </p:grpSpPr>
        <p:sp>
          <p:nvSpPr>
            <p:cNvPr name="Freeform 8" id="8"/>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9" id="9"/>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grpSp>
        <p:nvGrpSpPr>
          <p:cNvPr name="Group 10" id="10"/>
          <p:cNvGrpSpPr/>
          <p:nvPr/>
        </p:nvGrpSpPr>
        <p:grpSpPr>
          <a:xfrm rot="0">
            <a:off x="738883" y="882927"/>
            <a:ext cx="1932259" cy="427980"/>
            <a:chOff x="0" y="0"/>
            <a:chExt cx="508908" cy="112719"/>
          </a:xfrm>
        </p:grpSpPr>
        <p:sp>
          <p:nvSpPr>
            <p:cNvPr name="Freeform 11" id="11"/>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12" id="12"/>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grpSp>
        <p:nvGrpSpPr>
          <p:cNvPr name="Group 13" id="13"/>
          <p:cNvGrpSpPr/>
          <p:nvPr/>
        </p:nvGrpSpPr>
        <p:grpSpPr>
          <a:xfrm rot="0">
            <a:off x="14696085" y="8657263"/>
            <a:ext cx="1932259" cy="427980"/>
            <a:chOff x="0" y="0"/>
            <a:chExt cx="508908" cy="112719"/>
          </a:xfrm>
        </p:grpSpPr>
        <p:sp>
          <p:nvSpPr>
            <p:cNvPr name="Freeform 14" id="14"/>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15" id="15"/>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pic>
        <p:nvPicPr>
          <p:cNvPr name="Picture 16" id="16"/>
          <p:cNvPicPr>
            <a:picLocks noChangeAspect="true"/>
          </p:cNvPicPr>
          <p:nvPr/>
        </p:nvPicPr>
        <p:blipFill>
          <a:blip r:embed="rId5"/>
          <a:stretch>
            <a:fillRect/>
          </a:stretch>
        </p:blipFill>
        <p:spPr>
          <a:xfrm rot="0">
            <a:off x="4824705" y="-411108"/>
            <a:ext cx="7773410" cy="4408660"/>
          </a:xfrm>
          <a:prstGeom prst="rect">
            <a:avLst/>
          </a:prstGeom>
        </p:spPr>
      </p:pic>
      <p:sp>
        <p:nvSpPr>
          <p:cNvPr name="Freeform 17" id="17"/>
          <p:cNvSpPr/>
          <p:nvPr/>
        </p:nvSpPr>
        <p:spPr>
          <a:xfrm flipH="false" flipV="false" rot="0">
            <a:off x="6300464" y="1793222"/>
            <a:ext cx="5687073" cy="1705055"/>
          </a:xfrm>
          <a:custGeom>
            <a:avLst/>
            <a:gdLst/>
            <a:ahLst/>
            <a:cxnLst/>
            <a:rect r="r" b="b" t="t" l="l"/>
            <a:pathLst>
              <a:path h="1705055" w="5687073">
                <a:moveTo>
                  <a:pt x="0" y="0"/>
                </a:moveTo>
                <a:lnTo>
                  <a:pt x="5687072" y="0"/>
                </a:lnTo>
                <a:lnTo>
                  <a:pt x="5687072" y="1705055"/>
                </a:lnTo>
                <a:lnTo>
                  <a:pt x="0" y="1705055"/>
                </a:lnTo>
                <a:lnTo>
                  <a:pt x="0" y="0"/>
                </a:lnTo>
                <a:close/>
              </a:path>
            </a:pathLst>
          </a:custGeom>
          <a:blipFill>
            <a:blip r:embed="rId6"/>
            <a:stretch>
              <a:fillRect l="0" t="-110584" r="0" b="-122957"/>
            </a:stretch>
          </a:blipFill>
        </p:spPr>
      </p:sp>
      <p:sp>
        <p:nvSpPr>
          <p:cNvPr name="Freeform 18" id="18"/>
          <p:cNvSpPr/>
          <p:nvPr/>
        </p:nvSpPr>
        <p:spPr>
          <a:xfrm flipH="false" flipV="false" rot="0">
            <a:off x="-8720713" y="4861430"/>
            <a:ext cx="12311242" cy="12311242"/>
          </a:xfrm>
          <a:custGeom>
            <a:avLst/>
            <a:gdLst/>
            <a:ahLst/>
            <a:cxnLst/>
            <a:rect r="r" b="b" t="t" l="l"/>
            <a:pathLst>
              <a:path h="12311242" w="12311242">
                <a:moveTo>
                  <a:pt x="0" y="0"/>
                </a:moveTo>
                <a:lnTo>
                  <a:pt x="12311242" y="0"/>
                </a:lnTo>
                <a:lnTo>
                  <a:pt x="12311242" y="12311242"/>
                </a:lnTo>
                <a:lnTo>
                  <a:pt x="0" y="123112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8679277" y="4995939"/>
            <a:ext cx="12311242" cy="12311242"/>
          </a:xfrm>
          <a:custGeom>
            <a:avLst/>
            <a:gdLst/>
            <a:ahLst/>
            <a:cxnLst/>
            <a:rect r="r" b="b" t="t" l="l"/>
            <a:pathLst>
              <a:path h="12311242" w="12311242">
                <a:moveTo>
                  <a:pt x="0" y="0"/>
                </a:moveTo>
                <a:lnTo>
                  <a:pt x="12311242" y="0"/>
                </a:lnTo>
                <a:lnTo>
                  <a:pt x="12311242" y="12311241"/>
                </a:lnTo>
                <a:lnTo>
                  <a:pt x="0" y="12311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2523656" y="3625993"/>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21" id="21"/>
          <p:cNvSpPr/>
          <p:nvPr/>
        </p:nvSpPr>
        <p:spPr>
          <a:xfrm flipH="false" flipV="false" rot="0">
            <a:off x="15356240" y="7502525"/>
            <a:ext cx="3344210" cy="4114800"/>
          </a:xfrm>
          <a:custGeom>
            <a:avLst/>
            <a:gdLst/>
            <a:ahLst/>
            <a:cxnLst/>
            <a:rect r="r" b="b" t="t" l="l"/>
            <a:pathLst>
              <a:path h="4114800" w="3344210">
                <a:moveTo>
                  <a:pt x="0" y="0"/>
                </a:moveTo>
                <a:lnTo>
                  <a:pt x="3344211" y="0"/>
                </a:lnTo>
                <a:lnTo>
                  <a:pt x="3344211" y="4114800"/>
                </a:lnTo>
                <a:lnTo>
                  <a:pt x="0" y="4114800"/>
                </a:lnTo>
                <a:lnTo>
                  <a:pt x="0" y="0"/>
                </a:lnTo>
                <a:close/>
              </a:path>
            </a:pathLst>
          </a:custGeom>
          <a:blipFill>
            <a:blip r:embed="rId9">
              <a:alphaModFix amt="27000"/>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false" rot="0">
            <a:off x="-315535" y="4688902"/>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23" id="23"/>
          <p:cNvSpPr/>
          <p:nvPr/>
        </p:nvSpPr>
        <p:spPr>
          <a:xfrm flipH="false" flipV="false" rot="1415974">
            <a:off x="-9868255" y="-9790756"/>
            <a:ext cx="12544778" cy="8229600"/>
          </a:xfrm>
          <a:custGeom>
            <a:avLst/>
            <a:gdLst/>
            <a:ahLst/>
            <a:cxnLst/>
            <a:rect r="r" b="b" t="t" l="l"/>
            <a:pathLst>
              <a:path h="8229600" w="12544778">
                <a:moveTo>
                  <a:pt x="0" y="0"/>
                </a:moveTo>
                <a:lnTo>
                  <a:pt x="12544778" y="0"/>
                </a:lnTo>
                <a:lnTo>
                  <a:pt x="12544778" y="8229600"/>
                </a:lnTo>
                <a:lnTo>
                  <a:pt x="0" y="8229600"/>
                </a:lnTo>
                <a:lnTo>
                  <a:pt x="0" y="0"/>
                </a:lnTo>
                <a:close/>
              </a:path>
            </a:pathLst>
          </a:custGeom>
          <a:blipFill>
            <a:blip r:embed="rId11"/>
            <a:stretch>
              <a:fillRect l="0" t="-21090" r="0" b="-21090"/>
            </a:stretch>
          </a:blipFill>
        </p:spPr>
      </p:sp>
      <p:sp>
        <p:nvSpPr>
          <p:cNvPr name="TextBox 24" id="24"/>
          <p:cNvSpPr txBox="true"/>
          <p:nvPr/>
        </p:nvSpPr>
        <p:spPr>
          <a:xfrm rot="0">
            <a:off x="4387836" y="3536377"/>
            <a:ext cx="8647147" cy="5000635"/>
          </a:xfrm>
          <a:prstGeom prst="rect">
            <a:avLst/>
          </a:prstGeom>
        </p:spPr>
        <p:txBody>
          <a:bodyPr anchor="t" rtlCol="false" tIns="0" lIns="0" bIns="0" rIns="0">
            <a:spAutoFit/>
          </a:bodyPr>
          <a:lstStyle/>
          <a:p>
            <a:pPr algn="just">
              <a:lnSpc>
                <a:spcPts val="2667"/>
              </a:lnSpc>
            </a:pPr>
            <a:r>
              <a:rPr lang="en-US" sz="2641" spc="-153">
                <a:solidFill>
                  <a:srgbClr val="000000"/>
                </a:solidFill>
                <a:latin typeface="Raleway"/>
                <a:ea typeface="Raleway"/>
                <a:cs typeface="Raleway"/>
                <a:sym typeface="Raleway"/>
              </a:rPr>
              <a:t>A Grena é uma loja de artigos esportivos criada em homenagem ao Sertãozinho FC. A ideia nasceu do amor pelo futebol e pela força do interior, trazendo para a região uma opção completa e de qualidade para quem busca camisas e produtos esportivos.</a:t>
            </a:r>
          </a:p>
          <a:p>
            <a:pPr algn="just">
              <a:lnSpc>
                <a:spcPts val="2667"/>
              </a:lnSpc>
            </a:pPr>
            <a:r>
              <a:rPr lang="en-US" sz="2641" spc="-153">
                <a:solidFill>
                  <a:srgbClr val="000000"/>
                </a:solidFill>
                <a:latin typeface="Raleway"/>
                <a:ea typeface="Raleway"/>
                <a:cs typeface="Raleway"/>
                <a:sym typeface="Raleway"/>
              </a:rPr>
              <a:t>Aqui na Grena você encontra uma grande variedade de camisas, desde os times mais conhecidos até aqueles clubes menos famosos, que muitas vezes são difíceis de achar. Tudo com um padrão de qualidade excelente, porque acreditamos que torcer bem também é questão de vestir bem.</a:t>
            </a:r>
          </a:p>
          <a:p>
            <a:pPr algn="just">
              <a:lnSpc>
                <a:spcPts val="2667"/>
              </a:lnSpc>
            </a:pPr>
            <a:r>
              <a:rPr lang="en-US" sz="2641" spc="-153">
                <a:solidFill>
                  <a:srgbClr val="000000"/>
                </a:solidFill>
                <a:latin typeface="Raleway"/>
                <a:ea typeface="Raleway"/>
                <a:cs typeface="Raleway"/>
                <a:sym typeface="Raleway"/>
              </a:rPr>
              <a:t>A Grena não é só uma loja: é um espaço para quem vive o futebol de verdade. É para o torcedor que quer vestir sua paixão com orgulho, seja do time da cidade, do interior ou de qualquer lugar do Brasil.</a:t>
            </a:r>
          </a:p>
          <a:p>
            <a:pPr algn="just">
              <a:lnSpc>
                <a:spcPts val="2667"/>
              </a:lnSpc>
            </a:pPr>
          </a:p>
        </p:txBody>
      </p:sp>
      <p:sp>
        <p:nvSpPr>
          <p:cNvPr name="Freeform 25" id="25"/>
          <p:cNvSpPr/>
          <p:nvPr/>
        </p:nvSpPr>
        <p:spPr>
          <a:xfrm flipH="true" flipV="false" rot="0">
            <a:off x="13034983" y="4322374"/>
            <a:ext cx="8147697" cy="8229600"/>
          </a:xfrm>
          <a:custGeom>
            <a:avLst/>
            <a:gdLst/>
            <a:ahLst/>
            <a:cxnLst/>
            <a:rect r="r" b="b" t="t" l="l"/>
            <a:pathLst>
              <a:path h="8229600" w="8147697">
                <a:moveTo>
                  <a:pt x="8147697" y="0"/>
                </a:moveTo>
                <a:lnTo>
                  <a:pt x="0" y="0"/>
                </a:lnTo>
                <a:lnTo>
                  <a:pt x="0" y="8229600"/>
                </a:lnTo>
                <a:lnTo>
                  <a:pt x="8147697" y="8229600"/>
                </a:lnTo>
                <a:lnTo>
                  <a:pt x="8147697" y="0"/>
                </a:lnTo>
                <a:close/>
              </a:path>
            </a:pathLst>
          </a:custGeom>
          <a:blipFill>
            <a:blip r:embed="rId2"/>
            <a:stretch>
              <a:fillRect l="-1005" t="0" r="0" b="0"/>
            </a:stretch>
          </a:blipFill>
        </p:spPr>
      </p:sp>
      <p:sp>
        <p:nvSpPr>
          <p:cNvPr name="Freeform 26" id="26"/>
          <p:cNvSpPr/>
          <p:nvPr/>
        </p:nvSpPr>
        <p:spPr>
          <a:xfrm flipH="false" flipV="false" rot="0">
            <a:off x="14815301" y="-6749860"/>
            <a:ext cx="12311242" cy="12311242"/>
          </a:xfrm>
          <a:custGeom>
            <a:avLst/>
            <a:gdLst/>
            <a:ahLst/>
            <a:cxnLst/>
            <a:rect r="r" b="b" t="t" l="l"/>
            <a:pathLst>
              <a:path h="12311242" w="12311242">
                <a:moveTo>
                  <a:pt x="0" y="0"/>
                </a:moveTo>
                <a:lnTo>
                  <a:pt x="12311242" y="0"/>
                </a:lnTo>
                <a:lnTo>
                  <a:pt x="12311242" y="12311242"/>
                </a:lnTo>
                <a:lnTo>
                  <a:pt x="0" y="123112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true" rot="0">
            <a:off x="-169387" y="-2211956"/>
            <a:ext cx="8229600" cy="8229600"/>
          </a:xfrm>
          <a:custGeom>
            <a:avLst/>
            <a:gdLst/>
            <a:ahLst/>
            <a:cxnLst/>
            <a:rect r="r" b="b" t="t" l="l"/>
            <a:pathLst>
              <a:path h="8229600" w="8229600">
                <a:moveTo>
                  <a:pt x="0" y="8229600"/>
                </a:moveTo>
                <a:lnTo>
                  <a:pt x="8229600" y="8229600"/>
                </a:lnTo>
                <a:lnTo>
                  <a:pt x="8229600" y="0"/>
                </a:lnTo>
                <a:lnTo>
                  <a:pt x="0" y="0"/>
                </a:lnTo>
                <a:lnTo>
                  <a:pt x="0" y="822960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750258" y="4312480"/>
            <a:ext cx="8043678" cy="3334409"/>
          </a:xfrm>
          <a:custGeom>
            <a:avLst/>
            <a:gdLst/>
            <a:ahLst/>
            <a:cxnLst/>
            <a:rect r="r" b="b" t="t" l="l"/>
            <a:pathLst>
              <a:path h="3334409" w="8043678">
                <a:moveTo>
                  <a:pt x="0" y="0"/>
                </a:moveTo>
                <a:lnTo>
                  <a:pt x="8043678" y="0"/>
                </a:lnTo>
                <a:lnTo>
                  <a:pt x="8043678" y="3334409"/>
                </a:lnTo>
                <a:lnTo>
                  <a:pt x="0" y="3334409"/>
                </a:lnTo>
                <a:lnTo>
                  <a:pt x="0" y="0"/>
                </a:lnTo>
                <a:close/>
              </a:path>
            </a:pathLst>
          </a:custGeom>
          <a:blipFill>
            <a:blip r:embed="rId3"/>
            <a:stretch>
              <a:fillRect l="0" t="-52304" r="0" b="-88928"/>
            </a:stretch>
          </a:blipFill>
        </p:spPr>
      </p:sp>
      <p:sp>
        <p:nvSpPr>
          <p:cNvPr name="Freeform 4" id="4"/>
          <p:cNvSpPr/>
          <p:nvPr/>
        </p:nvSpPr>
        <p:spPr>
          <a:xfrm flipH="false" flipV="false" rot="-5400000">
            <a:off x="11050595" y="5827458"/>
            <a:ext cx="12218853" cy="198556"/>
          </a:xfrm>
          <a:custGeom>
            <a:avLst/>
            <a:gdLst/>
            <a:ahLst/>
            <a:cxnLst/>
            <a:rect r="r" b="b" t="t" l="l"/>
            <a:pathLst>
              <a:path h="198556" w="12218853">
                <a:moveTo>
                  <a:pt x="0" y="0"/>
                </a:moveTo>
                <a:lnTo>
                  <a:pt x="12218853" y="0"/>
                </a:lnTo>
                <a:lnTo>
                  <a:pt x="12218853" y="198556"/>
                </a:lnTo>
                <a:lnTo>
                  <a:pt x="0" y="198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36201" y="2604204"/>
            <a:ext cx="7807799" cy="5481808"/>
          </a:xfrm>
          <a:prstGeom prst="rect">
            <a:avLst/>
          </a:prstGeom>
        </p:spPr>
        <p:txBody>
          <a:bodyPr anchor="t" rtlCol="false" tIns="0" lIns="0" bIns="0" rIns="0">
            <a:spAutoFit/>
          </a:bodyPr>
          <a:lstStyle/>
          <a:p>
            <a:pPr algn="just">
              <a:lnSpc>
                <a:spcPts val="3660"/>
              </a:lnSpc>
            </a:pPr>
          </a:p>
          <a:p>
            <a:pPr algn="just">
              <a:lnSpc>
                <a:spcPts val="3660"/>
              </a:lnSpc>
            </a:pPr>
          </a:p>
          <a:p>
            <a:pPr algn="just">
              <a:lnSpc>
                <a:spcPts val="3660"/>
              </a:lnSpc>
            </a:pPr>
            <a:r>
              <a:rPr lang="en-US" sz="3624" spc="-210">
                <a:solidFill>
                  <a:srgbClr val="000000"/>
                </a:solidFill>
                <a:latin typeface="Open Sauce"/>
                <a:ea typeface="Open Sauce"/>
                <a:cs typeface="Open Sauce"/>
                <a:sym typeface="Open Sauce"/>
              </a:rPr>
              <a:t>O site da Grená é voltado para pessoas apaixonadas por esporte, principalmente do interior, que buscam variedade, e produtos que só e acessível em grandes cidades o site pretende ser o mais facil e intuitivel de usar com acessibilidade para todos os públicos e ser referencia em segurança e confiança  .</a:t>
            </a:r>
          </a:p>
          <a:p>
            <a:pPr algn="just">
              <a:lnSpc>
                <a:spcPts val="3660"/>
              </a:lnSpc>
            </a:pPr>
          </a:p>
        </p:txBody>
      </p:sp>
      <p:sp>
        <p:nvSpPr>
          <p:cNvPr name="TextBox 6" id="6"/>
          <p:cNvSpPr txBox="true"/>
          <p:nvPr/>
        </p:nvSpPr>
        <p:spPr>
          <a:xfrm rot="0">
            <a:off x="2414801" y="1267057"/>
            <a:ext cx="14645943" cy="1270473"/>
          </a:xfrm>
          <a:prstGeom prst="rect">
            <a:avLst/>
          </a:prstGeom>
        </p:spPr>
        <p:txBody>
          <a:bodyPr anchor="t" rtlCol="false" tIns="0" lIns="0" bIns="0" rIns="0">
            <a:spAutoFit/>
          </a:bodyPr>
          <a:lstStyle/>
          <a:p>
            <a:pPr algn="l">
              <a:lnSpc>
                <a:spcPts val="8923"/>
              </a:lnSpc>
            </a:pPr>
            <a:r>
              <a:rPr lang="en-US" sz="8835" spc="-512">
                <a:solidFill>
                  <a:srgbClr val="890A13"/>
                </a:solidFill>
                <a:latin typeface="Horizon"/>
                <a:ea typeface="Horizon"/>
                <a:cs typeface="Horizon"/>
                <a:sym typeface="Horizon"/>
              </a:rPr>
              <a:t>PÚBLICO-ALVO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5" t="0" r="-335" b="0"/>
            </a:stretch>
          </a:blipFill>
        </p:spPr>
      </p:sp>
      <p:grpSp>
        <p:nvGrpSpPr>
          <p:cNvPr name="Group 3" id="3"/>
          <p:cNvGrpSpPr/>
          <p:nvPr/>
        </p:nvGrpSpPr>
        <p:grpSpPr>
          <a:xfrm rot="0">
            <a:off x="9419662" y="974180"/>
            <a:ext cx="6654672" cy="7426863"/>
            <a:chOff x="0" y="0"/>
            <a:chExt cx="1752671" cy="1956046"/>
          </a:xfrm>
        </p:grpSpPr>
        <p:sp>
          <p:nvSpPr>
            <p:cNvPr name="Freeform 4" id="4"/>
            <p:cNvSpPr/>
            <p:nvPr/>
          </p:nvSpPr>
          <p:spPr>
            <a:xfrm flipH="false" flipV="false" rot="0">
              <a:off x="0" y="0"/>
              <a:ext cx="1752671" cy="1956046"/>
            </a:xfrm>
            <a:custGeom>
              <a:avLst/>
              <a:gdLst/>
              <a:ahLst/>
              <a:cxnLst/>
              <a:rect r="r" b="b" t="t" l="l"/>
              <a:pathLst>
                <a:path h="1956046" w="1752671">
                  <a:moveTo>
                    <a:pt x="73293" y="0"/>
                  </a:moveTo>
                  <a:lnTo>
                    <a:pt x="1679378" y="0"/>
                  </a:lnTo>
                  <a:cubicBezTo>
                    <a:pt x="1719856" y="0"/>
                    <a:pt x="1752671" y="32814"/>
                    <a:pt x="1752671" y="73293"/>
                  </a:cubicBezTo>
                  <a:lnTo>
                    <a:pt x="1752671" y="1882753"/>
                  </a:lnTo>
                  <a:cubicBezTo>
                    <a:pt x="1752671" y="1923232"/>
                    <a:pt x="1719856" y="1956046"/>
                    <a:pt x="1679378" y="1956046"/>
                  </a:cubicBezTo>
                  <a:lnTo>
                    <a:pt x="73293" y="1956046"/>
                  </a:lnTo>
                  <a:cubicBezTo>
                    <a:pt x="32814" y="1956046"/>
                    <a:pt x="0" y="1923232"/>
                    <a:pt x="0" y="1882753"/>
                  </a:cubicBezTo>
                  <a:lnTo>
                    <a:pt x="0" y="73293"/>
                  </a:lnTo>
                  <a:cubicBezTo>
                    <a:pt x="0" y="32814"/>
                    <a:pt x="32814" y="0"/>
                    <a:pt x="73293" y="0"/>
                  </a:cubicBezTo>
                  <a:close/>
                </a:path>
              </a:pathLst>
            </a:custGeom>
            <a:solidFill>
              <a:srgbClr val="85131E"/>
            </a:solidFill>
          </p:spPr>
        </p:sp>
        <p:sp>
          <p:nvSpPr>
            <p:cNvPr name="TextBox 5" id="5"/>
            <p:cNvSpPr txBox="true"/>
            <p:nvPr/>
          </p:nvSpPr>
          <p:spPr>
            <a:xfrm>
              <a:off x="0" y="-38100"/>
              <a:ext cx="1752671" cy="1994146"/>
            </a:xfrm>
            <a:prstGeom prst="rect">
              <a:avLst/>
            </a:prstGeom>
          </p:spPr>
          <p:txBody>
            <a:bodyPr anchor="ctr" rtlCol="false" tIns="50800" lIns="50800" bIns="50800" rIns="50800"/>
            <a:lstStyle/>
            <a:p>
              <a:pPr algn="ctr">
                <a:lnSpc>
                  <a:spcPts val="2871"/>
                </a:lnSpc>
              </a:pPr>
            </a:p>
          </p:txBody>
        </p:sp>
      </p:grpSp>
      <p:grpSp>
        <p:nvGrpSpPr>
          <p:cNvPr name="Group 6" id="6"/>
          <p:cNvGrpSpPr/>
          <p:nvPr/>
        </p:nvGrpSpPr>
        <p:grpSpPr>
          <a:xfrm rot="0">
            <a:off x="1894973" y="651082"/>
            <a:ext cx="579635" cy="551160"/>
            <a:chOff x="0" y="0"/>
            <a:chExt cx="152661" cy="145162"/>
          </a:xfrm>
        </p:grpSpPr>
        <p:sp>
          <p:nvSpPr>
            <p:cNvPr name="Freeform 7" id="7"/>
            <p:cNvSpPr/>
            <p:nvPr/>
          </p:nvSpPr>
          <p:spPr>
            <a:xfrm flipH="false" flipV="false" rot="0">
              <a:off x="0" y="0"/>
              <a:ext cx="152661" cy="145162"/>
            </a:xfrm>
            <a:custGeom>
              <a:avLst/>
              <a:gdLst/>
              <a:ahLst/>
              <a:cxnLst/>
              <a:rect r="r" b="b" t="t" l="l"/>
              <a:pathLst>
                <a:path h="145162" w="152661">
                  <a:moveTo>
                    <a:pt x="0" y="0"/>
                  </a:moveTo>
                  <a:lnTo>
                    <a:pt x="152661" y="0"/>
                  </a:lnTo>
                  <a:lnTo>
                    <a:pt x="152661" y="145162"/>
                  </a:lnTo>
                  <a:lnTo>
                    <a:pt x="0" y="145162"/>
                  </a:lnTo>
                  <a:close/>
                </a:path>
              </a:pathLst>
            </a:custGeom>
            <a:solidFill>
              <a:srgbClr val="871D2A"/>
            </a:solidFill>
          </p:spPr>
        </p:sp>
        <p:sp>
          <p:nvSpPr>
            <p:cNvPr name="TextBox 8" id="8"/>
            <p:cNvSpPr txBox="true"/>
            <p:nvPr/>
          </p:nvSpPr>
          <p:spPr>
            <a:xfrm>
              <a:off x="0" y="-38100"/>
              <a:ext cx="152661" cy="183262"/>
            </a:xfrm>
            <a:prstGeom prst="rect">
              <a:avLst/>
            </a:prstGeom>
          </p:spPr>
          <p:txBody>
            <a:bodyPr anchor="ctr" rtlCol="false" tIns="50800" lIns="50800" bIns="50800" rIns="50800"/>
            <a:lstStyle/>
            <a:p>
              <a:pPr algn="ctr">
                <a:lnSpc>
                  <a:spcPts val="2871"/>
                </a:lnSpc>
              </a:pPr>
            </a:p>
          </p:txBody>
        </p:sp>
      </p:grpSp>
      <p:grpSp>
        <p:nvGrpSpPr>
          <p:cNvPr name="Group 9" id="9"/>
          <p:cNvGrpSpPr/>
          <p:nvPr/>
        </p:nvGrpSpPr>
        <p:grpSpPr>
          <a:xfrm rot="0">
            <a:off x="-37285" y="1202242"/>
            <a:ext cx="1932259" cy="427980"/>
            <a:chOff x="0" y="0"/>
            <a:chExt cx="508908" cy="112719"/>
          </a:xfrm>
        </p:grpSpPr>
        <p:sp>
          <p:nvSpPr>
            <p:cNvPr name="Freeform 10" id="10"/>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11" id="11"/>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grpSp>
        <p:nvGrpSpPr>
          <p:cNvPr name="Group 12" id="12"/>
          <p:cNvGrpSpPr/>
          <p:nvPr/>
        </p:nvGrpSpPr>
        <p:grpSpPr>
          <a:xfrm rot="0">
            <a:off x="17448756" y="9505076"/>
            <a:ext cx="839244" cy="781924"/>
            <a:chOff x="0" y="0"/>
            <a:chExt cx="221035" cy="205939"/>
          </a:xfrm>
        </p:grpSpPr>
        <p:sp>
          <p:nvSpPr>
            <p:cNvPr name="Freeform 13" id="13"/>
            <p:cNvSpPr/>
            <p:nvPr/>
          </p:nvSpPr>
          <p:spPr>
            <a:xfrm flipH="false" flipV="false" rot="0">
              <a:off x="0" y="0"/>
              <a:ext cx="221035" cy="205939"/>
            </a:xfrm>
            <a:custGeom>
              <a:avLst/>
              <a:gdLst/>
              <a:ahLst/>
              <a:cxnLst/>
              <a:rect r="r" b="b" t="t" l="l"/>
              <a:pathLst>
                <a:path h="205939" w="221035">
                  <a:moveTo>
                    <a:pt x="0" y="0"/>
                  </a:moveTo>
                  <a:lnTo>
                    <a:pt x="221035" y="0"/>
                  </a:lnTo>
                  <a:lnTo>
                    <a:pt x="221035" y="205939"/>
                  </a:lnTo>
                  <a:lnTo>
                    <a:pt x="0" y="205939"/>
                  </a:lnTo>
                  <a:close/>
                </a:path>
              </a:pathLst>
            </a:custGeom>
            <a:solidFill>
              <a:srgbClr val="FFFFFF"/>
            </a:solidFill>
          </p:spPr>
        </p:sp>
        <p:sp>
          <p:nvSpPr>
            <p:cNvPr name="TextBox 14" id="14"/>
            <p:cNvSpPr txBox="true"/>
            <p:nvPr/>
          </p:nvSpPr>
          <p:spPr>
            <a:xfrm>
              <a:off x="0" y="-38100"/>
              <a:ext cx="221035" cy="244039"/>
            </a:xfrm>
            <a:prstGeom prst="rect">
              <a:avLst/>
            </a:prstGeom>
          </p:spPr>
          <p:txBody>
            <a:bodyPr anchor="ctr" rtlCol="false" tIns="50800" lIns="50800" bIns="50800" rIns="50800"/>
            <a:lstStyle/>
            <a:p>
              <a:pPr algn="ctr">
                <a:lnSpc>
                  <a:spcPts val="2871"/>
                </a:lnSpc>
              </a:pPr>
            </a:p>
          </p:txBody>
        </p:sp>
      </p:grpSp>
      <p:sp>
        <p:nvSpPr>
          <p:cNvPr name="Freeform 15" id="15"/>
          <p:cNvSpPr/>
          <p:nvPr/>
        </p:nvSpPr>
        <p:spPr>
          <a:xfrm flipH="false" flipV="false" rot="0">
            <a:off x="567360" y="2380905"/>
            <a:ext cx="8288546" cy="8288546"/>
          </a:xfrm>
          <a:custGeom>
            <a:avLst/>
            <a:gdLst/>
            <a:ahLst/>
            <a:cxnLst/>
            <a:rect r="r" b="b" t="t" l="l"/>
            <a:pathLst>
              <a:path h="8288546" w="8288546">
                <a:moveTo>
                  <a:pt x="0" y="0"/>
                </a:moveTo>
                <a:lnTo>
                  <a:pt x="8288547" y="0"/>
                </a:lnTo>
                <a:lnTo>
                  <a:pt x="8288547" y="8288546"/>
                </a:lnTo>
                <a:lnTo>
                  <a:pt x="0" y="8288546"/>
                </a:lnTo>
                <a:lnTo>
                  <a:pt x="0" y="0"/>
                </a:lnTo>
                <a:close/>
              </a:path>
            </a:pathLst>
          </a:custGeom>
          <a:blipFill>
            <a:blip r:embed="rId3"/>
            <a:stretch>
              <a:fillRect l="0" t="0" r="0" b="0"/>
            </a:stretch>
          </a:blipFill>
        </p:spPr>
      </p:sp>
      <p:sp>
        <p:nvSpPr>
          <p:cNvPr name="TextBox 16" id="16"/>
          <p:cNvSpPr txBox="true"/>
          <p:nvPr/>
        </p:nvSpPr>
        <p:spPr>
          <a:xfrm rot="0">
            <a:off x="9649957" y="1221292"/>
            <a:ext cx="6293780" cy="966725"/>
          </a:xfrm>
          <a:prstGeom prst="rect">
            <a:avLst/>
          </a:prstGeom>
        </p:spPr>
        <p:txBody>
          <a:bodyPr anchor="t" rtlCol="false" tIns="0" lIns="0" bIns="0" rIns="0">
            <a:spAutoFit/>
          </a:bodyPr>
          <a:lstStyle/>
          <a:p>
            <a:pPr algn="l">
              <a:lnSpc>
                <a:spcPts val="3574"/>
              </a:lnSpc>
            </a:pPr>
            <a:r>
              <a:rPr lang="en-US" sz="3538" spc="-205">
                <a:solidFill>
                  <a:srgbClr val="FFFFFF"/>
                </a:solidFill>
                <a:latin typeface="Horizon"/>
                <a:ea typeface="Horizon"/>
                <a:cs typeface="Horizon"/>
                <a:sym typeface="Horizon"/>
              </a:rPr>
              <a:t>FUNCIONALIDADES DO SITE:</a:t>
            </a:r>
          </a:p>
        </p:txBody>
      </p:sp>
      <p:sp>
        <p:nvSpPr>
          <p:cNvPr name="TextBox 17" id="17"/>
          <p:cNvSpPr txBox="true"/>
          <p:nvPr/>
        </p:nvSpPr>
        <p:spPr>
          <a:xfrm rot="0">
            <a:off x="9419662" y="2245167"/>
            <a:ext cx="6151285" cy="5980560"/>
          </a:xfrm>
          <a:prstGeom prst="rect">
            <a:avLst/>
          </a:prstGeom>
        </p:spPr>
        <p:txBody>
          <a:bodyPr anchor="t" rtlCol="false" tIns="0" lIns="0" bIns="0" rIns="0">
            <a:spAutoFit/>
          </a:bodyPr>
          <a:lstStyle/>
          <a:p>
            <a:pPr algn="just">
              <a:lnSpc>
                <a:spcPts val="2636"/>
              </a:lnSpc>
            </a:pP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Catálogo de produtos com grande variedade de artigos esportivos</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Busca e filtros por categoria, preço, marca e esporte</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Carrinho de compras simples e intuitivo</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Pagamento online (cartão, PIX e parcelamento)</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Cálculo de frete e acompanhamento do pedido</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Cadastro e login de usuários</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Lista de favoritos</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Promoções e cupons de desconto</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Área do cliente para histórico de compras</a:t>
            </a:r>
          </a:p>
          <a:p>
            <a:pPr algn="just" marL="563509" indent="-281755" lvl="1">
              <a:lnSpc>
                <a:spcPts val="2636"/>
              </a:lnSpc>
              <a:buFont typeface="Arial"/>
              <a:buChar char="•"/>
            </a:pPr>
            <a:r>
              <a:rPr lang="en-US" sz="2610" spc="-151">
                <a:solidFill>
                  <a:srgbClr val="FFFFFF"/>
                </a:solidFill>
                <a:latin typeface="Open Sauce"/>
                <a:ea typeface="Open Sauce"/>
                <a:cs typeface="Open Sauce"/>
                <a:sym typeface="Open Sauce"/>
              </a:rPr>
              <a:t>Canal de contato e suporte </a:t>
            </a:r>
          </a:p>
          <a:p>
            <a:pPr algn="just">
              <a:lnSpc>
                <a:spcPts val="2636"/>
              </a:lnSpc>
            </a:pP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911072" y="3085257"/>
            <a:ext cx="15876596" cy="2394423"/>
          </a:xfrm>
          <a:prstGeom prst="rect">
            <a:avLst/>
          </a:prstGeom>
        </p:spPr>
        <p:txBody>
          <a:bodyPr anchor="t" rtlCol="false" tIns="0" lIns="0" bIns="0" rIns="0">
            <a:spAutoFit/>
          </a:bodyPr>
          <a:lstStyle/>
          <a:p>
            <a:pPr algn="just">
              <a:lnSpc>
                <a:spcPts val="8923"/>
              </a:lnSpc>
            </a:pPr>
            <a:r>
              <a:rPr lang="en-US" sz="8835" spc="-512">
                <a:solidFill>
                  <a:srgbClr val="FFFFFF"/>
                </a:solidFill>
                <a:latin typeface="Horizon"/>
                <a:ea typeface="Horizon"/>
                <a:cs typeface="Horizon"/>
                <a:sym typeface="Horizon"/>
              </a:rPr>
              <a:t>Porque comprar na  Grená?</a:t>
            </a:r>
          </a:p>
        </p:txBody>
      </p:sp>
      <p:sp>
        <p:nvSpPr>
          <p:cNvPr name="Freeform 3" id="3"/>
          <p:cNvSpPr/>
          <p:nvPr/>
        </p:nvSpPr>
        <p:spPr>
          <a:xfrm flipH="false" flipV="false" rot="-1417204">
            <a:off x="-3208569" y="-1095516"/>
            <a:ext cx="9710703" cy="4248432"/>
          </a:xfrm>
          <a:custGeom>
            <a:avLst/>
            <a:gdLst/>
            <a:ahLst/>
            <a:cxnLst/>
            <a:rect r="r" b="b" t="t" l="l"/>
            <a:pathLst>
              <a:path h="4248432" w="9710703">
                <a:moveTo>
                  <a:pt x="0" y="0"/>
                </a:moveTo>
                <a:lnTo>
                  <a:pt x="9710702" y="0"/>
                </a:lnTo>
                <a:lnTo>
                  <a:pt x="9710702" y="4248432"/>
                </a:lnTo>
                <a:lnTo>
                  <a:pt x="0" y="42484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2093098">
            <a:off x="12879763" y="-284044"/>
            <a:ext cx="9710703" cy="4248432"/>
          </a:xfrm>
          <a:custGeom>
            <a:avLst/>
            <a:gdLst/>
            <a:ahLst/>
            <a:cxnLst/>
            <a:rect r="r" b="b" t="t" l="l"/>
            <a:pathLst>
              <a:path h="4248432" w="9710703">
                <a:moveTo>
                  <a:pt x="9710703" y="0"/>
                </a:moveTo>
                <a:lnTo>
                  <a:pt x="0" y="0"/>
                </a:lnTo>
                <a:lnTo>
                  <a:pt x="0" y="4248432"/>
                </a:lnTo>
                <a:lnTo>
                  <a:pt x="9710703" y="4248432"/>
                </a:lnTo>
                <a:lnTo>
                  <a:pt x="971070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5384348"/>
            <a:ext cx="13240077" cy="4168420"/>
          </a:xfrm>
          <a:prstGeom prst="rect">
            <a:avLst/>
          </a:prstGeom>
        </p:spPr>
        <p:txBody>
          <a:bodyPr anchor="t" rtlCol="false" tIns="0" lIns="0" bIns="0" rIns="0">
            <a:spAutoFit/>
          </a:bodyPr>
          <a:lstStyle/>
          <a:p>
            <a:pPr algn="just">
              <a:lnSpc>
                <a:spcPts val="2775"/>
              </a:lnSpc>
            </a:pPr>
          </a:p>
          <a:p>
            <a:pPr algn="just">
              <a:lnSpc>
                <a:spcPts val="2775"/>
              </a:lnSpc>
            </a:pPr>
            <a:r>
              <a:rPr lang="en-US" sz="2747" spc="-159">
                <a:solidFill>
                  <a:srgbClr val="FFFFFF"/>
                </a:solidFill>
                <a:latin typeface="DM Sans"/>
                <a:ea typeface="DM Sans"/>
                <a:cs typeface="DM Sans"/>
                <a:sym typeface="DM Sans"/>
              </a:rPr>
              <a:t>A Centauro é uma loja esportiva grande e conhecida nacionalmente, com ampla variedade de produtos e marcas, além de lojas físicas em grandes centros.</a:t>
            </a:r>
          </a:p>
          <a:p>
            <a:pPr algn="just">
              <a:lnSpc>
                <a:spcPts val="2775"/>
              </a:lnSpc>
            </a:pPr>
            <a:r>
              <a:rPr lang="en-US" sz="2747" spc="-159">
                <a:solidFill>
                  <a:srgbClr val="FFFFFF"/>
                </a:solidFill>
                <a:latin typeface="DM Sans"/>
                <a:ea typeface="DM Sans"/>
                <a:cs typeface="DM Sans"/>
                <a:sym typeface="DM Sans"/>
              </a:rPr>
              <a:t>A GRENÁ se destaca por estar mais próxima do cliente do interior, oferecendo preços mais acessíveis, promoções frequentes e um catálogo forte de camisas de praticamente todos os times, atendendo torcedores de diferentes regiões</a:t>
            </a:r>
          </a:p>
          <a:p>
            <a:pPr algn="just">
              <a:lnSpc>
                <a:spcPts val="2775"/>
              </a:lnSpc>
            </a:pPr>
            <a:r>
              <a:rPr lang="en-US" sz="2747" spc="-159">
                <a:solidFill>
                  <a:srgbClr val="FFFFFF"/>
                </a:solidFill>
                <a:latin typeface="DM Sans"/>
                <a:ea typeface="DM Sans"/>
                <a:cs typeface="DM Sans"/>
                <a:sym typeface="DM Sans"/>
              </a:rPr>
              <a:t>Enquanto a Centauro aposta em escala e estrutura, a GRENÁ foca em custo-benefício, simplicidade na compra e variedade de camisas, criando uma relação mais próxima com o público local.</a:t>
            </a:r>
          </a:p>
          <a:p>
            <a:pPr algn="just">
              <a:lnSpc>
                <a:spcPts val="2775"/>
              </a:lnSpc>
            </a:pPr>
            <a:r>
              <a:rPr lang="en-US" sz="2747" spc="-159">
                <a:solidFill>
                  <a:srgbClr val="FFFFFF"/>
                </a:solidFill>
                <a:latin typeface="DM Sans"/>
                <a:ea typeface="DM Sans"/>
                <a:cs typeface="DM Sans"/>
                <a:sym typeface="DM Sans"/>
              </a:rPr>
              <a:t>Resumo: a GRENÁ não compete em tamanho com a Centauro, mas se diferencia pelos preços melhores, promoções constantes e grande variedade de camisas de times.</a:t>
            </a:r>
          </a:p>
          <a:p>
            <a:pPr algn="just">
              <a:lnSpc>
                <a:spcPts val="277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1237438" y="2290488"/>
            <a:ext cx="5706208" cy="7860359"/>
          </a:xfrm>
          <a:custGeom>
            <a:avLst/>
            <a:gdLst/>
            <a:ahLst/>
            <a:cxnLst/>
            <a:rect r="r" b="b" t="t" l="l"/>
            <a:pathLst>
              <a:path h="7860359" w="5706208">
                <a:moveTo>
                  <a:pt x="5706208" y="0"/>
                </a:moveTo>
                <a:lnTo>
                  <a:pt x="0" y="0"/>
                </a:lnTo>
                <a:lnTo>
                  <a:pt x="0" y="7860359"/>
                </a:lnTo>
                <a:lnTo>
                  <a:pt x="5706208" y="7860359"/>
                </a:lnTo>
                <a:lnTo>
                  <a:pt x="5706208" y="0"/>
                </a:lnTo>
                <a:close/>
              </a:path>
            </a:pathLst>
          </a:custGeom>
          <a:blipFill>
            <a:blip r:embed="rId2"/>
            <a:stretch>
              <a:fillRect l="0" t="0" r="0" b="0"/>
            </a:stretch>
          </a:blipFill>
        </p:spPr>
      </p:sp>
      <p:sp>
        <p:nvSpPr>
          <p:cNvPr name="TextBox 3" id="3"/>
          <p:cNvSpPr txBox="true"/>
          <p:nvPr/>
        </p:nvSpPr>
        <p:spPr>
          <a:xfrm rot="0">
            <a:off x="275999" y="539370"/>
            <a:ext cx="15808755" cy="2394423"/>
          </a:xfrm>
          <a:prstGeom prst="rect">
            <a:avLst/>
          </a:prstGeom>
        </p:spPr>
        <p:txBody>
          <a:bodyPr anchor="t" rtlCol="false" tIns="0" lIns="0" bIns="0" rIns="0">
            <a:spAutoFit/>
          </a:bodyPr>
          <a:lstStyle/>
          <a:p>
            <a:pPr algn="just">
              <a:lnSpc>
                <a:spcPts val="8923"/>
              </a:lnSpc>
            </a:pPr>
            <a:r>
              <a:rPr lang="en-US" sz="8835" spc="-512">
                <a:solidFill>
                  <a:srgbClr val="FFFFFF"/>
                </a:solidFill>
                <a:latin typeface="Horizon"/>
                <a:ea typeface="Horizon"/>
                <a:cs typeface="Horizon"/>
                <a:sym typeface="Horizon"/>
              </a:rPr>
              <a:t>NOSSAS EXPECTATIVAS</a:t>
            </a:r>
          </a:p>
        </p:txBody>
      </p:sp>
      <p:sp>
        <p:nvSpPr>
          <p:cNvPr name="TextBox 4" id="4"/>
          <p:cNvSpPr txBox="true"/>
          <p:nvPr/>
        </p:nvSpPr>
        <p:spPr>
          <a:xfrm rot="0">
            <a:off x="275999" y="2990943"/>
            <a:ext cx="8127148" cy="5901448"/>
          </a:xfrm>
          <a:prstGeom prst="rect">
            <a:avLst/>
          </a:prstGeom>
        </p:spPr>
        <p:txBody>
          <a:bodyPr anchor="t" rtlCol="false" tIns="0" lIns="0" bIns="0" rIns="0">
            <a:spAutoFit/>
          </a:bodyPr>
          <a:lstStyle/>
          <a:p>
            <a:pPr algn="just">
              <a:lnSpc>
                <a:spcPts val="2775"/>
              </a:lnSpc>
            </a:pPr>
          </a:p>
          <a:p>
            <a:pPr algn="just">
              <a:lnSpc>
                <a:spcPts val="2775"/>
              </a:lnSpc>
            </a:pPr>
            <a:r>
              <a:rPr lang="en-US" sz="2747" spc="-159">
                <a:solidFill>
                  <a:srgbClr val="FFFFFF"/>
                </a:solidFill>
                <a:latin typeface="DM Sans"/>
                <a:ea typeface="DM Sans"/>
                <a:cs typeface="DM Sans"/>
                <a:sym typeface="DM Sans"/>
              </a:rPr>
              <a:t>Para o futuro da Grena, esperamos um crescimento contínuo, sempre mantendo aquilo que é a nossa essência: variedade, preços acessíveis e proximidade com o cliente. A ideia é evoluir junto com o mercado, trazendo mais novidades, fortalecendo nossa presença digital e melhorando cada vez mais a experiência de compra.</a:t>
            </a:r>
          </a:p>
          <a:p>
            <a:pPr algn="just">
              <a:lnSpc>
                <a:spcPts val="2775"/>
              </a:lnSpc>
            </a:pPr>
            <a:r>
              <a:rPr lang="en-US" sz="2747" spc="-159">
                <a:solidFill>
                  <a:srgbClr val="FFFFFF"/>
                </a:solidFill>
                <a:latin typeface="DM Sans"/>
                <a:ea typeface="DM Sans"/>
                <a:cs typeface="DM Sans"/>
                <a:sym typeface="DM Sans"/>
              </a:rPr>
              <a:t>Também pensamos grande. A internacionalização da marca surge como um passo natural dessa evolução, levando a Grena para novos mercados e ampliando nosso alcance. Mais do que expandir, é sobre construir reconhecimento, ganhar espaço e mostrar a força da nossa identidade além das fronteiras.</a:t>
            </a:r>
          </a:p>
          <a:p>
            <a:pPr algn="just">
              <a:lnSpc>
                <a:spcPts val="2775"/>
              </a:lnSpc>
            </a:pPr>
            <a:r>
              <a:rPr lang="en-US" sz="2747" spc="-159">
                <a:solidFill>
                  <a:srgbClr val="FFFFFF"/>
                </a:solidFill>
                <a:latin typeface="DM Sans"/>
                <a:ea typeface="DM Sans"/>
                <a:cs typeface="DM Sans"/>
                <a:sym typeface="DM Sans"/>
              </a:rPr>
              <a:t>O foco é seguir crescendo de forma sólida, inovando e fortalecendo a marca no longo prazo.</a:t>
            </a:r>
          </a:p>
          <a:p>
            <a:pPr algn="just">
              <a:lnSpc>
                <a:spcPts val="2775"/>
              </a:lnSpc>
            </a:pPr>
          </a:p>
        </p:txBody>
      </p:sp>
      <p:sp>
        <p:nvSpPr>
          <p:cNvPr name="TextBox 5" id="5"/>
          <p:cNvSpPr txBox="true"/>
          <p:nvPr/>
        </p:nvSpPr>
        <p:spPr>
          <a:xfrm rot="0">
            <a:off x="-6506426" y="1817313"/>
            <a:ext cx="7996758" cy="1241447"/>
          </a:xfrm>
          <a:prstGeom prst="rect">
            <a:avLst/>
          </a:prstGeom>
        </p:spPr>
        <p:txBody>
          <a:bodyPr anchor="t" rtlCol="false" tIns="0" lIns="0" bIns="0" rIns="0">
            <a:spAutoFit/>
          </a:bodyPr>
          <a:lstStyle/>
          <a:p>
            <a:pPr algn="l">
              <a:lnSpc>
                <a:spcPts val="9303"/>
              </a:lnSpc>
            </a:pPr>
            <a:r>
              <a:rPr lang="en-US" b="true" sz="9211" spc="-534">
                <a:solidFill>
                  <a:srgbClr val="FFFFFF"/>
                </a:solidFill>
                <a:latin typeface="Open Sauce Bold"/>
                <a:ea typeface="Open Sauce Bold"/>
                <a:cs typeface="Open Sauce Bold"/>
                <a:sym typeface="Open Sauce Bold"/>
              </a:rPr>
              <a:t>VS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02555" y="9761697"/>
            <a:ext cx="19273569" cy="875093"/>
            <a:chOff x="0" y="0"/>
            <a:chExt cx="5076166" cy="230477"/>
          </a:xfrm>
        </p:grpSpPr>
        <p:sp>
          <p:nvSpPr>
            <p:cNvPr name="Freeform 3" id="3"/>
            <p:cNvSpPr/>
            <p:nvPr/>
          </p:nvSpPr>
          <p:spPr>
            <a:xfrm flipH="false" flipV="false" rot="0">
              <a:off x="0" y="0"/>
              <a:ext cx="5076167" cy="230477"/>
            </a:xfrm>
            <a:custGeom>
              <a:avLst/>
              <a:gdLst/>
              <a:ahLst/>
              <a:cxnLst/>
              <a:rect r="r" b="b" t="t" l="l"/>
              <a:pathLst>
                <a:path h="230477" w="5076167">
                  <a:moveTo>
                    <a:pt x="0" y="0"/>
                  </a:moveTo>
                  <a:lnTo>
                    <a:pt x="5076167" y="0"/>
                  </a:lnTo>
                  <a:lnTo>
                    <a:pt x="5076167" y="230477"/>
                  </a:lnTo>
                  <a:lnTo>
                    <a:pt x="0" y="230477"/>
                  </a:lnTo>
                  <a:close/>
                </a:path>
              </a:pathLst>
            </a:custGeom>
            <a:solidFill>
              <a:srgbClr val="81131E"/>
            </a:solidFill>
          </p:spPr>
        </p:sp>
        <p:sp>
          <p:nvSpPr>
            <p:cNvPr name="TextBox 4" id="4"/>
            <p:cNvSpPr txBox="true"/>
            <p:nvPr/>
          </p:nvSpPr>
          <p:spPr>
            <a:xfrm>
              <a:off x="0" y="-38100"/>
              <a:ext cx="5076166" cy="268577"/>
            </a:xfrm>
            <a:prstGeom prst="rect">
              <a:avLst/>
            </a:prstGeom>
          </p:spPr>
          <p:txBody>
            <a:bodyPr anchor="ctr" rtlCol="false" tIns="50800" lIns="50800" bIns="50800" rIns="50800"/>
            <a:lstStyle/>
            <a:p>
              <a:pPr algn="ctr">
                <a:lnSpc>
                  <a:spcPts val="2871"/>
                </a:lnSpc>
              </a:pPr>
            </a:p>
          </p:txBody>
        </p:sp>
      </p:grpSp>
      <p:sp>
        <p:nvSpPr>
          <p:cNvPr name="Freeform 5" id="5"/>
          <p:cNvSpPr/>
          <p:nvPr/>
        </p:nvSpPr>
        <p:spPr>
          <a:xfrm flipH="true" flipV="false" rot="0">
            <a:off x="10972800" y="101384"/>
            <a:ext cx="7315200" cy="2962656"/>
          </a:xfrm>
          <a:custGeom>
            <a:avLst/>
            <a:gdLst/>
            <a:ahLst/>
            <a:cxnLst/>
            <a:rect r="r" b="b" t="t" l="l"/>
            <a:pathLst>
              <a:path h="2962656" w="7315200">
                <a:moveTo>
                  <a:pt x="7315200" y="0"/>
                </a:moveTo>
                <a:lnTo>
                  <a:pt x="0" y="0"/>
                </a:lnTo>
                <a:lnTo>
                  <a:pt x="0" y="2962656"/>
                </a:lnTo>
                <a:lnTo>
                  <a:pt x="7315200" y="2962656"/>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618064" y="2402669"/>
            <a:ext cx="7359029" cy="7359029"/>
          </a:xfrm>
          <a:custGeom>
            <a:avLst/>
            <a:gdLst/>
            <a:ahLst/>
            <a:cxnLst/>
            <a:rect r="r" b="b" t="t" l="l"/>
            <a:pathLst>
              <a:path h="7359029" w="7359029">
                <a:moveTo>
                  <a:pt x="0" y="0"/>
                </a:moveTo>
                <a:lnTo>
                  <a:pt x="7359029" y="0"/>
                </a:lnTo>
                <a:lnTo>
                  <a:pt x="7359029" y="7359028"/>
                </a:lnTo>
                <a:lnTo>
                  <a:pt x="0" y="7359028"/>
                </a:lnTo>
                <a:lnTo>
                  <a:pt x="0" y="0"/>
                </a:lnTo>
                <a:close/>
              </a:path>
            </a:pathLst>
          </a:custGeom>
          <a:blipFill>
            <a:blip r:embed="rId4"/>
            <a:stretch>
              <a:fillRect l="0" t="0" r="0" b="0"/>
            </a:stretch>
          </a:blipFill>
          <a:ln cap="sq">
            <a:noFill/>
            <a:prstDash val="solid"/>
            <a:miter/>
          </a:ln>
        </p:spPr>
      </p:sp>
      <p:sp>
        <p:nvSpPr>
          <p:cNvPr name="Freeform 7" id="7"/>
          <p:cNvSpPr/>
          <p:nvPr/>
        </p:nvSpPr>
        <p:spPr>
          <a:xfrm flipH="false" flipV="false" rot="0">
            <a:off x="15903658" y="8732325"/>
            <a:ext cx="726810" cy="746404"/>
          </a:xfrm>
          <a:custGeom>
            <a:avLst/>
            <a:gdLst/>
            <a:ahLst/>
            <a:cxnLst/>
            <a:rect r="r" b="b" t="t" l="l"/>
            <a:pathLst>
              <a:path h="746404" w="726810">
                <a:moveTo>
                  <a:pt x="0" y="0"/>
                </a:moveTo>
                <a:lnTo>
                  <a:pt x="726811" y="0"/>
                </a:lnTo>
                <a:lnTo>
                  <a:pt x="726811" y="746403"/>
                </a:lnTo>
                <a:lnTo>
                  <a:pt x="0" y="746403"/>
                </a:lnTo>
                <a:lnTo>
                  <a:pt x="0" y="0"/>
                </a:lnTo>
                <a:close/>
              </a:path>
            </a:pathLst>
          </a:custGeom>
          <a:blipFill>
            <a:blip r:embed="rId5"/>
            <a:stretch>
              <a:fillRect l="0" t="0" r="0" b="0"/>
            </a:stretch>
          </a:blipFill>
        </p:spPr>
      </p:sp>
      <p:grpSp>
        <p:nvGrpSpPr>
          <p:cNvPr name="Group 8" id="8"/>
          <p:cNvGrpSpPr/>
          <p:nvPr/>
        </p:nvGrpSpPr>
        <p:grpSpPr>
          <a:xfrm rot="0">
            <a:off x="1536825" y="1854631"/>
            <a:ext cx="7897405" cy="7703058"/>
            <a:chOff x="0" y="0"/>
            <a:chExt cx="2079879" cy="2028825"/>
          </a:xfrm>
        </p:grpSpPr>
        <p:sp>
          <p:nvSpPr>
            <p:cNvPr name="Freeform 9" id="9"/>
            <p:cNvSpPr/>
            <p:nvPr/>
          </p:nvSpPr>
          <p:spPr>
            <a:xfrm flipH="false" flipV="false" rot="0">
              <a:off x="8531" y="0"/>
              <a:ext cx="2062816" cy="2025610"/>
            </a:xfrm>
            <a:custGeom>
              <a:avLst/>
              <a:gdLst/>
              <a:ahLst/>
              <a:cxnLst/>
              <a:rect r="r" b="b" t="t" l="l"/>
              <a:pathLst>
                <a:path h="2025610" w="2062816">
                  <a:moveTo>
                    <a:pt x="1305590" y="33327"/>
                  </a:moveTo>
                  <a:lnTo>
                    <a:pt x="1459186" y="88852"/>
                  </a:lnTo>
                  <a:cubicBezTo>
                    <a:pt x="1520191" y="110906"/>
                    <a:pt x="1576941" y="143305"/>
                    <a:pt x="1626945" y="184628"/>
                  </a:cubicBezTo>
                  <a:lnTo>
                    <a:pt x="1752046" y="288014"/>
                  </a:lnTo>
                  <a:cubicBezTo>
                    <a:pt x="1802031" y="329322"/>
                    <a:pt x="1844337" y="379125"/>
                    <a:pt x="1877019" y="435133"/>
                  </a:cubicBezTo>
                  <a:lnTo>
                    <a:pt x="1960194" y="577672"/>
                  </a:lnTo>
                  <a:cubicBezTo>
                    <a:pt x="1992874" y="633675"/>
                    <a:pt x="2015361" y="695030"/>
                    <a:pt x="2026611" y="758886"/>
                  </a:cubicBezTo>
                  <a:lnTo>
                    <a:pt x="2054338" y="916261"/>
                  </a:lnTo>
                  <a:cubicBezTo>
                    <a:pt x="2065592" y="980136"/>
                    <a:pt x="2065643" y="1045483"/>
                    <a:pt x="2054488" y="1109375"/>
                  </a:cubicBezTo>
                  <a:lnTo>
                    <a:pt x="2026461" y="1269912"/>
                  </a:lnTo>
                  <a:cubicBezTo>
                    <a:pt x="2015313" y="1333769"/>
                    <a:pt x="1992735" y="1395090"/>
                    <a:pt x="1959812" y="1450929"/>
                  </a:cubicBezTo>
                  <a:lnTo>
                    <a:pt x="1877402" y="1590701"/>
                  </a:lnTo>
                  <a:cubicBezTo>
                    <a:pt x="1844460" y="1646572"/>
                    <a:pt x="1802041" y="1696279"/>
                    <a:pt x="1752046" y="1737596"/>
                  </a:cubicBezTo>
                  <a:lnTo>
                    <a:pt x="1626945" y="1840981"/>
                  </a:lnTo>
                  <a:cubicBezTo>
                    <a:pt x="1576941" y="1882305"/>
                    <a:pt x="1520191" y="1914704"/>
                    <a:pt x="1459186" y="1936758"/>
                  </a:cubicBezTo>
                  <a:lnTo>
                    <a:pt x="1305590" y="1992282"/>
                  </a:lnTo>
                  <a:cubicBezTo>
                    <a:pt x="1244593" y="2014333"/>
                    <a:pt x="1180227" y="2025610"/>
                    <a:pt x="1115367" y="2025610"/>
                  </a:cubicBezTo>
                  <a:lnTo>
                    <a:pt x="947450" y="2025610"/>
                  </a:lnTo>
                  <a:cubicBezTo>
                    <a:pt x="882590" y="2025610"/>
                    <a:pt x="818224" y="2014333"/>
                    <a:pt x="757227" y="1992282"/>
                  </a:cubicBezTo>
                  <a:lnTo>
                    <a:pt x="603631" y="1936758"/>
                  </a:lnTo>
                  <a:cubicBezTo>
                    <a:pt x="542626" y="1914704"/>
                    <a:pt x="485876" y="1882305"/>
                    <a:pt x="435873" y="1840981"/>
                  </a:cubicBezTo>
                  <a:lnTo>
                    <a:pt x="310771" y="1737596"/>
                  </a:lnTo>
                  <a:cubicBezTo>
                    <a:pt x="260776" y="1696279"/>
                    <a:pt x="218357" y="1646572"/>
                    <a:pt x="185415" y="1590701"/>
                  </a:cubicBezTo>
                  <a:lnTo>
                    <a:pt x="103005" y="1450929"/>
                  </a:lnTo>
                  <a:cubicBezTo>
                    <a:pt x="70082" y="1395090"/>
                    <a:pt x="47504" y="1333769"/>
                    <a:pt x="36356" y="1269912"/>
                  </a:cubicBezTo>
                  <a:lnTo>
                    <a:pt x="8329" y="1109375"/>
                  </a:lnTo>
                  <a:cubicBezTo>
                    <a:pt x="-2826" y="1045483"/>
                    <a:pt x="-2775" y="980136"/>
                    <a:pt x="8479" y="916261"/>
                  </a:cubicBezTo>
                  <a:lnTo>
                    <a:pt x="36206" y="758886"/>
                  </a:lnTo>
                  <a:cubicBezTo>
                    <a:pt x="47456" y="695030"/>
                    <a:pt x="69944" y="633675"/>
                    <a:pt x="102623" y="577672"/>
                  </a:cubicBezTo>
                  <a:lnTo>
                    <a:pt x="185798" y="435133"/>
                  </a:lnTo>
                  <a:cubicBezTo>
                    <a:pt x="218479" y="379125"/>
                    <a:pt x="260786" y="329322"/>
                    <a:pt x="310771" y="288014"/>
                  </a:cubicBezTo>
                  <a:lnTo>
                    <a:pt x="435873" y="184628"/>
                  </a:lnTo>
                  <a:cubicBezTo>
                    <a:pt x="485876" y="143305"/>
                    <a:pt x="542626" y="110906"/>
                    <a:pt x="603631" y="88852"/>
                  </a:cubicBezTo>
                  <a:lnTo>
                    <a:pt x="757227" y="33327"/>
                  </a:lnTo>
                  <a:cubicBezTo>
                    <a:pt x="818224" y="11277"/>
                    <a:pt x="882590" y="0"/>
                    <a:pt x="947450" y="0"/>
                  </a:cubicBezTo>
                  <a:lnTo>
                    <a:pt x="1115367" y="0"/>
                  </a:lnTo>
                  <a:cubicBezTo>
                    <a:pt x="1180227" y="0"/>
                    <a:pt x="1244593" y="11277"/>
                    <a:pt x="1305590" y="33327"/>
                  </a:cubicBezTo>
                  <a:close/>
                </a:path>
              </a:pathLst>
            </a:custGeom>
            <a:solidFill>
              <a:srgbClr val="81131E"/>
            </a:solidFill>
          </p:spPr>
        </p:sp>
        <p:sp>
          <p:nvSpPr>
            <p:cNvPr name="TextBox 10" id="10"/>
            <p:cNvSpPr txBox="true"/>
            <p:nvPr/>
          </p:nvSpPr>
          <p:spPr>
            <a:xfrm>
              <a:off x="312549" y="255495"/>
              <a:ext cx="1454781" cy="1476926"/>
            </a:xfrm>
            <a:prstGeom prst="rect">
              <a:avLst/>
            </a:prstGeom>
          </p:spPr>
          <p:txBody>
            <a:bodyPr anchor="ctr" rtlCol="false" tIns="50800" lIns="50800" bIns="50800" rIns="50800"/>
            <a:lstStyle/>
            <a:p>
              <a:pPr algn="ctr">
                <a:lnSpc>
                  <a:spcPts val="2871"/>
                </a:lnSpc>
              </a:pPr>
            </a:p>
          </p:txBody>
        </p:sp>
      </p:grpSp>
      <p:pic>
        <p:nvPicPr>
          <p:cNvPr name="Picture 11" id="11"/>
          <p:cNvPicPr>
            <a:picLocks noChangeAspect="true"/>
          </p:cNvPicPr>
          <p:nvPr/>
        </p:nvPicPr>
        <p:blipFill>
          <a:blip r:embed="rId6"/>
          <a:stretch>
            <a:fillRect/>
          </a:stretch>
        </p:blipFill>
        <p:spPr>
          <a:xfrm rot="918593">
            <a:off x="2290868" y="736323"/>
            <a:ext cx="6389319" cy="9456059"/>
          </a:xfrm>
          <a:prstGeom prst="rect">
            <a:avLst/>
          </a:prstGeom>
        </p:spPr>
      </p:pic>
      <p:pic>
        <p:nvPicPr>
          <p:cNvPr name="Picture 12" id="12"/>
          <p:cNvPicPr>
            <a:picLocks noChangeAspect="true"/>
          </p:cNvPicPr>
          <p:nvPr/>
        </p:nvPicPr>
        <p:blipFill>
          <a:blip r:embed="rId7"/>
          <a:stretch>
            <a:fillRect/>
          </a:stretch>
        </p:blipFill>
        <p:spPr>
          <a:xfrm rot="-112942">
            <a:off x="-735489" y="-642384"/>
            <a:ext cx="11709698" cy="3861111"/>
          </a:xfrm>
          <a:prstGeom prst="rect">
            <a:avLst/>
          </a:prstGeom>
        </p:spPr>
      </p:pic>
      <p:sp>
        <p:nvSpPr>
          <p:cNvPr name="Freeform 13" id="13"/>
          <p:cNvSpPr/>
          <p:nvPr/>
        </p:nvSpPr>
        <p:spPr>
          <a:xfrm flipH="false" flipV="false" rot="0">
            <a:off x="15297531" y="3861590"/>
            <a:ext cx="1961769" cy="1980712"/>
          </a:xfrm>
          <a:custGeom>
            <a:avLst/>
            <a:gdLst/>
            <a:ahLst/>
            <a:cxnLst/>
            <a:rect r="r" b="b" t="t" l="l"/>
            <a:pathLst>
              <a:path h="1980712" w="1961769">
                <a:moveTo>
                  <a:pt x="0" y="0"/>
                </a:moveTo>
                <a:lnTo>
                  <a:pt x="1961769" y="0"/>
                </a:lnTo>
                <a:lnTo>
                  <a:pt x="1961769" y="1980712"/>
                </a:lnTo>
                <a:lnTo>
                  <a:pt x="0" y="1980712"/>
                </a:lnTo>
                <a:lnTo>
                  <a:pt x="0" y="0"/>
                </a:lnTo>
                <a:close/>
              </a:path>
            </a:pathLst>
          </a:custGeom>
          <a:blipFill>
            <a:blip r:embed="rId8"/>
            <a:stretch>
              <a:fillRect l="-32107" t="-25353" r="-32176" b="-37359"/>
            </a:stretch>
          </a:blipFill>
        </p:spPr>
      </p:sp>
      <p:sp>
        <p:nvSpPr>
          <p:cNvPr name="Freeform 14" id="14"/>
          <p:cNvSpPr/>
          <p:nvPr/>
        </p:nvSpPr>
        <p:spPr>
          <a:xfrm flipH="false" flipV="false" rot="0">
            <a:off x="16977093" y="8732325"/>
            <a:ext cx="832923" cy="832923"/>
          </a:xfrm>
          <a:custGeom>
            <a:avLst/>
            <a:gdLst/>
            <a:ahLst/>
            <a:cxnLst/>
            <a:rect r="r" b="b" t="t" l="l"/>
            <a:pathLst>
              <a:path h="832923" w="832923">
                <a:moveTo>
                  <a:pt x="0" y="0"/>
                </a:moveTo>
                <a:lnTo>
                  <a:pt x="832922" y="0"/>
                </a:lnTo>
                <a:lnTo>
                  <a:pt x="832922" y="832922"/>
                </a:lnTo>
                <a:lnTo>
                  <a:pt x="0" y="8329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2"/>
            <a:stretch>
              <a:fillRect l="0" t="-110584" r="0" b="-122957"/>
            </a:stretch>
          </a:blipFill>
        </p:spPr>
      </p:sp>
      <p:sp>
        <p:nvSpPr>
          <p:cNvPr name="Freeform 4" id="4"/>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1" id="11"/>
          <p:cNvGrpSpPr/>
          <p:nvPr/>
        </p:nvGrpSpPr>
        <p:grpSpPr>
          <a:xfrm rot="0">
            <a:off x="17882235" y="5939790"/>
            <a:ext cx="326708" cy="1291590"/>
            <a:chOff x="0" y="0"/>
            <a:chExt cx="435610" cy="1722120"/>
          </a:xfrm>
        </p:grpSpPr>
        <p:sp>
          <p:nvSpPr>
            <p:cNvPr name="Freeform 12" id="12"/>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13" id="13"/>
          <p:cNvGrpSpPr/>
          <p:nvPr/>
        </p:nvGrpSpPr>
        <p:grpSpPr>
          <a:xfrm rot="0">
            <a:off x="17916525" y="2520315"/>
            <a:ext cx="240983" cy="670560"/>
            <a:chOff x="0" y="0"/>
            <a:chExt cx="321310" cy="894080"/>
          </a:xfrm>
        </p:grpSpPr>
        <p:sp>
          <p:nvSpPr>
            <p:cNvPr name="Freeform 14" id="14"/>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15" id="15"/>
          <p:cNvSpPr/>
          <p:nvPr/>
        </p:nvSpPr>
        <p:spPr>
          <a:xfrm flipH="false" flipV="false" rot="0">
            <a:off x="2207655" y="2429166"/>
            <a:ext cx="12800946" cy="6295008"/>
          </a:xfrm>
          <a:custGeom>
            <a:avLst/>
            <a:gdLst/>
            <a:ahLst/>
            <a:cxnLst/>
            <a:rect r="r" b="b" t="t" l="l"/>
            <a:pathLst>
              <a:path h="6295008" w="12800946">
                <a:moveTo>
                  <a:pt x="0" y="0"/>
                </a:moveTo>
                <a:lnTo>
                  <a:pt x="12800946" y="0"/>
                </a:lnTo>
                <a:lnTo>
                  <a:pt x="12800946" y="6295009"/>
                </a:lnTo>
                <a:lnTo>
                  <a:pt x="0" y="6295009"/>
                </a:lnTo>
                <a:lnTo>
                  <a:pt x="0" y="0"/>
                </a:lnTo>
                <a:close/>
              </a:path>
            </a:pathLst>
          </a:custGeom>
          <a:blipFill>
            <a:blip r:embed="rId17"/>
            <a:stretch>
              <a:fillRect l="0" t="-17741" r="0" b="-17741"/>
            </a:stretch>
          </a:blipFill>
        </p:spPr>
      </p:sp>
      <p:sp>
        <p:nvSpPr>
          <p:cNvPr name="Freeform 16" id="16"/>
          <p:cNvSpPr/>
          <p:nvPr/>
        </p:nvSpPr>
        <p:spPr>
          <a:xfrm flipH="false" flipV="false" rot="-116641">
            <a:off x="15016982" y="2437547"/>
            <a:ext cx="502631" cy="502631"/>
          </a:xfrm>
          <a:custGeom>
            <a:avLst/>
            <a:gdLst/>
            <a:ahLst/>
            <a:cxnLst/>
            <a:rect r="r" b="b" t="t" l="l"/>
            <a:pathLst>
              <a:path h="502631" w="502631">
                <a:moveTo>
                  <a:pt x="0" y="0"/>
                </a:moveTo>
                <a:lnTo>
                  <a:pt x="502631" y="0"/>
                </a:lnTo>
                <a:lnTo>
                  <a:pt x="502631" y="502631"/>
                </a:lnTo>
                <a:lnTo>
                  <a:pt x="0" y="50263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7" id="17"/>
          <p:cNvGrpSpPr/>
          <p:nvPr/>
        </p:nvGrpSpPr>
        <p:grpSpPr>
          <a:xfrm rot="0">
            <a:off x="2687132" y="8962300"/>
            <a:ext cx="2439322" cy="1064791"/>
            <a:chOff x="0" y="0"/>
            <a:chExt cx="642455" cy="280439"/>
          </a:xfrm>
        </p:grpSpPr>
        <p:sp>
          <p:nvSpPr>
            <p:cNvPr name="Freeform 18" id="18"/>
            <p:cNvSpPr/>
            <p:nvPr/>
          </p:nvSpPr>
          <p:spPr>
            <a:xfrm flipH="false" flipV="false" rot="0">
              <a:off x="0" y="0"/>
              <a:ext cx="642455" cy="280439"/>
            </a:xfrm>
            <a:custGeom>
              <a:avLst/>
              <a:gdLst/>
              <a:ahLst/>
              <a:cxnLst/>
              <a:rect r="r" b="b" t="t" l="l"/>
              <a:pathLst>
                <a:path h="280439" w="642455">
                  <a:moveTo>
                    <a:pt x="0" y="0"/>
                  </a:moveTo>
                  <a:lnTo>
                    <a:pt x="642455" y="0"/>
                  </a:lnTo>
                  <a:lnTo>
                    <a:pt x="642455" y="280439"/>
                  </a:lnTo>
                  <a:lnTo>
                    <a:pt x="0" y="280439"/>
                  </a:lnTo>
                  <a:close/>
                </a:path>
              </a:pathLst>
            </a:custGeom>
            <a:solidFill>
              <a:srgbClr val="FEFEFE"/>
            </a:solidFill>
          </p:spPr>
        </p:sp>
        <p:sp>
          <p:nvSpPr>
            <p:cNvPr name="TextBox 19" id="19"/>
            <p:cNvSpPr txBox="true"/>
            <p:nvPr/>
          </p:nvSpPr>
          <p:spPr>
            <a:xfrm>
              <a:off x="0" y="-38100"/>
              <a:ext cx="642455" cy="318539"/>
            </a:xfrm>
            <a:prstGeom prst="rect">
              <a:avLst/>
            </a:prstGeom>
          </p:spPr>
          <p:txBody>
            <a:bodyPr anchor="ctr" rtlCol="false" tIns="50800" lIns="50800" bIns="50800" rIns="50800"/>
            <a:lstStyle/>
            <a:p>
              <a:pPr algn="ctr">
                <a:lnSpc>
                  <a:spcPts val="2871"/>
                </a:lnSpc>
              </a:pPr>
            </a:p>
          </p:txBody>
        </p:sp>
      </p:grpSp>
      <p:grpSp>
        <p:nvGrpSpPr>
          <p:cNvPr name="Group 20" id="20"/>
          <p:cNvGrpSpPr/>
          <p:nvPr/>
        </p:nvGrpSpPr>
        <p:grpSpPr>
          <a:xfrm rot="0">
            <a:off x="5228198" y="8962300"/>
            <a:ext cx="2773209" cy="1064791"/>
            <a:chOff x="0" y="0"/>
            <a:chExt cx="730393" cy="280439"/>
          </a:xfrm>
        </p:grpSpPr>
        <p:sp>
          <p:nvSpPr>
            <p:cNvPr name="Freeform 21" id="21"/>
            <p:cNvSpPr/>
            <p:nvPr/>
          </p:nvSpPr>
          <p:spPr>
            <a:xfrm flipH="false" flipV="false" rot="0">
              <a:off x="0" y="0"/>
              <a:ext cx="730393" cy="280439"/>
            </a:xfrm>
            <a:custGeom>
              <a:avLst/>
              <a:gdLst/>
              <a:ahLst/>
              <a:cxnLst/>
              <a:rect r="r" b="b" t="t" l="l"/>
              <a:pathLst>
                <a:path h="280439" w="730393">
                  <a:moveTo>
                    <a:pt x="0" y="0"/>
                  </a:moveTo>
                  <a:lnTo>
                    <a:pt x="730393" y="0"/>
                  </a:lnTo>
                  <a:lnTo>
                    <a:pt x="730393" y="280439"/>
                  </a:lnTo>
                  <a:lnTo>
                    <a:pt x="0" y="280439"/>
                  </a:lnTo>
                  <a:close/>
                </a:path>
              </a:pathLst>
            </a:custGeom>
            <a:solidFill>
              <a:srgbClr val="FEFEFE"/>
            </a:solidFill>
          </p:spPr>
        </p:sp>
        <p:sp>
          <p:nvSpPr>
            <p:cNvPr name="TextBox 22" id="22"/>
            <p:cNvSpPr txBox="true"/>
            <p:nvPr/>
          </p:nvSpPr>
          <p:spPr>
            <a:xfrm>
              <a:off x="0" y="-38100"/>
              <a:ext cx="730393" cy="318539"/>
            </a:xfrm>
            <a:prstGeom prst="rect">
              <a:avLst/>
            </a:prstGeom>
          </p:spPr>
          <p:txBody>
            <a:bodyPr anchor="ctr" rtlCol="false" tIns="50800" lIns="50800" bIns="50800" rIns="50800"/>
            <a:lstStyle/>
            <a:p>
              <a:pPr algn="ctr">
                <a:lnSpc>
                  <a:spcPts val="2871"/>
                </a:lnSpc>
              </a:pPr>
            </a:p>
          </p:txBody>
        </p:sp>
      </p:grpSp>
      <p:grpSp>
        <p:nvGrpSpPr>
          <p:cNvPr name="Group 23" id="23"/>
          <p:cNvGrpSpPr/>
          <p:nvPr/>
        </p:nvGrpSpPr>
        <p:grpSpPr>
          <a:xfrm rot="0">
            <a:off x="8087132" y="8962300"/>
            <a:ext cx="2876568" cy="1064791"/>
            <a:chOff x="0" y="0"/>
            <a:chExt cx="757615" cy="280439"/>
          </a:xfrm>
        </p:grpSpPr>
        <p:sp>
          <p:nvSpPr>
            <p:cNvPr name="Freeform 24" id="24"/>
            <p:cNvSpPr/>
            <p:nvPr/>
          </p:nvSpPr>
          <p:spPr>
            <a:xfrm flipH="false" flipV="false" rot="0">
              <a:off x="0" y="0"/>
              <a:ext cx="757615" cy="280439"/>
            </a:xfrm>
            <a:custGeom>
              <a:avLst/>
              <a:gdLst/>
              <a:ahLst/>
              <a:cxnLst/>
              <a:rect r="r" b="b" t="t" l="l"/>
              <a:pathLst>
                <a:path h="280439" w="757615">
                  <a:moveTo>
                    <a:pt x="0" y="0"/>
                  </a:moveTo>
                  <a:lnTo>
                    <a:pt x="757615" y="0"/>
                  </a:lnTo>
                  <a:lnTo>
                    <a:pt x="757615" y="280439"/>
                  </a:lnTo>
                  <a:lnTo>
                    <a:pt x="0" y="280439"/>
                  </a:lnTo>
                  <a:close/>
                </a:path>
              </a:pathLst>
            </a:custGeom>
            <a:solidFill>
              <a:srgbClr val="FEFEFE"/>
            </a:solidFill>
          </p:spPr>
        </p:sp>
        <p:sp>
          <p:nvSpPr>
            <p:cNvPr name="TextBox 25" id="25"/>
            <p:cNvSpPr txBox="true"/>
            <p:nvPr/>
          </p:nvSpPr>
          <p:spPr>
            <a:xfrm>
              <a:off x="0" y="-38100"/>
              <a:ext cx="757615" cy="318539"/>
            </a:xfrm>
            <a:prstGeom prst="rect">
              <a:avLst/>
            </a:prstGeom>
          </p:spPr>
          <p:txBody>
            <a:bodyPr anchor="ctr" rtlCol="false" tIns="50800" lIns="50800" bIns="50800" rIns="50800"/>
            <a:lstStyle/>
            <a:p>
              <a:pPr algn="ctr">
                <a:lnSpc>
                  <a:spcPts val="2871"/>
                </a:lnSpc>
              </a:pPr>
            </a:p>
          </p:txBody>
        </p:sp>
      </p:grpSp>
      <p:grpSp>
        <p:nvGrpSpPr>
          <p:cNvPr name="Group 26" id="26"/>
          <p:cNvGrpSpPr/>
          <p:nvPr/>
        </p:nvGrpSpPr>
        <p:grpSpPr>
          <a:xfrm rot="0">
            <a:off x="11045475" y="8962300"/>
            <a:ext cx="2876568" cy="1064791"/>
            <a:chOff x="0" y="0"/>
            <a:chExt cx="757615" cy="280439"/>
          </a:xfrm>
        </p:grpSpPr>
        <p:sp>
          <p:nvSpPr>
            <p:cNvPr name="Freeform 27" id="27"/>
            <p:cNvSpPr/>
            <p:nvPr/>
          </p:nvSpPr>
          <p:spPr>
            <a:xfrm flipH="false" flipV="false" rot="0">
              <a:off x="0" y="0"/>
              <a:ext cx="757615" cy="280439"/>
            </a:xfrm>
            <a:custGeom>
              <a:avLst/>
              <a:gdLst/>
              <a:ahLst/>
              <a:cxnLst/>
              <a:rect r="r" b="b" t="t" l="l"/>
              <a:pathLst>
                <a:path h="280439" w="757615">
                  <a:moveTo>
                    <a:pt x="0" y="0"/>
                  </a:moveTo>
                  <a:lnTo>
                    <a:pt x="757615" y="0"/>
                  </a:lnTo>
                  <a:lnTo>
                    <a:pt x="757615" y="280439"/>
                  </a:lnTo>
                  <a:lnTo>
                    <a:pt x="0" y="280439"/>
                  </a:lnTo>
                  <a:close/>
                </a:path>
              </a:pathLst>
            </a:custGeom>
            <a:solidFill>
              <a:srgbClr val="FEFEFE"/>
            </a:solidFill>
          </p:spPr>
        </p:sp>
        <p:sp>
          <p:nvSpPr>
            <p:cNvPr name="TextBox 28" id="28"/>
            <p:cNvSpPr txBox="true"/>
            <p:nvPr/>
          </p:nvSpPr>
          <p:spPr>
            <a:xfrm>
              <a:off x="0" y="-38100"/>
              <a:ext cx="757615" cy="318539"/>
            </a:xfrm>
            <a:prstGeom prst="rect">
              <a:avLst/>
            </a:prstGeom>
          </p:spPr>
          <p:txBody>
            <a:bodyPr anchor="ctr" rtlCol="false" tIns="50800" lIns="50800" bIns="50800" rIns="50800"/>
            <a:lstStyle/>
            <a:p>
              <a:pPr algn="ctr">
                <a:lnSpc>
                  <a:spcPts val="2871"/>
                </a:lnSpc>
              </a:pPr>
            </a:p>
          </p:txBody>
        </p:sp>
      </p:grpSp>
      <p:sp>
        <p:nvSpPr>
          <p:cNvPr name="Freeform 29" id="29"/>
          <p:cNvSpPr/>
          <p:nvPr/>
        </p:nvSpPr>
        <p:spPr>
          <a:xfrm flipH="false" flipV="false" rot="0">
            <a:off x="2620784" y="8967597"/>
            <a:ext cx="11301259" cy="1059493"/>
          </a:xfrm>
          <a:custGeom>
            <a:avLst/>
            <a:gdLst/>
            <a:ahLst/>
            <a:cxnLst/>
            <a:rect r="r" b="b" t="t" l="l"/>
            <a:pathLst>
              <a:path h="1059493" w="11301259">
                <a:moveTo>
                  <a:pt x="0" y="0"/>
                </a:moveTo>
                <a:lnTo>
                  <a:pt x="11301259" y="0"/>
                </a:lnTo>
                <a:lnTo>
                  <a:pt x="11301259" y="1059493"/>
                </a:lnTo>
                <a:lnTo>
                  <a:pt x="0" y="1059493"/>
                </a:lnTo>
                <a:lnTo>
                  <a:pt x="0" y="0"/>
                </a:lnTo>
                <a:close/>
              </a:path>
            </a:pathLst>
          </a:custGeom>
          <a:blipFill>
            <a:blip r:embed="rId20"/>
            <a:stretch>
              <a:fillRect l="0" t="0" r="0" b="0"/>
            </a:stretch>
          </a:blipFill>
        </p:spPr>
      </p:sp>
      <p:sp>
        <p:nvSpPr>
          <p:cNvPr name="TextBox 30" id="30"/>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31" id="31"/>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32" id="32"/>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33" id="33"/>
          <p:cNvSpPr txBox="true"/>
          <p:nvPr/>
        </p:nvSpPr>
        <p:spPr>
          <a:xfrm rot="0">
            <a:off x="8530758" y="449583"/>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34" id="34"/>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35" id="35"/>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36" id="36"/>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37" id="37"/>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38" id="38"/>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39" id="39"/>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40" id="40"/>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41" id="41"/>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42" id="42"/>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43" id="43"/>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MASCOTE</a:t>
            </a:r>
          </a:p>
        </p:txBody>
      </p:sp>
      <p:sp>
        <p:nvSpPr>
          <p:cNvPr name="TextBox 44" id="44"/>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45" id="4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802196" y="5778949"/>
            <a:ext cx="1912105" cy="397184"/>
          </a:xfrm>
          <a:custGeom>
            <a:avLst/>
            <a:gdLst/>
            <a:ahLst/>
            <a:cxnLst/>
            <a:rect r="r" b="b" t="t" l="l"/>
            <a:pathLst>
              <a:path h="397184" w="1912105">
                <a:moveTo>
                  <a:pt x="0" y="0"/>
                </a:moveTo>
                <a:lnTo>
                  <a:pt x="1912105" y="0"/>
                </a:lnTo>
                <a:lnTo>
                  <a:pt x="1912105" y="397184"/>
                </a:lnTo>
                <a:lnTo>
                  <a:pt x="0" y="397184"/>
                </a:lnTo>
                <a:lnTo>
                  <a:pt x="0" y="0"/>
                </a:lnTo>
                <a:close/>
              </a:path>
            </a:pathLst>
          </a:custGeom>
          <a:blipFill>
            <a:blip r:embed="rId2"/>
            <a:stretch>
              <a:fillRect l="-5353" t="-229420" r="-3204" b="-193194"/>
            </a:stretch>
          </a:blipFill>
        </p:spPr>
      </p:sp>
      <p:sp>
        <p:nvSpPr>
          <p:cNvPr name="Freeform 4" id="4"/>
          <p:cNvSpPr/>
          <p:nvPr/>
        </p:nvSpPr>
        <p:spPr>
          <a:xfrm flipH="false" flipV="false" rot="0">
            <a:off x="9190135" y="2656951"/>
            <a:ext cx="2873883" cy="2873883"/>
          </a:xfrm>
          <a:custGeom>
            <a:avLst/>
            <a:gdLst/>
            <a:ahLst/>
            <a:cxnLst/>
            <a:rect r="r" b="b" t="t" l="l"/>
            <a:pathLst>
              <a:path h="2873883" w="2873883">
                <a:moveTo>
                  <a:pt x="0" y="0"/>
                </a:moveTo>
                <a:lnTo>
                  <a:pt x="2873882" y="0"/>
                </a:lnTo>
                <a:lnTo>
                  <a:pt x="2873882" y="2873883"/>
                </a:lnTo>
                <a:lnTo>
                  <a:pt x="0" y="2873883"/>
                </a:lnTo>
                <a:lnTo>
                  <a:pt x="0" y="0"/>
                </a:lnTo>
                <a:close/>
              </a:path>
            </a:pathLst>
          </a:custGeom>
          <a:blipFill>
            <a:blip r:embed="rId3"/>
            <a:stretch>
              <a:fillRect l="0" t="0" r="0" b="0"/>
            </a:stretch>
          </a:blipFill>
        </p:spPr>
      </p:sp>
      <p:sp>
        <p:nvSpPr>
          <p:cNvPr name="Freeform 5" id="5"/>
          <p:cNvSpPr/>
          <p:nvPr/>
        </p:nvSpPr>
        <p:spPr>
          <a:xfrm flipH="false" flipV="false" rot="0">
            <a:off x="4981251" y="2656951"/>
            <a:ext cx="2863065" cy="2863065"/>
          </a:xfrm>
          <a:custGeom>
            <a:avLst/>
            <a:gdLst/>
            <a:ahLst/>
            <a:cxnLst/>
            <a:rect r="r" b="b" t="t" l="l"/>
            <a:pathLst>
              <a:path h="2863065" w="2863065">
                <a:moveTo>
                  <a:pt x="0" y="0"/>
                </a:moveTo>
                <a:lnTo>
                  <a:pt x="2863065" y="0"/>
                </a:lnTo>
                <a:lnTo>
                  <a:pt x="2863065" y="2863065"/>
                </a:lnTo>
                <a:lnTo>
                  <a:pt x="0" y="2863065"/>
                </a:lnTo>
                <a:lnTo>
                  <a:pt x="0" y="0"/>
                </a:lnTo>
                <a:close/>
              </a:path>
            </a:pathLst>
          </a:custGeom>
          <a:blipFill>
            <a:blip r:embed="rId4"/>
            <a:stretch>
              <a:fillRect l="0" t="0" r="0" b="0"/>
            </a:stretch>
          </a:blipFill>
        </p:spPr>
      </p:sp>
      <p:sp>
        <p:nvSpPr>
          <p:cNvPr name="Freeform 6" id="6"/>
          <p:cNvSpPr/>
          <p:nvPr/>
        </p:nvSpPr>
        <p:spPr>
          <a:xfrm flipH="false" flipV="false" rot="0">
            <a:off x="9144000" y="5711809"/>
            <a:ext cx="2014577" cy="381930"/>
          </a:xfrm>
          <a:custGeom>
            <a:avLst/>
            <a:gdLst/>
            <a:ahLst/>
            <a:cxnLst/>
            <a:rect r="r" b="b" t="t" l="l"/>
            <a:pathLst>
              <a:path h="381930" w="2014577">
                <a:moveTo>
                  <a:pt x="0" y="0"/>
                </a:moveTo>
                <a:lnTo>
                  <a:pt x="2014577" y="0"/>
                </a:lnTo>
                <a:lnTo>
                  <a:pt x="2014577" y="381930"/>
                </a:lnTo>
                <a:lnTo>
                  <a:pt x="0" y="381930"/>
                </a:lnTo>
                <a:lnTo>
                  <a:pt x="0" y="0"/>
                </a:lnTo>
                <a:close/>
              </a:path>
            </a:pathLst>
          </a:custGeom>
          <a:blipFill>
            <a:blip r:embed="rId2"/>
            <a:stretch>
              <a:fillRect l="-5186" t="-246645" r="0" b="-208186"/>
            </a:stretch>
          </a:blipFill>
        </p:spPr>
      </p:sp>
      <p:sp>
        <p:nvSpPr>
          <p:cNvPr name="Freeform 7" id="7"/>
          <p:cNvSpPr/>
          <p:nvPr/>
        </p:nvSpPr>
        <p:spPr>
          <a:xfrm flipH="false" flipV="false" rot="0">
            <a:off x="5006313" y="5645964"/>
            <a:ext cx="1881230" cy="376011"/>
          </a:xfrm>
          <a:custGeom>
            <a:avLst/>
            <a:gdLst/>
            <a:ahLst/>
            <a:cxnLst/>
            <a:rect r="r" b="b" t="t" l="l"/>
            <a:pathLst>
              <a:path h="376011" w="1881230">
                <a:moveTo>
                  <a:pt x="0" y="0"/>
                </a:moveTo>
                <a:lnTo>
                  <a:pt x="1881231" y="0"/>
                </a:lnTo>
                <a:lnTo>
                  <a:pt x="1881231" y="376011"/>
                </a:lnTo>
                <a:lnTo>
                  <a:pt x="0" y="376011"/>
                </a:lnTo>
                <a:lnTo>
                  <a:pt x="0" y="0"/>
                </a:lnTo>
                <a:close/>
              </a:path>
            </a:pathLst>
          </a:custGeom>
          <a:blipFill>
            <a:blip r:embed="rId2"/>
            <a:stretch>
              <a:fillRect l="-5355" t="-237700" r="-3249" b="-205666"/>
            </a:stretch>
          </a:blipFill>
        </p:spPr>
      </p:sp>
      <p:sp>
        <p:nvSpPr>
          <p:cNvPr name="Freeform 8" id="8"/>
          <p:cNvSpPr/>
          <p:nvPr/>
        </p:nvSpPr>
        <p:spPr>
          <a:xfrm flipH="false" flipV="false" rot="0">
            <a:off x="235309" y="22792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5"/>
            <a:stretch>
              <a:fillRect l="0" t="-110584" r="0" b="-122957"/>
            </a:stretch>
          </a:blipFill>
        </p:spPr>
      </p:sp>
      <p:sp>
        <p:nvSpPr>
          <p:cNvPr name="Freeform 9" id="9"/>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865433" y="2627595"/>
            <a:ext cx="2925705" cy="3040386"/>
          </a:xfrm>
          <a:custGeom>
            <a:avLst/>
            <a:gdLst/>
            <a:ahLst/>
            <a:cxnLst/>
            <a:rect r="r" b="b" t="t" l="l"/>
            <a:pathLst>
              <a:path h="3040386" w="2925705">
                <a:moveTo>
                  <a:pt x="0" y="0"/>
                </a:moveTo>
                <a:lnTo>
                  <a:pt x="2925705" y="0"/>
                </a:lnTo>
                <a:lnTo>
                  <a:pt x="2925705" y="3040386"/>
                </a:lnTo>
                <a:lnTo>
                  <a:pt x="0" y="3040386"/>
                </a:lnTo>
                <a:lnTo>
                  <a:pt x="0" y="0"/>
                </a:lnTo>
                <a:close/>
              </a:path>
            </a:pathLst>
          </a:custGeom>
          <a:blipFill>
            <a:blip r:embed="rId10"/>
            <a:stretch>
              <a:fillRect l="-4095" t="0" r="-27" b="-195"/>
            </a:stretch>
          </a:blipFill>
        </p:spPr>
      </p:sp>
      <p:sp>
        <p:nvSpPr>
          <p:cNvPr name="Freeform 12" id="12"/>
          <p:cNvSpPr/>
          <p:nvPr/>
        </p:nvSpPr>
        <p:spPr>
          <a:xfrm flipH="false" flipV="false" rot="0">
            <a:off x="13131961" y="2564600"/>
            <a:ext cx="2920017" cy="2920017"/>
          </a:xfrm>
          <a:custGeom>
            <a:avLst/>
            <a:gdLst/>
            <a:ahLst/>
            <a:cxnLst/>
            <a:rect r="r" b="b" t="t" l="l"/>
            <a:pathLst>
              <a:path h="2920017" w="2920017">
                <a:moveTo>
                  <a:pt x="0" y="0"/>
                </a:moveTo>
                <a:lnTo>
                  <a:pt x="2920017" y="0"/>
                </a:lnTo>
                <a:lnTo>
                  <a:pt x="2920017" y="2920018"/>
                </a:lnTo>
                <a:lnTo>
                  <a:pt x="0" y="2920018"/>
                </a:lnTo>
                <a:lnTo>
                  <a:pt x="0" y="0"/>
                </a:lnTo>
                <a:close/>
              </a:path>
            </a:pathLst>
          </a:custGeom>
          <a:blipFill>
            <a:blip r:embed="rId11"/>
            <a:stretch>
              <a:fillRect l="-11458" t="-2317" r="-6201" b="-15342"/>
            </a:stretch>
          </a:blipFill>
        </p:spPr>
      </p:sp>
      <p:sp>
        <p:nvSpPr>
          <p:cNvPr name="Freeform 13" id="13"/>
          <p:cNvSpPr/>
          <p:nvPr/>
        </p:nvSpPr>
        <p:spPr>
          <a:xfrm flipH="false" flipV="false" rot="0">
            <a:off x="865433" y="8182528"/>
            <a:ext cx="2925705" cy="3332786"/>
          </a:xfrm>
          <a:custGeom>
            <a:avLst/>
            <a:gdLst/>
            <a:ahLst/>
            <a:cxnLst/>
            <a:rect r="r" b="b" t="t" l="l"/>
            <a:pathLst>
              <a:path h="3332786" w="2925705">
                <a:moveTo>
                  <a:pt x="0" y="0"/>
                </a:moveTo>
                <a:lnTo>
                  <a:pt x="2925705" y="0"/>
                </a:lnTo>
                <a:lnTo>
                  <a:pt x="2925705" y="3332786"/>
                </a:lnTo>
                <a:lnTo>
                  <a:pt x="0" y="3332786"/>
                </a:lnTo>
                <a:lnTo>
                  <a:pt x="0" y="0"/>
                </a:lnTo>
                <a:close/>
              </a:path>
            </a:pathLst>
          </a:custGeom>
          <a:blipFill>
            <a:blip r:embed="rId12"/>
            <a:stretch>
              <a:fillRect l="-6956" t="0" r="-6956" b="0"/>
            </a:stretch>
          </a:blipFill>
        </p:spPr>
      </p:sp>
      <p:sp>
        <p:nvSpPr>
          <p:cNvPr name="Freeform 14" id="14"/>
          <p:cNvSpPr/>
          <p:nvPr/>
        </p:nvSpPr>
        <p:spPr>
          <a:xfrm flipH="false" flipV="false" rot="0">
            <a:off x="4981251" y="8182528"/>
            <a:ext cx="3219503" cy="3219503"/>
          </a:xfrm>
          <a:custGeom>
            <a:avLst/>
            <a:gdLst/>
            <a:ahLst/>
            <a:cxnLst/>
            <a:rect r="r" b="b" t="t" l="l"/>
            <a:pathLst>
              <a:path h="3219503" w="3219503">
                <a:moveTo>
                  <a:pt x="0" y="0"/>
                </a:moveTo>
                <a:lnTo>
                  <a:pt x="3219503" y="0"/>
                </a:lnTo>
                <a:lnTo>
                  <a:pt x="3219503" y="3219502"/>
                </a:lnTo>
                <a:lnTo>
                  <a:pt x="0" y="3219502"/>
                </a:lnTo>
                <a:lnTo>
                  <a:pt x="0" y="0"/>
                </a:lnTo>
                <a:close/>
              </a:path>
            </a:pathLst>
          </a:custGeom>
          <a:blipFill>
            <a:blip r:embed="rId13"/>
            <a:stretch>
              <a:fillRect l="0" t="0" r="0" b="0"/>
            </a:stretch>
          </a:blipFill>
        </p:spPr>
      </p:sp>
      <p:sp>
        <p:nvSpPr>
          <p:cNvPr name="Freeform 15" id="15"/>
          <p:cNvSpPr/>
          <p:nvPr/>
        </p:nvSpPr>
        <p:spPr>
          <a:xfrm flipH="false" flipV="false" rot="0">
            <a:off x="9185194" y="8170939"/>
            <a:ext cx="2997420" cy="3242681"/>
          </a:xfrm>
          <a:custGeom>
            <a:avLst/>
            <a:gdLst/>
            <a:ahLst/>
            <a:cxnLst/>
            <a:rect r="r" b="b" t="t" l="l"/>
            <a:pathLst>
              <a:path h="3242681" w="2997420">
                <a:moveTo>
                  <a:pt x="0" y="0"/>
                </a:moveTo>
                <a:lnTo>
                  <a:pt x="2997420" y="0"/>
                </a:lnTo>
                <a:lnTo>
                  <a:pt x="2997420" y="3242681"/>
                </a:lnTo>
                <a:lnTo>
                  <a:pt x="0" y="3242681"/>
                </a:lnTo>
                <a:lnTo>
                  <a:pt x="0" y="0"/>
                </a:lnTo>
                <a:close/>
              </a:path>
            </a:pathLst>
          </a:custGeom>
          <a:blipFill>
            <a:blip r:embed="rId14"/>
            <a:stretch>
              <a:fillRect l="-9830" t="-761" r="0" b="-761"/>
            </a:stretch>
          </a:blipFill>
        </p:spPr>
      </p:sp>
      <p:sp>
        <p:nvSpPr>
          <p:cNvPr name="Freeform 16" id="16"/>
          <p:cNvSpPr/>
          <p:nvPr/>
        </p:nvSpPr>
        <p:spPr>
          <a:xfrm flipH="false" flipV="false" rot="0">
            <a:off x="13163689" y="8182528"/>
            <a:ext cx="2920017" cy="4303872"/>
          </a:xfrm>
          <a:custGeom>
            <a:avLst/>
            <a:gdLst/>
            <a:ahLst/>
            <a:cxnLst/>
            <a:rect r="r" b="b" t="t" l="l"/>
            <a:pathLst>
              <a:path h="4303872" w="2920017">
                <a:moveTo>
                  <a:pt x="0" y="0"/>
                </a:moveTo>
                <a:lnTo>
                  <a:pt x="2920017" y="0"/>
                </a:lnTo>
                <a:lnTo>
                  <a:pt x="2920017" y="4303872"/>
                </a:lnTo>
                <a:lnTo>
                  <a:pt x="0" y="4303872"/>
                </a:lnTo>
                <a:lnTo>
                  <a:pt x="0" y="0"/>
                </a:lnTo>
                <a:close/>
              </a:path>
            </a:pathLst>
          </a:custGeom>
          <a:blipFill>
            <a:blip r:embed="rId15"/>
            <a:stretch>
              <a:fillRect l="-17759" t="0" r="-29632" b="0"/>
            </a:stretch>
          </a:blipFill>
        </p:spPr>
      </p:sp>
      <p:sp>
        <p:nvSpPr>
          <p:cNvPr name="Freeform 17" id="17"/>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15715802" y="6750177"/>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false" flipV="false" rot="0">
            <a:off x="11846437" y="6823447"/>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false" flipV="false" rot="0">
            <a:off x="7508140" y="6890383"/>
            <a:ext cx="336176" cy="336176"/>
          </a:xfrm>
          <a:custGeom>
            <a:avLst/>
            <a:gdLst/>
            <a:ahLst/>
            <a:cxnLst/>
            <a:rect r="r" b="b" t="t" l="l"/>
            <a:pathLst>
              <a:path h="336176" w="336176">
                <a:moveTo>
                  <a:pt x="0" y="0"/>
                </a:moveTo>
                <a:lnTo>
                  <a:pt x="336176" y="0"/>
                </a:lnTo>
                <a:lnTo>
                  <a:pt x="336176" y="336177"/>
                </a:lnTo>
                <a:lnTo>
                  <a:pt x="0" y="33617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3454962" y="6864477"/>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3" id="23"/>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4" id="24"/>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5" id="25"/>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6" id="26"/>
          <p:cNvSpPr/>
          <p:nvPr/>
        </p:nvSpPr>
        <p:spPr>
          <a:xfrm flipH="false" flipV="false" rot="0">
            <a:off x="13000778" y="5595611"/>
            <a:ext cx="1678913" cy="381930"/>
          </a:xfrm>
          <a:custGeom>
            <a:avLst/>
            <a:gdLst/>
            <a:ahLst/>
            <a:cxnLst/>
            <a:rect r="r" b="b" t="t" l="l"/>
            <a:pathLst>
              <a:path h="381930" w="1678913">
                <a:moveTo>
                  <a:pt x="0" y="0"/>
                </a:moveTo>
                <a:lnTo>
                  <a:pt x="1678913" y="0"/>
                </a:lnTo>
                <a:lnTo>
                  <a:pt x="1678913" y="381930"/>
                </a:lnTo>
                <a:lnTo>
                  <a:pt x="0" y="381930"/>
                </a:lnTo>
                <a:lnTo>
                  <a:pt x="0" y="0"/>
                </a:lnTo>
                <a:close/>
              </a:path>
            </a:pathLst>
          </a:custGeom>
          <a:blipFill>
            <a:blip r:embed="rId2"/>
            <a:stretch>
              <a:fillRect l="-5770" t="-225029" r="-11249" b="-189372"/>
            </a:stretch>
          </a:blipFill>
        </p:spPr>
      </p:sp>
      <p:grpSp>
        <p:nvGrpSpPr>
          <p:cNvPr name="Group 27" id="27"/>
          <p:cNvGrpSpPr/>
          <p:nvPr/>
        </p:nvGrpSpPr>
        <p:grpSpPr>
          <a:xfrm rot="0">
            <a:off x="17882235" y="5939790"/>
            <a:ext cx="326708" cy="1291590"/>
            <a:chOff x="0" y="0"/>
            <a:chExt cx="435610" cy="1722120"/>
          </a:xfrm>
        </p:grpSpPr>
        <p:sp>
          <p:nvSpPr>
            <p:cNvPr name="Freeform 28" id="28"/>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29" id="29"/>
          <p:cNvGrpSpPr/>
          <p:nvPr/>
        </p:nvGrpSpPr>
        <p:grpSpPr>
          <a:xfrm rot="0">
            <a:off x="17916525" y="2520315"/>
            <a:ext cx="240983" cy="670560"/>
            <a:chOff x="0" y="0"/>
            <a:chExt cx="321310" cy="894080"/>
          </a:xfrm>
        </p:grpSpPr>
        <p:sp>
          <p:nvSpPr>
            <p:cNvPr name="Freeform 30" id="30"/>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TextBox 31" id="31"/>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32" id="32"/>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33" id="33"/>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34" id="34"/>
          <p:cNvSpPr txBox="true"/>
          <p:nvPr/>
        </p:nvSpPr>
        <p:spPr>
          <a:xfrm rot="0">
            <a:off x="865433" y="6781943"/>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R$ 209,90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R$ 52,47</a:t>
            </a:r>
          </a:p>
        </p:txBody>
      </p:sp>
      <p:sp>
        <p:nvSpPr>
          <p:cNvPr name="TextBox 35" id="35"/>
          <p:cNvSpPr txBox="true"/>
          <p:nvPr/>
        </p:nvSpPr>
        <p:spPr>
          <a:xfrm rot="0">
            <a:off x="802196" y="6155325"/>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STZ FC</a:t>
            </a:r>
          </a:p>
          <a:p>
            <a:pPr algn="just">
              <a:lnSpc>
                <a:spcPts val="1903"/>
              </a:lnSpc>
            </a:pPr>
            <a:r>
              <a:rPr lang="en-US" sz="1884" spc="-109">
                <a:solidFill>
                  <a:srgbClr val="FFFFFF"/>
                </a:solidFill>
                <a:latin typeface="Open Sauce"/>
                <a:ea typeface="Open Sauce"/>
                <a:cs typeface="Open Sauce"/>
                <a:sym typeface="Open Sauce"/>
              </a:rPr>
              <a:t> 18/19</a:t>
            </a:r>
          </a:p>
        </p:txBody>
      </p:sp>
      <p:sp>
        <p:nvSpPr>
          <p:cNvPr name="TextBox 36" id="36"/>
          <p:cNvSpPr txBox="true"/>
          <p:nvPr/>
        </p:nvSpPr>
        <p:spPr>
          <a:xfrm rot="0">
            <a:off x="4981251" y="6155325"/>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SÃO PAULO FC</a:t>
            </a:r>
          </a:p>
          <a:p>
            <a:pPr algn="just">
              <a:lnSpc>
                <a:spcPts val="1903"/>
              </a:lnSpc>
            </a:pPr>
            <a:r>
              <a:rPr lang="en-US" sz="1884" spc="-109">
                <a:solidFill>
                  <a:srgbClr val="FFFFFF"/>
                </a:solidFill>
                <a:latin typeface="Open Sauce"/>
                <a:ea typeface="Open Sauce"/>
                <a:cs typeface="Open Sauce"/>
                <a:sym typeface="Open Sauce"/>
              </a:rPr>
              <a:t> 24/25</a:t>
            </a:r>
          </a:p>
        </p:txBody>
      </p:sp>
      <p:sp>
        <p:nvSpPr>
          <p:cNvPr name="TextBox 37" id="37"/>
          <p:cNvSpPr txBox="true"/>
          <p:nvPr/>
        </p:nvSpPr>
        <p:spPr>
          <a:xfrm rot="0">
            <a:off x="5006313" y="6788277"/>
            <a:ext cx="1948322"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R$175,90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R$ 43,97</a:t>
            </a:r>
          </a:p>
        </p:txBody>
      </p:sp>
      <p:sp>
        <p:nvSpPr>
          <p:cNvPr name="TextBox 38" id="38"/>
          <p:cNvSpPr txBox="true"/>
          <p:nvPr/>
        </p:nvSpPr>
        <p:spPr>
          <a:xfrm rot="0">
            <a:off x="9185194" y="6129941"/>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PALMEIRAS</a:t>
            </a:r>
          </a:p>
          <a:p>
            <a:pPr algn="just">
              <a:lnSpc>
                <a:spcPts val="1903"/>
              </a:lnSpc>
            </a:pPr>
            <a:r>
              <a:rPr lang="en-US" sz="1884" spc="-109">
                <a:solidFill>
                  <a:srgbClr val="FFFFFF"/>
                </a:solidFill>
                <a:latin typeface="Open Sauce"/>
                <a:ea typeface="Open Sauce"/>
                <a:cs typeface="Open Sauce"/>
                <a:sym typeface="Open Sauce"/>
              </a:rPr>
              <a:t> 96/97</a:t>
            </a:r>
          </a:p>
        </p:txBody>
      </p:sp>
      <p:sp>
        <p:nvSpPr>
          <p:cNvPr name="TextBox 39" id="39"/>
          <p:cNvSpPr txBox="true"/>
          <p:nvPr/>
        </p:nvSpPr>
        <p:spPr>
          <a:xfrm rot="0">
            <a:off x="9222260" y="6756036"/>
            <a:ext cx="2014577"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R$211,67no Pix</a:t>
            </a:r>
          </a:p>
          <a:p>
            <a:pPr algn="just">
              <a:lnSpc>
                <a:spcPts val="1771"/>
              </a:lnSpc>
            </a:pPr>
            <a:r>
              <a:rPr lang="en-US" b="true" sz="1753" spc="-101">
                <a:solidFill>
                  <a:srgbClr val="FFFFFF"/>
                </a:solidFill>
                <a:latin typeface="Open Sauce Bold"/>
                <a:ea typeface="Open Sauce Bold"/>
                <a:cs typeface="Open Sauce Bold"/>
                <a:sym typeface="Open Sauce Bold"/>
              </a:rPr>
              <a:t>ou 12x de R$ 21,99</a:t>
            </a:r>
          </a:p>
        </p:txBody>
      </p:sp>
      <p:sp>
        <p:nvSpPr>
          <p:cNvPr name="TextBox 40" id="40"/>
          <p:cNvSpPr txBox="true"/>
          <p:nvPr/>
        </p:nvSpPr>
        <p:spPr>
          <a:xfrm rot="0">
            <a:off x="13125605" y="6038368"/>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AL NASSR</a:t>
            </a:r>
          </a:p>
          <a:p>
            <a:pPr algn="just">
              <a:lnSpc>
                <a:spcPts val="1903"/>
              </a:lnSpc>
            </a:pPr>
            <a:r>
              <a:rPr lang="en-US" sz="1884" spc="-109">
                <a:solidFill>
                  <a:srgbClr val="FFFFFF"/>
                </a:solidFill>
                <a:latin typeface="Open Sauce"/>
                <a:ea typeface="Open Sauce"/>
                <a:cs typeface="Open Sauce"/>
                <a:sym typeface="Open Sauce"/>
              </a:rPr>
              <a:t> 25/26</a:t>
            </a:r>
          </a:p>
        </p:txBody>
      </p:sp>
      <p:sp>
        <p:nvSpPr>
          <p:cNvPr name="TextBox 41" id="41"/>
          <p:cNvSpPr txBox="true"/>
          <p:nvPr/>
        </p:nvSpPr>
        <p:spPr>
          <a:xfrm rot="0">
            <a:off x="13131961" y="6781943"/>
            <a:ext cx="1973384"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R$244,90 no Pix</a:t>
            </a:r>
          </a:p>
          <a:p>
            <a:pPr algn="just">
              <a:lnSpc>
                <a:spcPts val="1771"/>
              </a:lnSpc>
            </a:pPr>
            <a:r>
              <a:rPr lang="en-US" b="true" sz="1753" spc="-101">
                <a:solidFill>
                  <a:srgbClr val="FFFFFF"/>
                </a:solidFill>
                <a:latin typeface="Open Sauce Bold"/>
                <a:ea typeface="Open Sauce Bold"/>
                <a:cs typeface="Open Sauce Bold"/>
                <a:sym typeface="Open Sauce Bold"/>
              </a:rPr>
              <a:t>ou 12x de R$ 25,19</a:t>
            </a:r>
          </a:p>
        </p:txBody>
      </p:sp>
      <p:sp>
        <p:nvSpPr>
          <p:cNvPr name="TextBox 42" id="42"/>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43" id="43"/>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44" id="44"/>
          <p:cNvSpPr txBox="true"/>
          <p:nvPr/>
        </p:nvSpPr>
        <p:spPr>
          <a:xfrm rot="0">
            <a:off x="1497010" y="6347976"/>
            <a:ext cx="191133" cy="322839"/>
          </a:xfrm>
          <a:prstGeom prst="rect">
            <a:avLst/>
          </a:prstGeom>
        </p:spPr>
        <p:txBody>
          <a:bodyPr anchor="t" rtlCol="false" tIns="0" lIns="0" bIns="0" rIns="0">
            <a:spAutoFit/>
          </a:bodyPr>
          <a:lstStyle/>
          <a:p>
            <a:pPr algn="ctr">
              <a:lnSpc>
                <a:spcPts val="2638"/>
              </a:lnSpc>
            </a:pPr>
            <a:r>
              <a:rPr lang="en-US" sz="1884">
                <a:solidFill>
                  <a:srgbClr val="FFFFFF"/>
                </a:solidFill>
                <a:latin typeface="Open Sans"/>
                <a:ea typeface="Open Sans"/>
                <a:cs typeface="Open Sans"/>
                <a:sym typeface="Open Sans"/>
              </a:rPr>
              <a:t>...</a:t>
            </a:r>
          </a:p>
        </p:txBody>
      </p:sp>
      <p:sp>
        <p:nvSpPr>
          <p:cNvPr name="TextBox 45" id="45"/>
          <p:cNvSpPr txBox="true"/>
          <p:nvPr/>
        </p:nvSpPr>
        <p:spPr>
          <a:xfrm rot="0">
            <a:off x="5789341" y="6322562"/>
            <a:ext cx="191133" cy="322839"/>
          </a:xfrm>
          <a:prstGeom prst="rect">
            <a:avLst/>
          </a:prstGeom>
        </p:spPr>
        <p:txBody>
          <a:bodyPr anchor="t" rtlCol="false" tIns="0" lIns="0" bIns="0" rIns="0">
            <a:spAutoFit/>
          </a:bodyPr>
          <a:lstStyle/>
          <a:p>
            <a:pPr algn="ctr">
              <a:lnSpc>
                <a:spcPts val="2638"/>
              </a:lnSpc>
            </a:pPr>
            <a:r>
              <a:rPr lang="en-US" sz="1884">
                <a:solidFill>
                  <a:srgbClr val="FFFFFF"/>
                </a:solidFill>
                <a:latin typeface="Open Sans"/>
                <a:ea typeface="Open Sans"/>
                <a:cs typeface="Open Sans"/>
                <a:sym typeface="Open Sans"/>
              </a:rPr>
              <a:t>...</a:t>
            </a:r>
          </a:p>
        </p:txBody>
      </p:sp>
      <p:sp>
        <p:nvSpPr>
          <p:cNvPr name="TextBox 46" id="46"/>
          <p:cNvSpPr txBox="true"/>
          <p:nvPr/>
        </p:nvSpPr>
        <p:spPr>
          <a:xfrm rot="0">
            <a:off x="9966244" y="6246139"/>
            <a:ext cx="191133" cy="322839"/>
          </a:xfrm>
          <a:prstGeom prst="rect">
            <a:avLst/>
          </a:prstGeom>
        </p:spPr>
        <p:txBody>
          <a:bodyPr anchor="t" rtlCol="false" tIns="0" lIns="0" bIns="0" rIns="0">
            <a:spAutoFit/>
          </a:bodyPr>
          <a:lstStyle/>
          <a:p>
            <a:pPr algn="ctr">
              <a:lnSpc>
                <a:spcPts val="2638"/>
              </a:lnSpc>
            </a:pPr>
            <a:r>
              <a:rPr lang="en-US" sz="1884">
                <a:solidFill>
                  <a:srgbClr val="FFFFFF"/>
                </a:solidFill>
                <a:latin typeface="Open Sans"/>
                <a:ea typeface="Open Sans"/>
                <a:cs typeface="Open Sans"/>
                <a:sym typeface="Open Sans"/>
              </a:rPr>
              <a:t>...</a:t>
            </a:r>
          </a:p>
        </p:txBody>
      </p:sp>
      <p:sp>
        <p:nvSpPr>
          <p:cNvPr name="TextBox 47" id="47"/>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48" id="48"/>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49" id="49"/>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50" id="50"/>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51" id="51"/>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52" id="52"/>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53" id="53"/>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54" id="54"/>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55" id="55"/>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56" id="56"/>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57" id="5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613228" y="5778949"/>
            <a:ext cx="2100420" cy="397184"/>
          </a:xfrm>
          <a:custGeom>
            <a:avLst/>
            <a:gdLst/>
            <a:ahLst/>
            <a:cxnLst/>
            <a:rect r="r" b="b" t="t" l="l"/>
            <a:pathLst>
              <a:path h="397184" w="2100420">
                <a:moveTo>
                  <a:pt x="0" y="0"/>
                </a:moveTo>
                <a:lnTo>
                  <a:pt x="2100420" y="0"/>
                </a:lnTo>
                <a:lnTo>
                  <a:pt x="2100420" y="397184"/>
                </a:lnTo>
                <a:lnTo>
                  <a:pt x="0" y="397184"/>
                </a:lnTo>
                <a:lnTo>
                  <a:pt x="0" y="0"/>
                </a:lnTo>
                <a:close/>
              </a:path>
            </a:pathLst>
          </a:custGeom>
          <a:blipFill>
            <a:blip r:embed="rId2"/>
            <a:stretch>
              <a:fillRect l="-5186" t="-247408" r="0" b="-208849"/>
            </a:stretch>
          </a:blipFill>
        </p:spPr>
      </p:sp>
      <p:sp>
        <p:nvSpPr>
          <p:cNvPr name="Freeform 4" id="4"/>
          <p:cNvSpPr/>
          <p:nvPr/>
        </p:nvSpPr>
        <p:spPr>
          <a:xfrm flipH="false" flipV="false" rot="0">
            <a:off x="8617067" y="5634830"/>
            <a:ext cx="1316789" cy="458910"/>
          </a:xfrm>
          <a:custGeom>
            <a:avLst/>
            <a:gdLst/>
            <a:ahLst/>
            <a:cxnLst/>
            <a:rect r="r" b="b" t="t" l="l"/>
            <a:pathLst>
              <a:path h="458910" w="1316789">
                <a:moveTo>
                  <a:pt x="0" y="0"/>
                </a:moveTo>
                <a:lnTo>
                  <a:pt x="1316789" y="0"/>
                </a:lnTo>
                <a:lnTo>
                  <a:pt x="1316789" y="458909"/>
                </a:lnTo>
                <a:lnTo>
                  <a:pt x="0" y="458909"/>
                </a:lnTo>
                <a:lnTo>
                  <a:pt x="0" y="0"/>
                </a:lnTo>
                <a:close/>
              </a:path>
            </a:pathLst>
          </a:custGeom>
          <a:blipFill>
            <a:blip r:embed="rId2"/>
            <a:stretch>
              <a:fillRect l="-7935" t="-188498" r="-52991" b="-173264"/>
            </a:stretch>
          </a:blipFill>
        </p:spPr>
      </p:sp>
      <p:sp>
        <p:nvSpPr>
          <p:cNvPr name="Freeform 5" id="5"/>
          <p:cNvSpPr/>
          <p:nvPr/>
        </p:nvSpPr>
        <p:spPr>
          <a:xfrm flipH="false" flipV="false" rot="0">
            <a:off x="4688122" y="5786576"/>
            <a:ext cx="569675" cy="281398"/>
          </a:xfrm>
          <a:custGeom>
            <a:avLst/>
            <a:gdLst/>
            <a:ahLst/>
            <a:cxnLst/>
            <a:rect r="r" b="b" t="t" l="l"/>
            <a:pathLst>
              <a:path h="281398" w="569675">
                <a:moveTo>
                  <a:pt x="0" y="0"/>
                </a:moveTo>
                <a:lnTo>
                  <a:pt x="569676" y="0"/>
                </a:lnTo>
                <a:lnTo>
                  <a:pt x="569676" y="281398"/>
                </a:lnTo>
                <a:lnTo>
                  <a:pt x="0" y="281398"/>
                </a:lnTo>
                <a:lnTo>
                  <a:pt x="0" y="0"/>
                </a:lnTo>
                <a:close/>
              </a:path>
            </a:pathLst>
          </a:custGeom>
          <a:blipFill>
            <a:blip r:embed="rId2"/>
            <a:stretch>
              <a:fillRect l="-17685" t="-317621" r="-240961" b="-308439"/>
            </a:stretch>
          </a:blipFill>
        </p:spPr>
      </p:sp>
      <p:sp>
        <p:nvSpPr>
          <p:cNvPr name="Freeform 6" id="6"/>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3"/>
            <a:stretch>
              <a:fillRect l="0" t="-110584" r="0" b="-122957"/>
            </a:stretch>
          </a:blipFill>
        </p:spPr>
      </p:sp>
      <p:sp>
        <p:nvSpPr>
          <p:cNvPr name="Freeform 7" id="7"/>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245181" y="6853583"/>
            <a:ext cx="336176" cy="336176"/>
          </a:xfrm>
          <a:custGeom>
            <a:avLst/>
            <a:gdLst/>
            <a:ahLst/>
            <a:cxnLst/>
            <a:rect r="r" b="b" t="t" l="l"/>
            <a:pathLst>
              <a:path h="336176" w="336176">
                <a:moveTo>
                  <a:pt x="0" y="0"/>
                </a:moveTo>
                <a:lnTo>
                  <a:pt x="336176" y="0"/>
                </a:lnTo>
                <a:lnTo>
                  <a:pt x="336176" y="336177"/>
                </a:lnTo>
                <a:lnTo>
                  <a:pt x="0" y="3361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239324" y="6918265"/>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261500" y="7064805"/>
            <a:ext cx="336176" cy="336176"/>
          </a:xfrm>
          <a:custGeom>
            <a:avLst/>
            <a:gdLst/>
            <a:ahLst/>
            <a:cxnLst/>
            <a:rect r="r" b="b" t="t" l="l"/>
            <a:pathLst>
              <a:path h="336176" w="336176">
                <a:moveTo>
                  <a:pt x="0" y="0"/>
                </a:moveTo>
                <a:lnTo>
                  <a:pt x="336177" y="0"/>
                </a:lnTo>
                <a:lnTo>
                  <a:pt x="336177" y="336177"/>
                </a:lnTo>
                <a:lnTo>
                  <a:pt x="0" y="3361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286873" y="6896717"/>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2697224" y="5673319"/>
            <a:ext cx="990503" cy="381930"/>
          </a:xfrm>
          <a:custGeom>
            <a:avLst/>
            <a:gdLst/>
            <a:ahLst/>
            <a:cxnLst/>
            <a:rect r="r" b="b" t="t" l="l"/>
            <a:pathLst>
              <a:path h="381930" w="990503">
                <a:moveTo>
                  <a:pt x="0" y="0"/>
                </a:moveTo>
                <a:lnTo>
                  <a:pt x="990503" y="0"/>
                </a:lnTo>
                <a:lnTo>
                  <a:pt x="990503" y="381931"/>
                </a:lnTo>
                <a:lnTo>
                  <a:pt x="0" y="381931"/>
                </a:lnTo>
                <a:lnTo>
                  <a:pt x="0" y="0"/>
                </a:lnTo>
                <a:close/>
              </a:path>
            </a:pathLst>
          </a:custGeom>
          <a:blipFill>
            <a:blip r:embed="rId2"/>
            <a:stretch>
              <a:fillRect l="-9780" t="-225029" r="-88568" b="-189372"/>
            </a:stretch>
          </a:blipFill>
        </p:spPr>
      </p:sp>
      <p:grpSp>
        <p:nvGrpSpPr>
          <p:cNvPr name="Group 19" id="19"/>
          <p:cNvGrpSpPr/>
          <p:nvPr/>
        </p:nvGrpSpPr>
        <p:grpSpPr>
          <a:xfrm rot="0">
            <a:off x="17882235" y="5939790"/>
            <a:ext cx="326708" cy="1291590"/>
            <a:chOff x="0" y="0"/>
            <a:chExt cx="435610" cy="1722120"/>
          </a:xfrm>
        </p:grpSpPr>
        <p:sp>
          <p:nvSpPr>
            <p:cNvPr name="Freeform 20" id="20"/>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21" id="21"/>
          <p:cNvGrpSpPr/>
          <p:nvPr/>
        </p:nvGrpSpPr>
        <p:grpSpPr>
          <a:xfrm rot="0">
            <a:off x="17916525" y="2520315"/>
            <a:ext cx="240983" cy="670560"/>
            <a:chOff x="0" y="0"/>
            <a:chExt cx="321310" cy="894080"/>
          </a:xfrm>
        </p:grpSpPr>
        <p:sp>
          <p:nvSpPr>
            <p:cNvPr name="Freeform 22" id="22"/>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23" id="23"/>
          <p:cNvSpPr/>
          <p:nvPr/>
        </p:nvSpPr>
        <p:spPr>
          <a:xfrm flipH="false" flipV="false" rot="0">
            <a:off x="8746097" y="2665983"/>
            <a:ext cx="2902171" cy="2902171"/>
          </a:xfrm>
          <a:custGeom>
            <a:avLst/>
            <a:gdLst/>
            <a:ahLst/>
            <a:cxnLst/>
            <a:rect r="r" b="b" t="t" l="l"/>
            <a:pathLst>
              <a:path h="2902171" w="2902171">
                <a:moveTo>
                  <a:pt x="0" y="0"/>
                </a:moveTo>
                <a:lnTo>
                  <a:pt x="2902171" y="0"/>
                </a:lnTo>
                <a:lnTo>
                  <a:pt x="2902171" y="2902172"/>
                </a:lnTo>
                <a:lnTo>
                  <a:pt x="0" y="2902172"/>
                </a:lnTo>
                <a:lnTo>
                  <a:pt x="0" y="0"/>
                </a:lnTo>
                <a:close/>
              </a:path>
            </a:pathLst>
          </a:custGeom>
          <a:blipFill>
            <a:blip r:embed="rId20"/>
            <a:stretch>
              <a:fillRect l="0" t="0" r="0" b="0"/>
            </a:stretch>
          </a:blipFill>
        </p:spPr>
      </p:sp>
      <p:sp>
        <p:nvSpPr>
          <p:cNvPr name="Freeform 24" id="24"/>
          <p:cNvSpPr/>
          <p:nvPr/>
        </p:nvSpPr>
        <p:spPr>
          <a:xfrm flipH="false" flipV="false" rot="0">
            <a:off x="12794635" y="2771148"/>
            <a:ext cx="2902171" cy="2902171"/>
          </a:xfrm>
          <a:custGeom>
            <a:avLst/>
            <a:gdLst/>
            <a:ahLst/>
            <a:cxnLst/>
            <a:rect r="r" b="b" t="t" l="l"/>
            <a:pathLst>
              <a:path h="2902171" w="2902171">
                <a:moveTo>
                  <a:pt x="0" y="0"/>
                </a:moveTo>
                <a:lnTo>
                  <a:pt x="2902172" y="0"/>
                </a:lnTo>
                <a:lnTo>
                  <a:pt x="2902172" y="2902171"/>
                </a:lnTo>
                <a:lnTo>
                  <a:pt x="0" y="2902171"/>
                </a:lnTo>
                <a:lnTo>
                  <a:pt x="0" y="0"/>
                </a:lnTo>
                <a:close/>
              </a:path>
            </a:pathLst>
          </a:custGeom>
          <a:blipFill>
            <a:blip r:embed="rId21"/>
            <a:stretch>
              <a:fillRect l="0" t="0" r="0" b="0"/>
            </a:stretch>
          </a:blipFill>
        </p:spPr>
      </p:sp>
      <p:sp>
        <p:nvSpPr>
          <p:cNvPr name="Freeform 25" id="25"/>
          <p:cNvSpPr/>
          <p:nvPr/>
        </p:nvSpPr>
        <p:spPr>
          <a:xfrm flipH="false" flipV="false" rot="0">
            <a:off x="4849367" y="2734984"/>
            <a:ext cx="2947144" cy="2947144"/>
          </a:xfrm>
          <a:custGeom>
            <a:avLst/>
            <a:gdLst/>
            <a:ahLst/>
            <a:cxnLst/>
            <a:rect r="r" b="b" t="t" l="l"/>
            <a:pathLst>
              <a:path h="2947144" w="2947144">
                <a:moveTo>
                  <a:pt x="0" y="0"/>
                </a:moveTo>
                <a:lnTo>
                  <a:pt x="2947144" y="0"/>
                </a:lnTo>
                <a:lnTo>
                  <a:pt x="2947144" y="2947144"/>
                </a:lnTo>
                <a:lnTo>
                  <a:pt x="0" y="2947144"/>
                </a:lnTo>
                <a:lnTo>
                  <a:pt x="0" y="0"/>
                </a:lnTo>
                <a:close/>
              </a:path>
            </a:pathLst>
          </a:custGeom>
          <a:blipFill>
            <a:blip r:embed="rId22"/>
            <a:stretch>
              <a:fillRect l="0" t="0" r="0" b="0"/>
            </a:stretch>
          </a:blipFill>
        </p:spPr>
      </p:sp>
      <p:sp>
        <p:nvSpPr>
          <p:cNvPr name="TextBox 26" id="26"/>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27" id="27"/>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28" id="28"/>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29" id="29"/>
          <p:cNvSpPr txBox="true"/>
          <p:nvPr/>
        </p:nvSpPr>
        <p:spPr>
          <a:xfrm rot="0">
            <a:off x="637547" y="6855213"/>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R$ 499,99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R$ 124,43</a:t>
            </a:r>
          </a:p>
        </p:txBody>
      </p:sp>
      <p:sp>
        <p:nvSpPr>
          <p:cNvPr name="TextBox 30" id="30"/>
          <p:cNvSpPr txBox="true"/>
          <p:nvPr/>
        </p:nvSpPr>
        <p:spPr>
          <a:xfrm rot="0">
            <a:off x="660938" y="6254822"/>
            <a:ext cx="2716618" cy="699627"/>
          </a:xfrm>
          <a:prstGeom prst="rect">
            <a:avLst/>
          </a:prstGeom>
        </p:spPr>
        <p:txBody>
          <a:bodyPr anchor="t" rtlCol="false" tIns="0" lIns="0" bIns="0" rIns="0">
            <a:spAutoFit/>
          </a:bodyPr>
          <a:lstStyle/>
          <a:p>
            <a:pPr algn="just">
              <a:lnSpc>
                <a:spcPts val="1849"/>
              </a:lnSpc>
            </a:pPr>
            <a:r>
              <a:rPr lang="en-US" sz="1831" spc="-106">
                <a:solidFill>
                  <a:srgbClr val="FFFFFF"/>
                </a:solidFill>
                <a:latin typeface="Open Sauce"/>
                <a:ea typeface="Open Sauce"/>
                <a:cs typeface="Open Sauce"/>
                <a:sym typeface="Open Sauce"/>
              </a:rPr>
              <a:t>Camiseta Regata Boston Celtics</a:t>
            </a:r>
          </a:p>
          <a:p>
            <a:pPr algn="just">
              <a:lnSpc>
                <a:spcPts val="1849"/>
              </a:lnSpc>
            </a:pPr>
          </a:p>
        </p:txBody>
      </p:sp>
      <p:sp>
        <p:nvSpPr>
          <p:cNvPr name="TextBox 31" id="31"/>
          <p:cNvSpPr txBox="true"/>
          <p:nvPr/>
        </p:nvSpPr>
        <p:spPr>
          <a:xfrm rot="0">
            <a:off x="4741679" y="6245297"/>
            <a:ext cx="3039085" cy="731269"/>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Camiseta Regata do Atlanta Hawks Nike</a:t>
            </a:r>
          </a:p>
          <a:p>
            <a:pPr algn="just">
              <a:lnSpc>
                <a:spcPts val="1903"/>
              </a:lnSpc>
            </a:pPr>
          </a:p>
        </p:txBody>
      </p:sp>
      <p:sp>
        <p:nvSpPr>
          <p:cNvPr name="TextBox 32" id="32"/>
          <p:cNvSpPr txBox="true"/>
          <p:nvPr/>
        </p:nvSpPr>
        <p:spPr>
          <a:xfrm rot="0">
            <a:off x="4741679" y="6883095"/>
            <a:ext cx="1948322"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R$379,99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R$ 80,00</a:t>
            </a:r>
          </a:p>
        </p:txBody>
      </p:sp>
      <p:sp>
        <p:nvSpPr>
          <p:cNvPr name="TextBox 33" id="33"/>
          <p:cNvSpPr txBox="true"/>
          <p:nvPr/>
        </p:nvSpPr>
        <p:spPr>
          <a:xfrm rot="0">
            <a:off x="8770908" y="6122314"/>
            <a:ext cx="2956167" cy="731269"/>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Camiseta Regata Masculina NBA Showtime</a:t>
            </a:r>
          </a:p>
          <a:p>
            <a:pPr algn="just">
              <a:lnSpc>
                <a:spcPts val="1903"/>
              </a:lnSpc>
            </a:pPr>
          </a:p>
        </p:txBody>
      </p:sp>
      <p:sp>
        <p:nvSpPr>
          <p:cNvPr name="TextBox 34" id="34"/>
          <p:cNvSpPr txBox="true"/>
          <p:nvPr/>
        </p:nvSpPr>
        <p:spPr>
          <a:xfrm rot="0">
            <a:off x="8770908" y="6891683"/>
            <a:ext cx="2014577"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664,99 no Pix</a:t>
            </a:r>
          </a:p>
          <a:p>
            <a:pPr algn="just">
              <a:lnSpc>
                <a:spcPts val="1771"/>
              </a:lnSpc>
            </a:pPr>
            <a:r>
              <a:rPr lang="en-US" b="true" sz="1753" spc="-101">
                <a:solidFill>
                  <a:srgbClr val="FFFFFF"/>
                </a:solidFill>
                <a:latin typeface="Open Sauce Bold"/>
                <a:ea typeface="Open Sauce Bold"/>
                <a:cs typeface="Open Sauce Bold"/>
                <a:sym typeface="Open Sauce Bold"/>
              </a:rPr>
              <a:t>ou 9x de R$ 77,78</a:t>
            </a:r>
          </a:p>
        </p:txBody>
      </p:sp>
      <p:sp>
        <p:nvSpPr>
          <p:cNvPr name="TextBox 35" id="35"/>
          <p:cNvSpPr txBox="true"/>
          <p:nvPr/>
        </p:nvSpPr>
        <p:spPr>
          <a:xfrm rot="0">
            <a:off x="12715399" y="6102996"/>
            <a:ext cx="2697870" cy="714117"/>
          </a:xfrm>
          <a:prstGeom prst="rect">
            <a:avLst/>
          </a:prstGeom>
        </p:spPr>
        <p:txBody>
          <a:bodyPr anchor="t" rtlCol="false" tIns="0" lIns="0" bIns="0" rIns="0">
            <a:spAutoFit/>
          </a:bodyPr>
          <a:lstStyle/>
          <a:p>
            <a:pPr algn="just">
              <a:lnSpc>
                <a:spcPts val="1861"/>
              </a:lnSpc>
            </a:pPr>
            <a:r>
              <a:rPr lang="en-US" b="true" sz="1842" spc="-106">
                <a:solidFill>
                  <a:srgbClr val="FFFFFF"/>
                </a:solidFill>
                <a:latin typeface="Open Sauce Bold"/>
                <a:ea typeface="Open Sauce Bold"/>
                <a:cs typeface="Open Sauce Bold"/>
                <a:sym typeface="Open Sauce Bold"/>
              </a:rPr>
              <a:t>Regata Nike San Antonio Spurs Statement Edition</a:t>
            </a:r>
          </a:p>
          <a:p>
            <a:pPr algn="just">
              <a:lnSpc>
                <a:spcPts val="1861"/>
              </a:lnSpc>
            </a:pPr>
          </a:p>
        </p:txBody>
      </p:sp>
      <p:sp>
        <p:nvSpPr>
          <p:cNvPr name="TextBox 36" id="36"/>
          <p:cNvSpPr txBox="true"/>
          <p:nvPr/>
        </p:nvSpPr>
        <p:spPr>
          <a:xfrm rot="0">
            <a:off x="12697224" y="6861547"/>
            <a:ext cx="1973384"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R$ 668,63 no Pix</a:t>
            </a:r>
          </a:p>
          <a:p>
            <a:pPr algn="just">
              <a:lnSpc>
                <a:spcPts val="1771"/>
              </a:lnSpc>
            </a:pPr>
            <a:r>
              <a:rPr lang="en-US" b="true" sz="1753" spc="-101">
                <a:solidFill>
                  <a:srgbClr val="FFFFFF"/>
                </a:solidFill>
                <a:latin typeface="Open Sauce Bold"/>
                <a:ea typeface="Open Sauce Bold"/>
                <a:cs typeface="Open Sauce Bold"/>
                <a:sym typeface="Open Sauce Bold"/>
              </a:rPr>
              <a:t>ou 5x de R$ 82,00</a:t>
            </a:r>
          </a:p>
        </p:txBody>
      </p:sp>
      <p:sp>
        <p:nvSpPr>
          <p:cNvPr name="TextBox 37" id="37"/>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38" id="38"/>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39" id="39"/>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40" id="40"/>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41" id="41"/>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42" id="42"/>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43" id="43"/>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44" id="44"/>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45" id="45"/>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46" id="46"/>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47" id="47"/>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48" id="48"/>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49" id="4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10</a:t>
            </a:r>
          </a:p>
        </p:txBody>
      </p:sp>
      <p:sp>
        <p:nvSpPr>
          <p:cNvPr name="Freeform 50" id="50"/>
          <p:cNvSpPr/>
          <p:nvPr/>
        </p:nvSpPr>
        <p:spPr>
          <a:xfrm flipH="false" flipV="false" rot="0">
            <a:off x="665736" y="2782282"/>
            <a:ext cx="2863682" cy="2863682"/>
          </a:xfrm>
          <a:custGeom>
            <a:avLst/>
            <a:gdLst/>
            <a:ahLst/>
            <a:cxnLst/>
            <a:rect r="r" b="b" t="t" l="l"/>
            <a:pathLst>
              <a:path h="2863682" w="2863682">
                <a:moveTo>
                  <a:pt x="0" y="0"/>
                </a:moveTo>
                <a:lnTo>
                  <a:pt x="2863681" y="0"/>
                </a:lnTo>
                <a:lnTo>
                  <a:pt x="2863681" y="2863682"/>
                </a:lnTo>
                <a:lnTo>
                  <a:pt x="0" y="2863682"/>
                </a:lnTo>
                <a:lnTo>
                  <a:pt x="0" y="0"/>
                </a:lnTo>
                <a:close/>
              </a:path>
            </a:pathLst>
          </a:custGeom>
          <a:blipFill>
            <a:blip r:embed="rId2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613228" y="5778949"/>
            <a:ext cx="2100420" cy="397184"/>
          </a:xfrm>
          <a:custGeom>
            <a:avLst/>
            <a:gdLst/>
            <a:ahLst/>
            <a:cxnLst/>
            <a:rect r="r" b="b" t="t" l="l"/>
            <a:pathLst>
              <a:path h="397184" w="2100420">
                <a:moveTo>
                  <a:pt x="0" y="0"/>
                </a:moveTo>
                <a:lnTo>
                  <a:pt x="2100420" y="0"/>
                </a:lnTo>
                <a:lnTo>
                  <a:pt x="2100420" y="397184"/>
                </a:lnTo>
                <a:lnTo>
                  <a:pt x="0" y="397184"/>
                </a:lnTo>
                <a:lnTo>
                  <a:pt x="0" y="0"/>
                </a:lnTo>
                <a:close/>
              </a:path>
            </a:pathLst>
          </a:custGeom>
          <a:blipFill>
            <a:blip r:embed="rId2"/>
            <a:stretch>
              <a:fillRect l="-5186" t="-247408" r="0" b="-208849"/>
            </a:stretch>
          </a:blipFill>
        </p:spPr>
      </p:sp>
      <p:sp>
        <p:nvSpPr>
          <p:cNvPr name="Freeform 4" id="4"/>
          <p:cNvSpPr/>
          <p:nvPr/>
        </p:nvSpPr>
        <p:spPr>
          <a:xfrm flipH="false" flipV="false" rot="0">
            <a:off x="8741403" y="5634830"/>
            <a:ext cx="1316789" cy="458910"/>
          </a:xfrm>
          <a:custGeom>
            <a:avLst/>
            <a:gdLst/>
            <a:ahLst/>
            <a:cxnLst/>
            <a:rect r="r" b="b" t="t" l="l"/>
            <a:pathLst>
              <a:path h="458910" w="1316789">
                <a:moveTo>
                  <a:pt x="0" y="0"/>
                </a:moveTo>
                <a:lnTo>
                  <a:pt x="1316789" y="0"/>
                </a:lnTo>
                <a:lnTo>
                  <a:pt x="1316789" y="458909"/>
                </a:lnTo>
                <a:lnTo>
                  <a:pt x="0" y="458909"/>
                </a:lnTo>
                <a:lnTo>
                  <a:pt x="0" y="0"/>
                </a:lnTo>
                <a:close/>
              </a:path>
            </a:pathLst>
          </a:custGeom>
          <a:blipFill>
            <a:blip r:embed="rId2"/>
            <a:stretch>
              <a:fillRect l="-7935" t="-188498" r="-52991" b="-173264"/>
            </a:stretch>
          </a:blipFill>
        </p:spPr>
      </p:sp>
      <p:sp>
        <p:nvSpPr>
          <p:cNvPr name="Freeform 5" id="5"/>
          <p:cNvSpPr/>
          <p:nvPr/>
        </p:nvSpPr>
        <p:spPr>
          <a:xfrm flipH="false" flipV="false" rot="0">
            <a:off x="4688122" y="5786576"/>
            <a:ext cx="569675" cy="281398"/>
          </a:xfrm>
          <a:custGeom>
            <a:avLst/>
            <a:gdLst/>
            <a:ahLst/>
            <a:cxnLst/>
            <a:rect r="r" b="b" t="t" l="l"/>
            <a:pathLst>
              <a:path h="281398" w="569675">
                <a:moveTo>
                  <a:pt x="0" y="0"/>
                </a:moveTo>
                <a:lnTo>
                  <a:pt x="569676" y="0"/>
                </a:lnTo>
                <a:lnTo>
                  <a:pt x="569676" y="281398"/>
                </a:lnTo>
                <a:lnTo>
                  <a:pt x="0" y="281398"/>
                </a:lnTo>
                <a:lnTo>
                  <a:pt x="0" y="0"/>
                </a:lnTo>
                <a:close/>
              </a:path>
            </a:pathLst>
          </a:custGeom>
          <a:blipFill>
            <a:blip r:embed="rId2"/>
            <a:stretch>
              <a:fillRect l="-17685" t="-317621" r="-240961" b="-308439"/>
            </a:stretch>
          </a:blipFill>
        </p:spPr>
      </p:sp>
      <p:sp>
        <p:nvSpPr>
          <p:cNvPr name="Freeform 6" id="6"/>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3"/>
            <a:stretch>
              <a:fillRect l="0" t="-110584" r="0" b="-122957"/>
            </a:stretch>
          </a:blipFill>
        </p:spPr>
      </p:sp>
      <p:sp>
        <p:nvSpPr>
          <p:cNvPr name="Freeform 7" id="7"/>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065313" y="6853583"/>
            <a:ext cx="336176" cy="336176"/>
          </a:xfrm>
          <a:custGeom>
            <a:avLst/>
            <a:gdLst/>
            <a:ahLst/>
            <a:cxnLst/>
            <a:rect r="r" b="b" t="t" l="l"/>
            <a:pathLst>
              <a:path h="336176" w="336176">
                <a:moveTo>
                  <a:pt x="0" y="0"/>
                </a:moveTo>
                <a:lnTo>
                  <a:pt x="336176" y="0"/>
                </a:lnTo>
                <a:lnTo>
                  <a:pt x="336176" y="336177"/>
                </a:lnTo>
                <a:lnTo>
                  <a:pt x="0" y="3361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425861" y="7000124"/>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261500" y="7064805"/>
            <a:ext cx="336176" cy="336176"/>
          </a:xfrm>
          <a:custGeom>
            <a:avLst/>
            <a:gdLst/>
            <a:ahLst/>
            <a:cxnLst/>
            <a:rect r="r" b="b" t="t" l="l"/>
            <a:pathLst>
              <a:path h="336176" w="336176">
                <a:moveTo>
                  <a:pt x="0" y="0"/>
                </a:moveTo>
                <a:lnTo>
                  <a:pt x="336177" y="0"/>
                </a:lnTo>
                <a:lnTo>
                  <a:pt x="336177" y="336177"/>
                </a:lnTo>
                <a:lnTo>
                  <a:pt x="0" y="3361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286873" y="6896717"/>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2537798" y="5711809"/>
            <a:ext cx="990503" cy="381930"/>
          </a:xfrm>
          <a:custGeom>
            <a:avLst/>
            <a:gdLst/>
            <a:ahLst/>
            <a:cxnLst/>
            <a:rect r="r" b="b" t="t" l="l"/>
            <a:pathLst>
              <a:path h="381930" w="990503">
                <a:moveTo>
                  <a:pt x="0" y="0"/>
                </a:moveTo>
                <a:lnTo>
                  <a:pt x="990502" y="0"/>
                </a:lnTo>
                <a:lnTo>
                  <a:pt x="990502" y="381930"/>
                </a:lnTo>
                <a:lnTo>
                  <a:pt x="0" y="381930"/>
                </a:lnTo>
                <a:lnTo>
                  <a:pt x="0" y="0"/>
                </a:lnTo>
                <a:close/>
              </a:path>
            </a:pathLst>
          </a:custGeom>
          <a:blipFill>
            <a:blip r:embed="rId2"/>
            <a:stretch>
              <a:fillRect l="-9780" t="-225029" r="-88568" b="-189372"/>
            </a:stretch>
          </a:blipFill>
        </p:spPr>
      </p:sp>
      <p:grpSp>
        <p:nvGrpSpPr>
          <p:cNvPr name="Group 19" id="19"/>
          <p:cNvGrpSpPr/>
          <p:nvPr/>
        </p:nvGrpSpPr>
        <p:grpSpPr>
          <a:xfrm rot="0">
            <a:off x="17882235" y="5939790"/>
            <a:ext cx="326708" cy="1291590"/>
            <a:chOff x="0" y="0"/>
            <a:chExt cx="435610" cy="1722120"/>
          </a:xfrm>
        </p:grpSpPr>
        <p:sp>
          <p:nvSpPr>
            <p:cNvPr name="Freeform 20" id="20"/>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21" id="21"/>
          <p:cNvGrpSpPr/>
          <p:nvPr/>
        </p:nvGrpSpPr>
        <p:grpSpPr>
          <a:xfrm rot="0">
            <a:off x="17916525" y="2520315"/>
            <a:ext cx="240983" cy="670560"/>
            <a:chOff x="0" y="0"/>
            <a:chExt cx="321310" cy="894080"/>
          </a:xfrm>
        </p:grpSpPr>
        <p:sp>
          <p:nvSpPr>
            <p:cNvPr name="Freeform 22" id="22"/>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23" id="23"/>
          <p:cNvSpPr/>
          <p:nvPr/>
        </p:nvSpPr>
        <p:spPr>
          <a:xfrm flipH="false" flipV="false" rot="0">
            <a:off x="555116" y="2734984"/>
            <a:ext cx="2947144" cy="2947144"/>
          </a:xfrm>
          <a:custGeom>
            <a:avLst/>
            <a:gdLst/>
            <a:ahLst/>
            <a:cxnLst/>
            <a:rect r="r" b="b" t="t" l="l"/>
            <a:pathLst>
              <a:path h="2947144" w="2947144">
                <a:moveTo>
                  <a:pt x="0" y="0"/>
                </a:moveTo>
                <a:lnTo>
                  <a:pt x="2947144" y="0"/>
                </a:lnTo>
                <a:lnTo>
                  <a:pt x="2947144" y="2947144"/>
                </a:lnTo>
                <a:lnTo>
                  <a:pt x="0" y="2947144"/>
                </a:lnTo>
                <a:lnTo>
                  <a:pt x="0" y="0"/>
                </a:lnTo>
                <a:close/>
              </a:path>
            </a:pathLst>
          </a:custGeom>
          <a:blipFill>
            <a:blip r:embed="rId20"/>
            <a:stretch>
              <a:fillRect l="0" t="0" r="0" b="0"/>
            </a:stretch>
          </a:blipFill>
        </p:spPr>
      </p:sp>
      <p:sp>
        <p:nvSpPr>
          <p:cNvPr name="Freeform 24" id="24"/>
          <p:cNvSpPr/>
          <p:nvPr/>
        </p:nvSpPr>
        <p:spPr>
          <a:xfrm flipH="false" flipV="false" rot="0">
            <a:off x="4745396" y="2723532"/>
            <a:ext cx="2953613" cy="2997404"/>
          </a:xfrm>
          <a:custGeom>
            <a:avLst/>
            <a:gdLst/>
            <a:ahLst/>
            <a:cxnLst/>
            <a:rect r="r" b="b" t="t" l="l"/>
            <a:pathLst>
              <a:path h="2997404" w="2953613">
                <a:moveTo>
                  <a:pt x="0" y="0"/>
                </a:moveTo>
                <a:lnTo>
                  <a:pt x="2953613" y="0"/>
                </a:lnTo>
                <a:lnTo>
                  <a:pt x="2953613" y="2997404"/>
                </a:lnTo>
                <a:lnTo>
                  <a:pt x="0" y="2997404"/>
                </a:lnTo>
                <a:lnTo>
                  <a:pt x="0" y="0"/>
                </a:lnTo>
                <a:close/>
              </a:path>
            </a:pathLst>
          </a:custGeom>
          <a:blipFill>
            <a:blip r:embed="rId21"/>
            <a:stretch>
              <a:fillRect l="0" t="0" r="-1482" b="0"/>
            </a:stretch>
          </a:blipFill>
        </p:spPr>
      </p:sp>
      <p:sp>
        <p:nvSpPr>
          <p:cNvPr name="Freeform 25" id="25"/>
          <p:cNvSpPr/>
          <p:nvPr/>
        </p:nvSpPr>
        <p:spPr>
          <a:xfrm flipH="false" flipV="false" rot="0">
            <a:off x="8770908" y="2723532"/>
            <a:ext cx="3043965" cy="2911298"/>
          </a:xfrm>
          <a:custGeom>
            <a:avLst/>
            <a:gdLst/>
            <a:ahLst/>
            <a:cxnLst/>
            <a:rect r="r" b="b" t="t" l="l"/>
            <a:pathLst>
              <a:path h="2911298" w="3043965">
                <a:moveTo>
                  <a:pt x="0" y="0"/>
                </a:moveTo>
                <a:lnTo>
                  <a:pt x="3043966" y="0"/>
                </a:lnTo>
                <a:lnTo>
                  <a:pt x="3043966" y="2911298"/>
                </a:lnTo>
                <a:lnTo>
                  <a:pt x="0" y="2911298"/>
                </a:lnTo>
                <a:lnTo>
                  <a:pt x="0" y="0"/>
                </a:lnTo>
                <a:close/>
              </a:path>
            </a:pathLst>
          </a:custGeom>
          <a:blipFill>
            <a:blip r:embed="rId22"/>
            <a:stretch>
              <a:fillRect l="0" t="0" r="0" b="-4556"/>
            </a:stretch>
          </a:blipFill>
        </p:spPr>
      </p:sp>
      <p:sp>
        <p:nvSpPr>
          <p:cNvPr name="Freeform 26" id="26"/>
          <p:cNvSpPr/>
          <p:nvPr/>
        </p:nvSpPr>
        <p:spPr>
          <a:xfrm flipH="false" flipV="false" rot="0">
            <a:off x="12537798" y="2723532"/>
            <a:ext cx="3086940" cy="2911298"/>
          </a:xfrm>
          <a:custGeom>
            <a:avLst/>
            <a:gdLst/>
            <a:ahLst/>
            <a:cxnLst/>
            <a:rect r="r" b="b" t="t" l="l"/>
            <a:pathLst>
              <a:path h="2911298" w="3086940">
                <a:moveTo>
                  <a:pt x="0" y="0"/>
                </a:moveTo>
                <a:lnTo>
                  <a:pt x="3086939" y="0"/>
                </a:lnTo>
                <a:lnTo>
                  <a:pt x="3086939" y="2911298"/>
                </a:lnTo>
                <a:lnTo>
                  <a:pt x="0" y="2911298"/>
                </a:lnTo>
                <a:lnTo>
                  <a:pt x="0" y="0"/>
                </a:lnTo>
                <a:close/>
              </a:path>
            </a:pathLst>
          </a:custGeom>
          <a:blipFill>
            <a:blip r:embed="rId23"/>
            <a:stretch>
              <a:fillRect l="0" t="0" r="0" b="-6033"/>
            </a:stretch>
          </a:blipFill>
        </p:spPr>
      </p:sp>
      <p:sp>
        <p:nvSpPr>
          <p:cNvPr name="TextBox 27" id="27"/>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28" id="28"/>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29" id="29"/>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30" id="30"/>
          <p:cNvSpPr txBox="true"/>
          <p:nvPr/>
        </p:nvSpPr>
        <p:spPr>
          <a:xfrm rot="0">
            <a:off x="637547" y="6855213"/>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R$ 294,49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R$ 1</a:t>
            </a:r>
          </a:p>
        </p:txBody>
      </p:sp>
      <p:sp>
        <p:nvSpPr>
          <p:cNvPr name="TextBox 31" id="31"/>
          <p:cNvSpPr txBox="true"/>
          <p:nvPr/>
        </p:nvSpPr>
        <p:spPr>
          <a:xfrm rot="0">
            <a:off x="660938" y="6254822"/>
            <a:ext cx="2716618" cy="930803"/>
          </a:xfrm>
          <a:prstGeom prst="rect">
            <a:avLst/>
          </a:prstGeom>
        </p:spPr>
        <p:txBody>
          <a:bodyPr anchor="t" rtlCol="false" tIns="0" lIns="0" bIns="0" rIns="0">
            <a:spAutoFit/>
          </a:bodyPr>
          <a:lstStyle/>
          <a:p>
            <a:pPr algn="just">
              <a:lnSpc>
                <a:spcPts val="1849"/>
              </a:lnSpc>
            </a:pPr>
            <a:r>
              <a:rPr lang="en-US" b="true" sz="1831" spc="-106">
                <a:solidFill>
                  <a:srgbClr val="FFFFFF"/>
                </a:solidFill>
                <a:latin typeface="Open Sauce Bold"/>
                <a:ea typeface="Open Sauce Bold"/>
                <a:cs typeface="Open Sauce Bold"/>
                <a:sym typeface="Open Sauce Bold"/>
              </a:rPr>
              <a:t>Raquete De Beach Tennis Heroes Starlight</a:t>
            </a:r>
          </a:p>
          <a:p>
            <a:pPr algn="just">
              <a:lnSpc>
                <a:spcPts val="1849"/>
              </a:lnSpc>
            </a:pPr>
          </a:p>
          <a:p>
            <a:pPr algn="just">
              <a:lnSpc>
                <a:spcPts val="1849"/>
              </a:lnSpc>
            </a:pPr>
          </a:p>
        </p:txBody>
      </p:sp>
      <p:sp>
        <p:nvSpPr>
          <p:cNvPr name="TextBox 32" id="32"/>
          <p:cNvSpPr txBox="true"/>
          <p:nvPr/>
        </p:nvSpPr>
        <p:spPr>
          <a:xfrm rot="0">
            <a:off x="4662684" y="6149608"/>
            <a:ext cx="3039085" cy="731269"/>
          </a:xfrm>
          <a:prstGeom prst="rect">
            <a:avLst/>
          </a:prstGeom>
        </p:spPr>
        <p:txBody>
          <a:bodyPr anchor="t" rtlCol="false" tIns="0" lIns="0" bIns="0" rIns="0">
            <a:spAutoFit/>
          </a:bodyPr>
          <a:lstStyle/>
          <a:p>
            <a:pPr algn="just">
              <a:lnSpc>
                <a:spcPts val="1903"/>
              </a:lnSpc>
            </a:pPr>
            <a:r>
              <a:rPr lang="en-US" b="true" sz="1884" spc="-109">
                <a:solidFill>
                  <a:srgbClr val="FFFFFF"/>
                </a:solidFill>
                <a:latin typeface="Open Sauce Bold"/>
                <a:ea typeface="Open Sauce Bold"/>
                <a:cs typeface="Open Sauce Bold"/>
                <a:sym typeface="Open Sauce Bold"/>
              </a:rPr>
              <a:t>Camiseta Nike Dri-FIT Masculina</a:t>
            </a:r>
          </a:p>
          <a:p>
            <a:pPr algn="just">
              <a:lnSpc>
                <a:spcPts val="1903"/>
              </a:lnSpc>
            </a:pPr>
          </a:p>
        </p:txBody>
      </p:sp>
      <p:sp>
        <p:nvSpPr>
          <p:cNvPr name="TextBox 33" id="33"/>
          <p:cNvSpPr txBox="true"/>
          <p:nvPr/>
        </p:nvSpPr>
        <p:spPr>
          <a:xfrm rot="0">
            <a:off x="4688122" y="7028122"/>
            <a:ext cx="1948322"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R$142,49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R$ 75,00</a:t>
            </a:r>
          </a:p>
        </p:txBody>
      </p:sp>
      <p:sp>
        <p:nvSpPr>
          <p:cNvPr name="TextBox 34" id="34"/>
          <p:cNvSpPr txBox="true"/>
          <p:nvPr/>
        </p:nvSpPr>
        <p:spPr>
          <a:xfrm rot="0">
            <a:off x="8770908" y="6050558"/>
            <a:ext cx="2654952" cy="867707"/>
          </a:xfrm>
          <a:prstGeom prst="rect">
            <a:avLst/>
          </a:prstGeom>
        </p:spPr>
        <p:txBody>
          <a:bodyPr anchor="t" rtlCol="false" tIns="0" lIns="0" bIns="0" rIns="0">
            <a:spAutoFit/>
          </a:bodyPr>
          <a:lstStyle/>
          <a:p>
            <a:pPr algn="just">
              <a:lnSpc>
                <a:spcPts val="1709"/>
              </a:lnSpc>
            </a:pPr>
            <a:r>
              <a:rPr lang="en-US" b="true" sz="1692" spc="-98">
                <a:solidFill>
                  <a:srgbClr val="FFFFFF"/>
                </a:solidFill>
                <a:latin typeface="Open Sauce Bold"/>
                <a:ea typeface="Open Sauce Bold"/>
                <a:cs typeface="Open Sauce Bold"/>
                <a:sym typeface="Open Sauce Bold"/>
              </a:rPr>
              <a:t>Bola de Futebol adidas Trionda Oficial da Copa do Mundo </a:t>
            </a:r>
          </a:p>
          <a:p>
            <a:pPr algn="just">
              <a:lnSpc>
                <a:spcPts val="1709"/>
              </a:lnSpc>
            </a:pPr>
          </a:p>
        </p:txBody>
      </p:sp>
      <p:sp>
        <p:nvSpPr>
          <p:cNvPr name="TextBox 35" id="35"/>
          <p:cNvSpPr txBox="true"/>
          <p:nvPr/>
        </p:nvSpPr>
        <p:spPr>
          <a:xfrm rot="0">
            <a:off x="8770908" y="6891683"/>
            <a:ext cx="2131077"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3.849,90 no Pix</a:t>
            </a:r>
          </a:p>
          <a:p>
            <a:pPr algn="just">
              <a:lnSpc>
                <a:spcPts val="1771"/>
              </a:lnSpc>
            </a:pPr>
            <a:r>
              <a:rPr lang="en-US" b="true" sz="1753" spc="-101">
                <a:solidFill>
                  <a:srgbClr val="FFFFFF"/>
                </a:solidFill>
                <a:latin typeface="Open Sauce Bold"/>
                <a:ea typeface="Open Sauce Bold"/>
                <a:cs typeface="Open Sauce Bold"/>
                <a:sym typeface="Open Sauce Bold"/>
              </a:rPr>
              <a:t>ou 12x de R$ 320,03</a:t>
            </a:r>
          </a:p>
        </p:txBody>
      </p:sp>
      <p:sp>
        <p:nvSpPr>
          <p:cNvPr name="TextBox 36" id="36"/>
          <p:cNvSpPr txBox="true"/>
          <p:nvPr/>
        </p:nvSpPr>
        <p:spPr>
          <a:xfrm rot="0">
            <a:off x="12535531" y="6102996"/>
            <a:ext cx="2697870" cy="714117"/>
          </a:xfrm>
          <a:prstGeom prst="rect">
            <a:avLst/>
          </a:prstGeom>
        </p:spPr>
        <p:txBody>
          <a:bodyPr anchor="t" rtlCol="false" tIns="0" lIns="0" bIns="0" rIns="0">
            <a:spAutoFit/>
          </a:bodyPr>
          <a:lstStyle/>
          <a:p>
            <a:pPr algn="just">
              <a:lnSpc>
                <a:spcPts val="1861"/>
              </a:lnSpc>
            </a:pPr>
            <a:r>
              <a:rPr lang="en-US" b="true" sz="1842" spc="-106">
                <a:solidFill>
                  <a:srgbClr val="FFFFFF"/>
                </a:solidFill>
                <a:latin typeface="Open Sauce Bold"/>
                <a:ea typeface="Open Sauce Bold"/>
                <a:cs typeface="Open Sauce Bold"/>
                <a:sym typeface="Open Sauce Bold"/>
              </a:rPr>
              <a:t>Tênis Masculino adidas Runfalcon 5</a:t>
            </a:r>
          </a:p>
          <a:p>
            <a:pPr algn="just">
              <a:lnSpc>
                <a:spcPts val="1861"/>
              </a:lnSpc>
            </a:pPr>
          </a:p>
        </p:txBody>
      </p:sp>
      <p:sp>
        <p:nvSpPr>
          <p:cNvPr name="TextBox 37" id="37"/>
          <p:cNvSpPr txBox="true"/>
          <p:nvPr/>
        </p:nvSpPr>
        <p:spPr>
          <a:xfrm rot="0">
            <a:off x="12567207" y="6855213"/>
            <a:ext cx="1973384"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246,99 no Pix</a:t>
            </a:r>
          </a:p>
          <a:p>
            <a:pPr algn="just">
              <a:lnSpc>
                <a:spcPts val="1771"/>
              </a:lnSpc>
            </a:pPr>
            <a:r>
              <a:rPr lang="en-US" b="true" sz="1753" spc="-101">
                <a:solidFill>
                  <a:srgbClr val="FFFFFF"/>
                </a:solidFill>
                <a:latin typeface="Open Sauce Bold"/>
                <a:ea typeface="Open Sauce Bold"/>
                <a:cs typeface="Open Sauce Bold"/>
                <a:sym typeface="Open Sauce Bold"/>
              </a:rPr>
              <a:t>ou 5x de R$ 86,66</a:t>
            </a:r>
          </a:p>
        </p:txBody>
      </p:sp>
      <p:sp>
        <p:nvSpPr>
          <p:cNvPr name="TextBox 38" id="38"/>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39" id="39"/>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40" id="40"/>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41" id="41"/>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42" id="42"/>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43" id="43"/>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44" id="44"/>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45" id="45"/>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46" id="46"/>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47" id="47"/>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48" id="48"/>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49" id="49"/>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50" id="5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2"/>
            <a:stretch>
              <a:fillRect l="0" t="-110584" r="0" b="-122957"/>
            </a:stretch>
          </a:blipFill>
        </p:spPr>
      </p:sp>
      <p:sp>
        <p:nvSpPr>
          <p:cNvPr name="Freeform 4" id="4"/>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1" id="11"/>
          <p:cNvGrpSpPr/>
          <p:nvPr/>
        </p:nvGrpSpPr>
        <p:grpSpPr>
          <a:xfrm rot="0">
            <a:off x="17882235" y="5939790"/>
            <a:ext cx="326708" cy="1291590"/>
            <a:chOff x="0" y="0"/>
            <a:chExt cx="435610" cy="1722120"/>
          </a:xfrm>
        </p:grpSpPr>
        <p:sp>
          <p:nvSpPr>
            <p:cNvPr name="Freeform 12" id="12"/>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13" id="13"/>
          <p:cNvGrpSpPr/>
          <p:nvPr/>
        </p:nvGrpSpPr>
        <p:grpSpPr>
          <a:xfrm rot="0">
            <a:off x="17916525" y="2520315"/>
            <a:ext cx="240983" cy="670560"/>
            <a:chOff x="0" y="0"/>
            <a:chExt cx="321310" cy="894080"/>
          </a:xfrm>
        </p:grpSpPr>
        <p:sp>
          <p:nvSpPr>
            <p:cNvPr name="Freeform 14" id="14"/>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15" id="15"/>
          <p:cNvSpPr/>
          <p:nvPr/>
        </p:nvSpPr>
        <p:spPr>
          <a:xfrm flipH="false" flipV="false" rot="0">
            <a:off x="802196" y="5801331"/>
            <a:ext cx="938730" cy="397184"/>
          </a:xfrm>
          <a:custGeom>
            <a:avLst/>
            <a:gdLst/>
            <a:ahLst/>
            <a:cxnLst/>
            <a:rect r="r" b="b" t="t" l="l"/>
            <a:pathLst>
              <a:path h="397184" w="938730">
                <a:moveTo>
                  <a:pt x="0" y="0"/>
                </a:moveTo>
                <a:lnTo>
                  <a:pt x="938730" y="0"/>
                </a:lnTo>
                <a:lnTo>
                  <a:pt x="938730" y="397183"/>
                </a:lnTo>
                <a:lnTo>
                  <a:pt x="0" y="397183"/>
                </a:lnTo>
                <a:lnTo>
                  <a:pt x="0" y="0"/>
                </a:lnTo>
                <a:close/>
              </a:path>
            </a:pathLst>
          </a:custGeom>
          <a:blipFill>
            <a:blip r:embed="rId17"/>
            <a:stretch>
              <a:fillRect l="-10903" t="-229420" r="-110218" b="-193194"/>
            </a:stretch>
          </a:blipFill>
        </p:spPr>
      </p:sp>
      <p:sp>
        <p:nvSpPr>
          <p:cNvPr name="Freeform 16" id="16"/>
          <p:cNvSpPr/>
          <p:nvPr/>
        </p:nvSpPr>
        <p:spPr>
          <a:xfrm flipH="false" flipV="false" rot="0">
            <a:off x="3549700" y="6895204"/>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4928104" y="5801331"/>
            <a:ext cx="1024895" cy="368601"/>
          </a:xfrm>
          <a:custGeom>
            <a:avLst/>
            <a:gdLst/>
            <a:ahLst/>
            <a:cxnLst/>
            <a:rect r="r" b="b" t="t" l="l"/>
            <a:pathLst>
              <a:path h="368601" w="1024895">
                <a:moveTo>
                  <a:pt x="0" y="0"/>
                </a:moveTo>
                <a:lnTo>
                  <a:pt x="1024896" y="0"/>
                </a:lnTo>
                <a:lnTo>
                  <a:pt x="1024896" y="368601"/>
                </a:lnTo>
                <a:lnTo>
                  <a:pt x="0" y="368601"/>
                </a:lnTo>
                <a:lnTo>
                  <a:pt x="0" y="0"/>
                </a:lnTo>
                <a:close/>
              </a:path>
            </a:pathLst>
          </a:custGeom>
          <a:blipFill>
            <a:blip r:embed="rId17"/>
            <a:stretch>
              <a:fillRect l="-9268" t="-229420" r="-78688" b="-193194"/>
            </a:stretch>
          </a:blipFill>
        </p:spPr>
      </p:sp>
      <p:sp>
        <p:nvSpPr>
          <p:cNvPr name="Freeform 18" id="18"/>
          <p:cNvSpPr/>
          <p:nvPr/>
        </p:nvSpPr>
        <p:spPr>
          <a:xfrm flipH="false" flipV="false" rot="0">
            <a:off x="7702014" y="6936058"/>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false" flipV="false" rot="0">
            <a:off x="9108994" y="5728539"/>
            <a:ext cx="1485542" cy="397184"/>
          </a:xfrm>
          <a:custGeom>
            <a:avLst/>
            <a:gdLst/>
            <a:ahLst/>
            <a:cxnLst/>
            <a:rect r="r" b="b" t="t" l="l"/>
            <a:pathLst>
              <a:path h="397184" w="1485542">
                <a:moveTo>
                  <a:pt x="0" y="0"/>
                </a:moveTo>
                <a:lnTo>
                  <a:pt x="1485542" y="0"/>
                </a:lnTo>
                <a:lnTo>
                  <a:pt x="1485542" y="397183"/>
                </a:lnTo>
                <a:lnTo>
                  <a:pt x="0" y="397183"/>
                </a:lnTo>
                <a:lnTo>
                  <a:pt x="0" y="0"/>
                </a:lnTo>
                <a:close/>
              </a:path>
            </a:pathLst>
          </a:custGeom>
          <a:blipFill>
            <a:blip r:embed="rId17"/>
            <a:stretch>
              <a:fillRect l="-6890" t="-229420" r="-32839" b="-193194"/>
            </a:stretch>
          </a:blipFill>
        </p:spPr>
      </p:sp>
      <p:sp>
        <p:nvSpPr>
          <p:cNvPr name="Freeform 20" id="20"/>
          <p:cNvSpPr/>
          <p:nvPr/>
        </p:nvSpPr>
        <p:spPr>
          <a:xfrm flipH="false" flipV="false" rot="0">
            <a:off x="12061519" y="6836541"/>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6401890" y="6854220"/>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884506" y="2543466"/>
            <a:ext cx="3073490" cy="3073490"/>
          </a:xfrm>
          <a:custGeom>
            <a:avLst/>
            <a:gdLst/>
            <a:ahLst/>
            <a:cxnLst/>
            <a:rect r="r" b="b" t="t" l="l"/>
            <a:pathLst>
              <a:path h="3073490" w="3073490">
                <a:moveTo>
                  <a:pt x="0" y="0"/>
                </a:moveTo>
                <a:lnTo>
                  <a:pt x="3073490" y="0"/>
                </a:lnTo>
                <a:lnTo>
                  <a:pt x="3073490" y="3073490"/>
                </a:lnTo>
                <a:lnTo>
                  <a:pt x="0" y="3073490"/>
                </a:lnTo>
                <a:lnTo>
                  <a:pt x="0" y="0"/>
                </a:lnTo>
                <a:close/>
              </a:path>
            </a:pathLst>
          </a:custGeom>
          <a:blipFill>
            <a:blip r:embed="rId20"/>
            <a:stretch>
              <a:fillRect l="0" t="0" r="0" b="0"/>
            </a:stretch>
          </a:blipFill>
        </p:spPr>
      </p:sp>
      <p:sp>
        <p:nvSpPr>
          <p:cNvPr name="Freeform 23" id="23"/>
          <p:cNvSpPr/>
          <p:nvPr/>
        </p:nvSpPr>
        <p:spPr>
          <a:xfrm flipH="false" flipV="false" rot="0">
            <a:off x="4899905" y="2543466"/>
            <a:ext cx="3138286" cy="3138286"/>
          </a:xfrm>
          <a:custGeom>
            <a:avLst/>
            <a:gdLst/>
            <a:ahLst/>
            <a:cxnLst/>
            <a:rect r="r" b="b" t="t" l="l"/>
            <a:pathLst>
              <a:path h="3138286" w="3138286">
                <a:moveTo>
                  <a:pt x="0" y="0"/>
                </a:moveTo>
                <a:lnTo>
                  <a:pt x="3138286" y="0"/>
                </a:lnTo>
                <a:lnTo>
                  <a:pt x="3138286" y="3138286"/>
                </a:lnTo>
                <a:lnTo>
                  <a:pt x="0" y="3138286"/>
                </a:lnTo>
                <a:lnTo>
                  <a:pt x="0" y="0"/>
                </a:lnTo>
                <a:close/>
              </a:path>
            </a:pathLst>
          </a:custGeom>
          <a:blipFill>
            <a:blip r:embed="rId21"/>
            <a:stretch>
              <a:fillRect l="0" t="0" r="0" b="0"/>
            </a:stretch>
          </a:blipFill>
        </p:spPr>
      </p:sp>
      <p:sp>
        <p:nvSpPr>
          <p:cNvPr name="Freeform 24" id="24"/>
          <p:cNvSpPr/>
          <p:nvPr/>
        </p:nvSpPr>
        <p:spPr>
          <a:xfrm flipH="false" flipV="false" rot="0">
            <a:off x="13532346" y="2543466"/>
            <a:ext cx="3205721" cy="3080297"/>
          </a:xfrm>
          <a:custGeom>
            <a:avLst/>
            <a:gdLst/>
            <a:ahLst/>
            <a:cxnLst/>
            <a:rect r="r" b="b" t="t" l="l"/>
            <a:pathLst>
              <a:path h="3080297" w="3205721">
                <a:moveTo>
                  <a:pt x="0" y="0"/>
                </a:moveTo>
                <a:lnTo>
                  <a:pt x="3205721" y="0"/>
                </a:lnTo>
                <a:lnTo>
                  <a:pt x="3205721" y="3080298"/>
                </a:lnTo>
                <a:lnTo>
                  <a:pt x="0" y="3080298"/>
                </a:lnTo>
                <a:lnTo>
                  <a:pt x="0" y="0"/>
                </a:lnTo>
                <a:close/>
              </a:path>
            </a:pathLst>
          </a:custGeom>
          <a:blipFill>
            <a:blip r:embed="rId22"/>
            <a:stretch>
              <a:fillRect l="-2271" t="0" r="-2271" b="-5035"/>
            </a:stretch>
          </a:blipFill>
        </p:spPr>
      </p:sp>
      <p:sp>
        <p:nvSpPr>
          <p:cNvPr name="Freeform 25" id="25"/>
          <p:cNvSpPr/>
          <p:nvPr/>
        </p:nvSpPr>
        <p:spPr>
          <a:xfrm flipH="false" flipV="false" rot="0">
            <a:off x="9162141" y="2543466"/>
            <a:ext cx="3257864" cy="3138286"/>
          </a:xfrm>
          <a:custGeom>
            <a:avLst/>
            <a:gdLst/>
            <a:ahLst/>
            <a:cxnLst/>
            <a:rect r="r" b="b" t="t" l="l"/>
            <a:pathLst>
              <a:path h="3138286" w="3257864">
                <a:moveTo>
                  <a:pt x="0" y="0"/>
                </a:moveTo>
                <a:lnTo>
                  <a:pt x="3257864" y="0"/>
                </a:lnTo>
                <a:lnTo>
                  <a:pt x="3257864" y="3138286"/>
                </a:lnTo>
                <a:lnTo>
                  <a:pt x="0" y="3138286"/>
                </a:lnTo>
                <a:lnTo>
                  <a:pt x="0" y="0"/>
                </a:lnTo>
                <a:close/>
              </a:path>
            </a:pathLst>
          </a:custGeom>
          <a:blipFill>
            <a:blip r:embed="rId23"/>
            <a:stretch>
              <a:fillRect l="0" t="-3810" r="0" b="0"/>
            </a:stretch>
          </a:blipFill>
        </p:spPr>
      </p:sp>
      <p:sp>
        <p:nvSpPr>
          <p:cNvPr name="TextBox 26" id="26"/>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27" id="27"/>
          <p:cNvSpPr txBox="true"/>
          <p:nvPr/>
        </p:nvSpPr>
        <p:spPr>
          <a:xfrm rot="0">
            <a:off x="1049659" y="1485036"/>
            <a:ext cx="1508346" cy="319207"/>
          </a:xfrm>
          <a:prstGeom prst="rect">
            <a:avLst/>
          </a:prstGeom>
        </p:spPr>
        <p:txBody>
          <a:bodyPr anchor="t" rtlCol="false" tIns="0" lIns="0" bIns="0" rIns="0">
            <a:spAutoFit/>
          </a:bodyPr>
          <a:lstStyle/>
          <a:p>
            <a:pPr algn="ctr" marL="0" indent="0" lvl="0">
              <a:lnSpc>
                <a:spcPts val="2605"/>
              </a:lnSpc>
              <a:spcBef>
                <a:spcPct val="0"/>
              </a:spcBef>
            </a:pPr>
            <a:r>
              <a:rPr lang="en-US" sz="1861">
                <a:solidFill>
                  <a:srgbClr val="FFFFFF"/>
                </a:solidFill>
                <a:latin typeface="Montserrat"/>
                <a:ea typeface="Montserrat"/>
                <a:cs typeface="Montserrat"/>
                <a:sym typeface="Montserrat"/>
              </a:rPr>
              <a:t>INICIO</a:t>
            </a:r>
          </a:p>
        </p:txBody>
      </p:sp>
      <p:sp>
        <p:nvSpPr>
          <p:cNvPr name="TextBox 28" id="28"/>
          <p:cNvSpPr txBox="true"/>
          <p:nvPr/>
        </p:nvSpPr>
        <p:spPr>
          <a:xfrm rot="0">
            <a:off x="3061183"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29" id="29"/>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30" id="30"/>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31" id="31"/>
          <p:cNvSpPr txBox="true"/>
          <p:nvPr/>
        </p:nvSpPr>
        <p:spPr>
          <a:xfrm rot="0">
            <a:off x="5296394"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32" id="32"/>
          <p:cNvSpPr txBox="true"/>
          <p:nvPr/>
        </p:nvSpPr>
        <p:spPr>
          <a:xfrm rot="0">
            <a:off x="6958203"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33" id="33"/>
          <p:cNvSpPr txBox="true"/>
          <p:nvPr/>
        </p:nvSpPr>
        <p:spPr>
          <a:xfrm rot="0">
            <a:off x="8623838"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34" id="34"/>
          <p:cNvSpPr txBox="true"/>
          <p:nvPr/>
        </p:nvSpPr>
        <p:spPr>
          <a:xfrm rot="0">
            <a:off x="10251046"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35" id="35"/>
          <p:cNvSpPr txBox="true"/>
          <p:nvPr/>
        </p:nvSpPr>
        <p:spPr>
          <a:xfrm rot="0">
            <a:off x="11878581"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36" id="36"/>
          <p:cNvSpPr txBox="true"/>
          <p:nvPr/>
        </p:nvSpPr>
        <p:spPr>
          <a:xfrm rot="0">
            <a:off x="13293443" y="1528435"/>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37" id="37"/>
          <p:cNvSpPr txBox="true"/>
          <p:nvPr/>
        </p:nvSpPr>
        <p:spPr>
          <a:xfrm rot="0">
            <a:off x="14711428" y="1528435"/>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38" id="38"/>
          <p:cNvSpPr txBox="true"/>
          <p:nvPr/>
        </p:nvSpPr>
        <p:spPr>
          <a:xfrm rot="0">
            <a:off x="16212722" y="1528435"/>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39" id="3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12</a:t>
            </a:r>
          </a:p>
        </p:txBody>
      </p:sp>
      <p:sp>
        <p:nvSpPr>
          <p:cNvPr name="TextBox 40" id="40"/>
          <p:cNvSpPr txBox="true"/>
          <p:nvPr/>
        </p:nvSpPr>
        <p:spPr>
          <a:xfrm rot="0">
            <a:off x="832084" y="6860033"/>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R$ 94,99 no Pix</a:t>
            </a:r>
          </a:p>
          <a:p>
            <a:pPr algn="just">
              <a:lnSpc>
                <a:spcPts val="1771"/>
              </a:lnSpc>
            </a:pPr>
            <a:r>
              <a:rPr lang="en-US" b="true" sz="1753" spc="-101">
                <a:solidFill>
                  <a:srgbClr val="FFFFFF"/>
                </a:solidFill>
                <a:latin typeface="Open Sauce Bold"/>
                <a:ea typeface="Open Sauce Bold"/>
                <a:cs typeface="Open Sauce Bold"/>
                <a:sym typeface="Open Sauce Bold"/>
              </a:rPr>
              <a:t>ou 1x de R$ 99,9</a:t>
            </a:r>
          </a:p>
        </p:txBody>
      </p:sp>
      <p:sp>
        <p:nvSpPr>
          <p:cNvPr name="TextBox 41" id="41"/>
          <p:cNvSpPr txBox="true"/>
          <p:nvPr/>
        </p:nvSpPr>
        <p:spPr>
          <a:xfrm rot="0">
            <a:off x="802196" y="6287806"/>
            <a:ext cx="2735805" cy="493144"/>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Saia Short Feminina Oxer</a:t>
            </a:r>
          </a:p>
          <a:p>
            <a:pPr algn="just">
              <a:lnSpc>
                <a:spcPts val="1903"/>
              </a:lnSpc>
            </a:pPr>
            <a:r>
              <a:rPr lang="en-US" sz="1884" spc="-109">
                <a:solidFill>
                  <a:srgbClr val="FFFFFF"/>
                </a:solidFill>
                <a:latin typeface="Open Sauce"/>
                <a:ea typeface="Open Sauce"/>
                <a:cs typeface="Open Sauce"/>
                <a:sym typeface="Open Sauce"/>
              </a:rPr>
              <a:t>Fitness</a:t>
            </a:r>
          </a:p>
        </p:txBody>
      </p:sp>
      <p:sp>
        <p:nvSpPr>
          <p:cNvPr name="TextBox 42" id="42"/>
          <p:cNvSpPr txBox="true"/>
          <p:nvPr/>
        </p:nvSpPr>
        <p:spPr>
          <a:xfrm rot="0">
            <a:off x="4899905" y="6889086"/>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R$ 218,40no Pix</a:t>
            </a:r>
          </a:p>
          <a:p>
            <a:pPr algn="just">
              <a:lnSpc>
                <a:spcPts val="1771"/>
              </a:lnSpc>
            </a:pPr>
            <a:r>
              <a:rPr lang="en-US" b="true" sz="1753" spc="-101">
                <a:solidFill>
                  <a:srgbClr val="FFFFFF"/>
                </a:solidFill>
                <a:latin typeface="Open Sauce Bold"/>
                <a:ea typeface="Open Sauce Bold"/>
                <a:cs typeface="Open Sauce Bold"/>
                <a:sym typeface="Open Sauce Bold"/>
              </a:rPr>
              <a:t>ou 4x de R$ 76,63</a:t>
            </a:r>
          </a:p>
        </p:txBody>
      </p:sp>
      <p:sp>
        <p:nvSpPr>
          <p:cNvPr name="TextBox 43" id="43"/>
          <p:cNvSpPr txBox="true"/>
          <p:nvPr/>
        </p:nvSpPr>
        <p:spPr>
          <a:xfrm rot="0">
            <a:off x="4899905" y="6273360"/>
            <a:ext cx="3056939" cy="731269"/>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Blusão de Moletom Puma Squad - FEMININO</a:t>
            </a:r>
          </a:p>
          <a:p>
            <a:pPr algn="just">
              <a:lnSpc>
                <a:spcPts val="1903"/>
              </a:lnSpc>
            </a:pPr>
          </a:p>
        </p:txBody>
      </p:sp>
      <p:sp>
        <p:nvSpPr>
          <p:cNvPr name="TextBox 44" id="44"/>
          <p:cNvSpPr txBox="true"/>
          <p:nvPr/>
        </p:nvSpPr>
        <p:spPr>
          <a:xfrm rot="0">
            <a:off x="9162141" y="6815824"/>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R$ 279,99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R$ 93,33</a:t>
            </a:r>
          </a:p>
        </p:txBody>
      </p:sp>
      <p:sp>
        <p:nvSpPr>
          <p:cNvPr name="TextBox 45" id="45"/>
          <p:cNvSpPr txBox="true"/>
          <p:nvPr/>
        </p:nvSpPr>
        <p:spPr>
          <a:xfrm rot="0">
            <a:off x="9144000" y="6406868"/>
            <a:ext cx="3212460" cy="255019"/>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Tênis Nike Run Defy Feminino</a:t>
            </a:r>
          </a:p>
        </p:txBody>
      </p:sp>
      <p:sp>
        <p:nvSpPr>
          <p:cNvPr name="TextBox 46" id="46"/>
          <p:cNvSpPr txBox="true"/>
          <p:nvPr/>
        </p:nvSpPr>
        <p:spPr>
          <a:xfrm rot="0">
            <a:off x="13532346" y="6819050"/>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429,99 no Pix</a:t>
            </a:r>
          </a:p>
          <a:p>
            <a:pPr algn="just">
              <a:lnSpc>
                <a:spcPts val="1771"/>
              </a:lnSpc>
            </a:pPr>
            <a:r>
              <a:rPr lang="en-US" b="true" sz="1753" spc="-101">
                <a:solidFill>
                  <a:srgbClr val="FFFFFF"/>
                </a:solidFill>
                <a:latin typeface="Open Sauce Bold"/>
                <a:ea typeface="Open Sauce Bold"/>
                <a:cs typeface="Open Sauce Bold"/>
                <a:sym typeface="Open Sauce Bold"/>
              </a:rPr>
              <a:t>ou 6x de R$ 71,66</a:t>
            </a:r>
          </a:p>
        </p:txBody>
      </p:sp>
      <p:sp>
        <p:nvSpPr>
          <p:cNvPr name="TextBox 47" id="47"/>
          <p:cNvSpPr txBox="true"/>
          <p:nvPr/>
        </p:nvSpPr>
        <p:spPr>
          <a:xfrm rot="0">
            <a:off x="13515903" y="6204789"/>
            <a:ext cx="3238607" cy="731269"/>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do Palmeiras II 26/27 Torcedor Feminina Puma</a:t>
            </a:r>
          </a:p>
          <a:p>
            <a:pPr algn="just">
              <a:lnSpc>
                <a:spcPts val="1903"/>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802196" y="5778949"/>
            <a:ext cx="1912105" cy="397184"/>
          </a:xfrm>
          <a:custGeom>
            <a:avLst/>
            <a:gdLst/>
            <a:ahLst/>
            <a:cxnLst/>
            <a:rect r="r" b="b" t="t" l="l"/>
            <a:pathLst>
              <a:path h="397184" w="1912105">
                <a:moveTo>
                  <a:pt x="0" y="0"/>
                </a:moveTo>
                <a:lnTo>
                  <a:pt x="1912105" y="0"/>
                </a:lnTo>
                <a:lnTo>
                  <a:pt x="1912105" y="397184"/>
                </a:lnTo>
                <a:lnTo>
                  <a:pt x="0" y="397184"/>
                </a:lnTo>
                <a:lnTo>
                  <a:pt x="0" y="0"/>
                </a:lnTo>
                <a:close/>
              </a:path>
            </a:pathLst>
          </a:custGeom>
          <a:blipFill>
            <a:blip r:embed="rId2"/>
            <a:stretch>
              <a:fillRect l="-5353" t="-229420" r="-3204" b="-193194"/>
            </a:stretch>
          </a:blipFill>
        </p:spPr>
      </p:sp>
      <p:sp>
        <p:nvSpPr>
          <p:cNvPr name="Freeform 4" id="4"/>
          <p:cNvSpPr/>
          <p:nvPr/>
        </p:nvSpPr>
        <p:spPr>
          <a:xfrm flipH="false" flipV="false" rot="0">
            <a:off x="9144000" y="5711809"/>
            <a:ext cx="2014577" cy="381930"/>
          </a:xfrm>
          <a:custGeom>
            <a:avLst/>
            <a:gdLst/>
            <a:ahLst/>
            <a:cxnLst/>
            <a:rect r="r" b="b" t="t" l="l"/>
            <a:pathLst>
              <a:path h="381930" w="2014577">
                <a:moveTo>
                  <a:pt x="0" y="0"/>
                </a:moveTo>
                <a:lnTo>
                  <a:pt x="2014577" y="0"/>
                </a:lnTo>
                <a:lnTo>
                  <a:pt x="2014577" y="381930"/>
                </a:lnTo>
                <a:lnTo>
                  <a:pt x="0" y="381930"/>
                </a:lnTo>
                <a:lnTo>
                  <a:pt x="0" y="0"/>
                </a:lnTo>
                <a:close/>
              </a:path>
            </a:pathLst>
          </a:custGeom>
          <a:blipFill>
            <a:blip r:embed="rId2"/>
            <a:stretch>
              <a:fillRect l="-5186" t="-246645" r="0" b="-208186"/>
            </a:stretch>
          </a:blipFill>
        </p:spPr>
      </p:sp>
      <p:sp>
        <p:nvSpPr>
          <p:cNvPr name="Freeform 5" id="5"/>
          <p:cNvSpPr/>
          <p:nvPr/>
        </p:nvSpPr>
        <p:spPr>
          <a:xfrm flipH="false" flipV="false" rot="0">
            <a:off x="5006313" y="5645964"/>
            <a:ext cx="1641143" cy="376011"/>
          </a:xfrm>
          <a:custGeom>
            <a:avLst/>
            <a:gdLst/>
            <a:ahLst/>
            <a:cxnLst/>
            <a:rect r="r" b="b" t="t" l="l"/>
            <a:pathLst>
              <a:path h="376011" w="1641143">
                <a:moveTo>
                  <a:pt x="0" y="0"/>
                </a:moveTo>
                <a:lnTo>
                  <a:pt x="1641143" y="0"/>
                </a:lnTo>
                <a:lnTo>
                  <a:pt x="1641143" y="376011"/>
                </a:lnTo>
                <a:lnTo>
                  <a:pt x="0" y="376011"/>
                </a:lnTo>
                <a:lnTo>
                  <a:pt x="0" y="0"/>
                </a:lnTo>
                <a:close/>
              </a:path>
            </a:pathLst>
          </a:custGeom>
          <a:blipFill>
            <a:blip r:embed="rId2"/>
            <a:stretch>
              <a:fillRect l="-6138" t="-237700" r="-18354" b="-205666"/>
            </a:stretch>
          </a:blipFill>
        </p:spPr>
      </p:sp>
      <p:sp>
        <p:nvSpPr>
          <p:cNvPr name="Freeform 6" id="6"/>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3"/>
            <a:stretch>
              <a:fillRect l="0" t="-110584" r="0" b="-122957"/>
            </a:stretch>
          </a:blipFill>
        </p:spPr>
      </p:sp>
      <p:sp>
        <p:nvSpPr>
          <p:cNvPr name="Freeform 7" id="7"/>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715802" y="6750177"/>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846437" y="6823447"/>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508140" y="6890383"/>
            <a:ext cx="336176" cy="336176"/>
          </a:xfrm>
          <a:custGeom>
            <a:avLst/>
            <a:gdLst/>
            <a:ahLst/>
            <a:cxnLst/>
            <a:rect r="r" b="b" t="t" l="l"/>
            <a:pathLst>
              <a:path h="336176" w="336176">
                <a:moveTo>
                  <a:pt x="0" y="0"/>
                </a:moveTo>
                <a:lnTo>
                  <a:pt x="336176" y="0"/>
                </a:lnTo>
                <a:lnTo>
                  <a:pt x="336176" y="336177"/>
                </a:lnTo>
                <a:lnTo>
                  <a:pt x="0" y="3361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454962" y="6864477"/>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3000778" y="5595611"/>
            <a:ext cx="1591191" cy="381930"/>
          </a:xfrm>
          <a:custGeom>
            <a:avLst/>
            <a:gdLst/>
            <a:ahLst/>
            <a:cxnLst/>
            <a:rect r="r" b="b" t="t" l="l"/>
            <a:pathLst>
              <a:path h="381930" w="1591191">
                <a:moveTo>
                  <a:pt x="0" y="0"/>
                </a:moveTo>
                <a:lnTo>
                  <a:pt x="1591191" y="0"/>
                </a:lnTo>
                <a:lnTo>
                  <a:pt x="1591191" y="381930"/>
                </a:lnTo>
                <a:lnTo>
                  <a:pt x="0" y="381930"/>
                </a:lnTo>
                <a:lnTo>
                  <a:pt x="0" y="0"/>
                </a:lnTo>
                <a:close/>
              </a:path>
            </a:pathLst>
          </a:custGeom>
          <a:blipFill>
            <a:blip r:embed="rId2"/>
            <a:stretch>
              <a:fillRect l="-6088" t="-225029" r="-17382" b="-189372"/>
            </a:stretch>
          </a:blipFill>
        </p:spPr>
      </p:sp>
      <p:grpSp>
        <p:nvGrpSpPr>
          <p:cNvPr name="Group 19" id="19"/>
          <p:cNvGrpSpPr/>
          <p:nvPr/>
        </p:nvGrpSpPr>
        <p:grpSpPr>
          <a:xfrm rot="0">
            <a:off x="17882235" y="5939790"/>
            <a:ext cx="326708" cy="1291590"/>
            <a:chOff x="0" y="0"/>
            <a:chExt cx="435610" cy="1722120"/>
          </a:xfrm>
        </p:grpSpPr>
        <p:sp>
          <p:nvSpPr>
            <p:cNvPr name="Freeform 20" id="20"/>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21" id="21"/>
          <p:cNvGrpSpPr/>
          <p:nvPr/>
        </p:nvGrpSpPr>
        <p:grpSpPr>
          <a:xfrm rot="0">
            <a:off x="17916525" y="2520315"/>
            <a:ext cx="240983" cy="670560"/>
            <a:chOff x="0" y="0"/>
            <a:chExt cx="321310" cy="894080"/>
          </a:xfrm>
        </p:grpSpPr>
        <p:sp>
          <p:nvSpPr>
            <p:cNvPr name="Freeform 22" id="22"/>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23" id="23"/>
          <p:cNvSpPr/>
          <p:nvPr/>
        </p:nvSpPr>
        <p:spPr>
          <a:xfrm flipH="false" flipV="false" rot="0">
            <a:off x="749167" y="2685991"/>
            <a:ext cx="2873883" cy="2873883"/>
          </a:xfrm>
          <a:custGeom>
            <a:avLst/>
            <a:gdLst/>
            <a:ahLst/>
            <a:cxnLst/>
            <a:rect r="r" b="b" t="t" l="l"/>
            <a:pathLst>
              <a:path h="2873883" w="2873883">
                <a:moveTo>
                  <a:pt x="0" y="0"/>
                </a:moveTo>
                <a:lnTo>
                  <a:pt x="2873883" y="0"/>
                </a:lnTo>
                <a:lnTo>
                  <a:pt x="2873883" y="2873883"/>
                </a:lnTo>
                <a:lnTo>
                  <a:pt x="0" y="2873883"/>
                </a:lnTo>
                <a:lnTo>
                  <a:pt x="0" y="0"/>
                </a:lnTo>
                <a:close/>
              </a:path>
            </a:pathLst>
          </a:custGeom>
          <a:blipFill>
            <a:blip r:embed="rId20"/>
            <a:stretch>
              <a:fillRect l="0" t="0" r="0" b="0"/>
            </a:stretch>
          </a:blipFill>
        </p:spPr>
      </p:sp>
      <p:sp>
        <p:nvSpPr>
          <p:cNvPr name="Freeform 24" id="24"/>
          <p:cNvSpPr/>
          <p:nvPr/>
        </p:nvSpPr>
        <p:spPr>
          <a:xfrm flipH="false" flipV="false" rot="0">
            <a:off x="4917830" y="2685991"/>
            <a:ext cx="2864827" cy="2864827"/>
          </a:xfrm>
          <a:custGeom>
            <a:avLst/>
            <a:gdLst/>
            <a:ahLst/>
            <a:cxnLst/>
            <a:rect r="r" b="b" t="t" l="l"/>
            <a:pathLst>
              <a:path h="2864827" w="2864827">
                <a:moveTo>
                  <a:pt x="0" y="0"/>
                </a:moveTo>
                <a:lnTo>
                  <a:pt x="2864827" y="0"/>
                </a:lnTo>
                <a:lnTo>
                  <a:pt x="2864827" y="2864827"/>
                </a:lnTo>
                <a:lnTo>
                  <a:pt x="0" y="2864827"/>
                </a:lnTo>
                <a:lnTo>
                  <a:pt x="0" y="0"/>
                </a:lnTo>
                <a:close/>
              </a:path>
            </a:pathLst>
          </a:custGeom>
          <a:blipFill>
            <a:blip r:embed="rId21"/>
            <a:stretch>
              <a:fillRect l="0" t="0" r="0" b="0"/>
            </a:stretch>
          </a:blipFill>
        </p:spPr>
      </p:sp>
      <p:sp>
        <p:nvSpPr>
          <p:cNvPr name="Freeform 25" id="25"/>
          <p:cNvSpPr/>
          <p:nvPr/>
        </p:nvSpPr>
        <p:spPr>
          <a:xfrm flipH="false" flipV="false" rot="0">
            <a:off x="8935278" y="2685991"/>
            <a:ext cx="2864827" cy="2864827"/>
          </a:xfrm>
          <a:custGeom>
            <a:avLst/>
            <a:gdLst/>
            <a:ahLst/>
            <a:cxnLst/>
            <a:rect r="r" b="b" t="t" l="l"/>
            <a:pathLst>
              <a:path h="2864827" w="2864827">
                <a:moveTo>
                  <a:pt x="0" y="0"/>
                </a:moveTo>
                <a:lnTo>
                  <a:pt x="2864828" y="0"/>
                </a:lnTo>
                <a:lnTo>
                  <a:pt x="2864828" y="2864827"/>
                </a:lnTo>
                <a:lnTo>
                  <a:pt x="0" y="2864827"/>
                </a:lnTo>
                <a:lnTo>
                  <a:pt x="0" y="0"/>
                </a:lnTo>
                <a:close/>
              </a:path>
            </a:pathLst>
          </a:custGeom>
          <a:blipFill>
            <a:blip r:embed="rId22"/>
            <a:stretch>
              <a:fillRect l="0" t="0" r="0" b="0"/>
            </a:stretch>
          </a:blipFill>
        </p:spPr>
      </p:sp>
      <p:sp>
        <p:nvSpPr>
          <p:cNvPr name="Freeform 26" id="26"/>
          <p:cNvSpPr/>
          <p:nvPr/>
        </p:nvSpPr>
        <p:spPr>
          <a:xfrm flipH="false" flipV="false" rot="0">
            <a:off x="12944862" y="2685991"/>
            <a:ext cx="2909619" cy="2909619"/>
          </a:xfrm>
          <a:custGeom>
            <a:avLst/>
            <a:gdLst/>
            <a:ahLst/>
            <a:cxnLst/>
            <a:rect r="r" b="b" t="t" l="l"/>
            <a:pathLst>
              <a:path h="2909619" w="2909619">
                <a:moveTo>
                  <a:pt x="0" y="0"/>
                </a:moveTo>
                <a:lnTo>
                  <a:pt x="2909620" y="0"/>
                </a:lnTo>
                <a:lnTo>
                  <a:pt x="2909620" y="2909620"/>
                </a:lnTo>
                <a:lnTo>
                  <a:pt x="0" y="2909620"/>
                </a:lnTo>
                <a:lnTo>
                  <a:pt x="0" y="0"/>
                </a:lnTo>
                <a:close/>
              </a:path>
            </a:pathLst>
          </a:custGeom>
          <a:blipFill>
            <a:blip r:embed="rId23"/>
            <a:stretch>
              <a:fillRect l="0" t="0" r="0" b="0"/>
            </a:stretch>
          </a:blipFill>
        </p:spPr>
      </p:sp>
      <p:sp>
        <p:nvSpPr>
          <p:cNvPr name="TextBox 27" id="27"/>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28" id="28"/>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29" id="29"/>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30" id="30"/>
          <p:cNvSpPr txBox="true"/>
          <p:nvPr/>
        </p:nvSpPr>
        <p:spPr>
          <a:xfrm rot="0">
            <a:off x="832084" y="6788277"/>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R$ 145,90 no Pix</a:t>
            </a:r>
          </a:p>
          <a:p>
            <a:pPr algn="just">
              <a:lnSpc>
                <a:spcPts val="1771"/>
              </a:lnSpc>
            </a:pPr>
            <a:r>
              <a:rPr lang="en-US" b="true" sz="1753" spc="-101">
                <a:solidFill>
                  <a:srgbClr val="FFFFFF"/>
                </a:solidFill>
                <a:latin typeface="Open Sauce Bold"/>
                <a:ea typeface="Open Sauce Bold"/>
                <a:cs typeface="Open Sauce Bold"/>
                <a:sym typeface="Open Sauce Bold"/>
              </a:rPr>
              <a:t>ou 5x de R$ 52,47</a:t>
            </a:r>
          </a:p>
        </p:txBody>
      </p:sp>
      <p:sp>
        <p:nvSpPr>
          <p:cNvPr name="TextBox 31" id="31"/>
          <p:cNvSpPr txBox="true"/>
          <p:nvPr/>
        </p:nvSpPr>
        <p:spPr>
          <a:xfrm rot="0">
            <a:off x="802196" y="6155325"/>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UNDER ARMOUR</a:t>
            </a:r>
          </a:p>
          <a:p>
            <a:pPr algn="just">
              <a:lnSpc>
                <a:spcPts val="1903"/>
              </a:lnSpc>
            </a:pPr>
          </a:p>
        </p:txBody>
      </p:sp>
      <p:sp>
        <p:nvSpPr>
          <p:cNvPr name="TextBox 32" id="32"/>
          <p:cNvSpPr txBox="true"/>
          <p:nvPr/>
        </p:nvSpPr>
        <p:spPr>
          <a:xfrm rot="0">
            <a:off x="4981251" y="6155325"/>
            <a:ext cx="3946767"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ASICS</a:t>
            </a:r>
          </a:p>
        </p:txBody>
      </p:sp>
      <p:sp>
        <p:nvSpPr>
          <p:cNvPr name="TextBox 33" id="33"/>
          <p:cNvSpPr txBox="true"/>
          <p:nvPr/>
        </p:nvSpPr>
        <p:spPr>
          <a:xfrm rot="0">
            <a:off x="5006313" y="6788277"/>
            <a:ext cx="1948322"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R$175,90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R$ 43,97</a:t>
            </a:r>
          </a:p>
        </p:txBody>
      </p:sp>
      <p:sp>
        <p:nvSpPr>
          <p:cNvPr name="TextBox 34" id="34"/>
          <p:cNvSpPr txBox="true"/>
          <p:nvPr/>
        </p:nvSpPr>
        <p:spPr>
          <a:xfrm rot="0">
            <a:off x="9185194" y="6129941"/>
            <a:ext cx="3946767"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BERMUDA NIKE</a:t>
            </a:r>
          </a:p>
        </p:txBody>
      </p:sp>
      <p:sp>
        <p:nvSpPr>
          <p:cNvPr name="TextBox 35" id="35"/>
          <p:cNvSpPr txBox="true"/>
          <p:nvPr/>
        </p:nvSpPr>
        <p:spPr>
          <a:xfrm rot="0">
            <a:off x="9144000" y="6788277"/>
            <a:ext cx="2014577"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R$75,67no Pix</a:t>
            </a:r>
          </a:p>
          <a:p>
            <a:pPr algn="just">
              <a:lnSpc>
                <a:spcPts val="1771"/>
              </a:lnSpc>
            </a:pPr>
            <a:r>
              <a:rPr lang="en-US" b="true" sz="1753" spc="-101">
                <a:solidFill>
                  <a:srgbClr val="FFFFFF"/>
                </a:solidFill>
                <a:latin typeface="Open Sauce Bold"/>
                <a:ea typeface="Open Sauce Bold"/>
                <a:cs typeface="Open Sauce Bold"/>
                <a:sym typeface="Open Sauce Bold"/>
              </a:rPr>
              <a:t>ou 5x de R$ 21,99</a:t>
            </a:r>
          </a:p>
        </p:txBody>
      </p:sp>
      <p:sp>
        <p:nvSpPr>
          <p:cNvPr name="TextBox 36" id="36"/>
          <p:cNvSpPr txBox="true"/>
          <p:nvPr/>
        </p:nvSpPr>
        <p:spPr>
          <a:xfrm rot="0">
            <a:off x="13131961" y="6129941"/>
            <a:ext cx="3946767"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KIT MEIAS PUMA</a:t>
            </a:r>
          </a:p>
        </p:txBody>
      </p:sp>
      <p:sp>
        <p:nvSpPr>
          <p:cNvPr name="TextBox 37" id="37"/>
          <p:cNvSpPr txBox="true"/>
          <p:nvPr/>
        </p:nvSpPr>
        <p:spPr>
          <a:xfrm rot="0">
            <a:off x="13131961" y="6781943"/>
            <a:ext cx="1973384"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R$74,90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R$ 25,19</a:t>
            </a:r>
          </a:p>
        </p:txBody>
      </p:sp>
      <p:sp>
        <p:nvSpPr>
          <p:cNvPr name="TextBox 38" id="38"/>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39" id="39"/>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40" id="40"/>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41" id="41"/>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42" id="42"/>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43" id="43"/>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44" id="44"/>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45" id="45"/>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46" id="46"/>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47" id="47"/>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48" id="48"/>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49" id="49"/>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50" id="5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25930" y="275546"/>
            <a:ext cx="3045880" cy="913192"/>
          </a:xfrm>
          <a:custGeom>
            <a:avLst/>
            <a:gdLst/>
            <a:ahLst/>
            <a:cxnLst/>
            <a:rect r="r" b="b" t="t" l="l"/>
            <a:pathLst>
              <a:path h="913192" w="3045880">
                <a:moveTo>
                  <a:pt x="0" y="0"/>
                </a:moveTo>
                <a:lnTo>
                  <a:pt x="3045881" y="0"/>
                </a:lnTo>
                <a:lnTo>
                  <a:pt x="3045881" y="913193"/>
                </a:lnTo>
                <a:lnTo>
                  <a:pt x="0" y="913193"/>
                </a:lnTo>
                <a:lnTo>
                  <a:pt x="0" y="0"/>
                </a:lnTo>
                <a:close/>
              </a:path>
            </a:pathLst>
          </a:custGeom>
          <a:blipFill>
            <a:blip r:embed="rId2"/>
            <a:stretch>
              <a:fillRect l="0" t="-110584" r="0" b="-122957"/>
            </a:stretch>
          </a:blipFill>
        </p:spPr>
      </p:sp>
      <p:sp>
        <p:nvSpPr>
          <p:cNvPr name="Freeform 4" id="4"/>
          <p:cNvSpPr/>
          <p:nvPr/>
        </p:nvSpPr>
        <p:spPr>
          <a:xfrm flipH="false" flipV="false" rot="0">
            <a:off x="3197266" y="359424"/>
            <a:ext cx="4599245" cy="747377"/>
          </a:xfrm>
          <a:custGeom>
            <a:avLst/>
            <a:gdLst/>
            <a:ahLst/>
            <a:cxnLst/>
            <a:rect r="r" b="b" t="t" l="l"/>
            <a:pathLst>
              <a:path h="747377" w="4599245">
                <a:moveTo>
                  <a:pt x="0" y="0"/>
                </a:moveTo>
                <a:lnTo>
                  <a:pt x="4599245" y="0"/>
                </a:lnTo>
                <a:lnTo>
                  <a:pt x="4599245" y="747378"/>
                </a:lnTo>
                <a:lnTo>
                  <a:pt x="0" y="7473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870967" y="370683"/>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1" id="11"/>
          <p:cNvGrpSpPr/>
          <p:nvPr/>
        </p:nvGrpSpPr>
        <p:grpSpPr>
          <a:xfrm rot="0">
            <a:off x="17882235" y="5939790"/>
            <a:ext cx="326708" cy="1291590"/>
            <a:chOff x="0" y="0"/>
            <a:chExt cx="435610" cy="1722120"/>
          </a:xfrm>
        </p:grpSpPr>
        <p:sp>
          <p:nvSpPr>
            <p:cNvPr name="Freeform 12" id="12"/>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13" id="13"/>
          <p:cNvGrpSpPr/>
          <p:nvPr/>
        </p:nvGrpSpPr>
        <p:grpSpPr>
          <a:xfrm rot="0">
            <a:off x="17916525" y="2520315"/>
            <a:ext cx="240983" cy="670560"/>
            <a:chOff x="0" y="0"/>
            <a:chExt cx="321310" cy="894080"/>
          </a:xfrm>
        </p:grpSpPr>
        <p:sp>
          <p:nvSpPr>
            <p:cNvPr name="Freeform 14" id="14"/>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15" id="15"/>
          <p:cNvSpPr/>
          <p:nvPr/>
        </p:nvSpPr>
        <p:spPr>
          <a:xfrm flipH="false" flipV="false" rot="0">
            <a:off x="1694868" y="2268764"/>
            <a:ext cx="2874736" cy="2874736"/>
          </a:xfrm>
          <a:custGeom>
            <a:avLst/>
            <a:gdLst/>
            <a:ahLst/>
            <a:cxnLst/>
            <a:rect r="r" b="b" t="t" l="l"/>
            <a:pathLst>
              <a:path h="2874736" w="2874736">
                <a:moveTo>
                  <a:pt x="0" y="0"/>
                </a:moveTo>
                <a:lnTo>
                  <a:pt x="2874736" y="0"/>
                </a:lnTo>
                <a:lnTo>
                  <a:pt x="2874736" y="2874736"/>
                </a:lnTo>
                <a:lnTo>
                  <a:pt x="0" y="2874736"/>
                </a:lnTo>
                <a:lnTo>
                  <a:pt x="0" y="0"/>
                </a:lnTo>
                <a:close/>
              </a:path>
            </a:pathLst>
          </a:custGeom>
          <a:blipFill>
            <a:blip r:embed="rId17"/>
            <a:stretch>
              <a:fillRect l="0" t="0" r="0" b="0"/>
            </a:stretch>
          </a:blipFill>
        </p:spPr>
      </p:sp>
      <p:sp>
        <p:nvSpPr>
          <p:cNvPr name="Freeform 16" id="16"/>
          <p:cNvSpPr/>
          <p:nvPr/>
        </p:nvSpPr>
        <p:spPr>
          <a:xfrm flipH="false" flipV="false" rot="0">
            <a:off x="5393199" y="2268764"/>
            <a:ext cx="2988689" cy="2874736"/>
          </a:xfrm>
          <a:custGeom>
            <a:avLst/>
            <a:gdLst/>
            <a:ahLst/>
            <a:cxnLst/>
            <a:rect r="r" b="b" t="t" l="l"/>
            <a:pathLst>
              <a:path h="2874736" w="2988689">
                <a:moveTo>
                  <a:pt x="0" y="0"/>
                </a:moveTo>
                <a:lnTo>
                  <a:pt x="2988689" y="0"/>
                </a:lnTo>
                <a:lnTo>
                  <a:pt x="2988689" y="2874736"/>
                </a:lnTo>
                <a:lnTo>
                  <a:pt x="0" y="2874736"/>
                </a:lnTo>
                <a:lnTo>
                  <a:pt x="0" y="0"/>
                </a:lnTo>
                <a:close/>
              </a:path>
            </a:pathLst>
          </a:custGeom>
          <a:blipFill>
            <a:blip r:embed="rId18"/>
            <a:stretch>
              <a:fillRect l="0" t="0" r="0" b="-3963"/>
            </a:stretch>
          </a:blipFill>
        </p:spPr>
      </p:sp>
      <p:sp>
        <p:nvSpPr>
          <p:cNvPr name="Freeform 17" id="17"/>
          <p:cNvSpPr/>
          <p:nvPr/>
        </p:nvSpPr>
        <p:spPr>
          <a:xfrm flipH="false" flipV="false" rot="0">
            <a:off x="9280570" y="2225901"/>
            <a:ext cx="2940474" cy="2940474"/>
          </a:xfrm>
          <a:custGeom>
            <a:avLst/>
            <a:gdLst/>
            <a:ahLst/>
            <a:cxnLst/>
            <a:rect r="r" b="b" t="t" l="l"/>
            <a:pathLst>
              <a:path h="2940474" w="2940474">
                <a:moveTo>
                  <a:pt x="0" y="0"/>
                </a:moveTo>
                <a:lnTo>
                  <a:pt x="2940474" y="0"/>
                </a:lnTo>
                <a:lnTo>
                  <a:pt x="2940474" y="2940475"/>
                </a:lnTo>
                <a:lnTo>
                  <a:pt x="0" y="2940475"/>
                </a:lnTo>
                <a:lnTo>
                  <a:pt x="0" y="0"/>
                </a:lnTo>
                <a:close/>
              </a:path>
            </a:pathLst>
          </a:custGeom>
          <a:blipFill>
            <a:blip r:embed="rId19"/>
            <a:stretch>
              <a:fillRect l="0" t="0" r="0" b="0"/>
            </a:stretch>
          </a:blipFill>
        </p:spPr>
      </p:sp>
      <p:sp>
        <p:nvSpPr>
          <p:cNvPr name="Freeform 18" id="18"/>
          <p:cNvSpPr/>
          <p:nvPr/>
        </p:nvSpPr>
        <p:spPr>
          <a:xfrm flipH="false" flipV="false" rot="0">
            <a:off x="13308641" y="2268764"/>
            <a:ext cx="3340321" cy="2943009"/>
          </a:xfrm>
          <a:custGeom>
            <a:avLst/>
            <a:gdLst/>
            <a:ahLst/>
            <a:cxnLst/>
            <a:rect r="r" b="b" t="t" l="l"/>
            <a:pathLst>
              <a:path h="2943009" w="3340321">
                <a:moveTo>
                  <a:pt x="0" y="0"/>
                </a:moveTo>
                <a:lnTo>
                  <a:pt x="3340320" y="0"/>
                </a:lnTo>
                <a:lnTo>
                  <a:pt x="3340320" y="2943009"/>
                </a:lnTo>
                <a:lnTo>
                  <a:pt x="0" y="2943009"/>
                </a:lnTo>
                <a:lnTo>
                  <a:pt x="0" y="0"/>
                </a:lnTo>
                <a:close/>
              </a:path>
            </a:pathLst>
          </a:custGeom>
          <a:blipFill>
            <a:blip r:embed="rId20"/>
            <a:stretch>
              <a:fillRect l="0" t="-13500" r="0" b="0"/>
            </a:stretch>
          </a:blipFill>
        </p:spPr>
      </p:sp>
      <p:sp>
        <p:nvSpPr>
          <p:cNvPr name="TextBox 19" id="19"/>
          <p:cNvSpPr txBox="true"/>
          <p:nvPr/>
        </p:nvSpPr>
        <p:spPr>
          <a:xfrm rot="0">
            <a:off x="1694868" y="5744491"/>
            <a:ext cx="3946767"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Conjunto Infantil Internazionale </a:t>
            </a:r>
          </a:p>
        </p:txBody>
      </p:sp>
      <p:sp>
        <p:nvSpPr>
          <p:cNvPr name="TextBox 20" id="20"/>
          <p:cNvSpPr txBox="true"/>
          <p:nvPr/>
        </p:nvSpPr>
        <p:spPr>
          <a:xfrm rot="0">
            <a:off x="1694868" y="6419227"/>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R$ 129.00 </a:t>
            </a:r>
          </a:p>
          <a:p>
            <a:pPr algn="just">
              <a:lnSpc>
                <a:spcPts val="1903"/>
              </a:lnSpc>
            </a:pPr>
            <a:r>
              <a:rPr lang="en-US" sz="1884" spc="-109">
                <a:solidFill>
                  <a:srgbClr val="FFFFFF"/>
                </a:solidFill>
                <a:latin typeface="Open Sauce"/>
                <a:ea typeface="Open Sauce"/>
                <a:cs typeface="Open Sauce"/>
                <a:sym typeface="Open Sauce"/>
              </a:rPr>
              <a:t>ou 12x de R$29</a:t>
            </a:r>
          </a:p>
        </p:txBody>
      </p:sp>
      <p:sp>
        <p:nvSpPr>
          <p:cNvPr name="TextBox 21" id="21"/>
          <p:cNvSpPr txBox="true"/>
          <p:nvPr/>
        </p:nvSpPr>
        <p:spPr>
          <a:xfrm rot="0">
            <a:off x="5428355" y="6488101"/>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R$ 219.00</a:t>
            </a:r>
          </a:p>
          <a:p>
            <a:pPr algn="just">
              <a:lnSpc>
                <a:spcPts val="1903"/>
              </a:lnSpc>
            </a:pPr>
            <a:r>
              <a:rPr lang="en-US" sz="1884" spc="-109">
                <a:solidFill>
                  <a:srgbClr val="FFFFFF"/>
                </a:solidFill>
                <a:latin typeface="Open Sauce"/>
                <a:ea typeface="Open Sauce"/>
                <a:cs typeface="Open Sauce"/>
                <a:sym typeface="Open Sauce"/>
              </a:rPr>
              <a:t>ou 12x de R$ 39</a:t>
            </a:r>
          </a:p>
        </p:txBody>
      </p:sp>
      <p:sp>
        <p:nvSpPr>
          <p:cNvPr name="TextBox 22" id="22"/>
          <p:cNvSpPr txBox="true"/>
          <p:nvPr/>
        </p:nvSpPr>
        <p:spPr>
          <a:xfrm rot="0">
            <a:off x="9291618" y="6483478"/>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R$ 79.00</a:t>
            </a:r>
          </a:p>
          <a:p>
            <a:pPr algn="just">
              <a:lnSpc>
                <a:spcPts val="1903"/>
              </a:lnSpc>
            </a:pPr>
            <a:r>
              <a:rPr lang="en-US" sz="1884" spc="-109">
                <a:solidFill>
                  <a:srgbClr val="FFFFFF"/>
                </a:solidFill>
                <a:latin typeface="Open Sauce"/>
                <a:ea typeface="Open Sauce"/>
                <a:cs typeface="Open Sauce"/>
                <a:sym typeface="Open Sauce"/>
              </a:rPr>
              <a:t>Ou 4x de R$ 20</a:t>
            </a:r>
          </a:p>
        </p:txBody>
      </p:sp>
      <p:sp>
        <p:nvSpPr>
          <p:cNvPr name="TextBox 23" id="23"/>
          <p:cNvSpPr txBox="true"/>
          <p:nvPr/>
        </p:nvSpPr>
        <p:spPr>
          <a:xfrm rot="0">
            <a:off x="13244756" y="6693028"/>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R$ 79.00</a:t>
            </a:r>
          </a:p>
          <a:p>
            <a:pPr algn="just">
              <a:lnSpc>
                <a:spcPts val="1903"/>
              </a:lnSpc>
            </a:pPr>
            <a:r>
              <a:rPr lang="en-US" sz="1884" spc="-109">
                <a:solidFill>
                  <a:srgbClr val="FFFFFF"/>
                </a:solidFill>
                <a:latin typeface="Open Sauce"/>
                <a:ea typeface="Open Sauce"/>
                <a:cs typeface="Open Sauce"/>
                <a:sym typeface="Open Sauce"/>
              </a:rPr>
              <a:t>Ou 4x de R$20</a:t>
            </a:r>
          </a:p>
        </p:txBody>
      </p:sp>
      <p:sp>
        <p:nvSpPr>
          <p:cNvPr name="Freeform 24" id="24"/>
          <p:cNvSpPr/>
          <p:nvPr/>
        </p:nvSpPr>
        <p:spPr>
          <a:xfrm flipH="false" flipV="false" rot="0">
            <a:off x="1694868" y="5258988"/>
            <a:ext cx="1912105" cy="456927"/>
          </a:xfrm>
          <a:custGeom>
            <a:avLst/>
            <a:gdLst/>
            <a:ahLst/>
            <a:cxnLst/>
            <a:rect r="r" b="b" t="t" l="l"/>
            <a:pathLst>
              <a:path h="456927" w="1912105">
                <a:moveTo>
                  <a:pt x="0" y="0"/>
                </a:moveTo>
                <a:lnTo>
                  <a:pt x="1912105" y="0"/>
                </a:lnTo>
                <a:lnTo>
                  <a:pt x="1912105" y="456928"/>
                </a:lnTo>
                <a:lnTo>
                  <a:pt x="0" y="456928"/>
                </a:lnTo>
                <a:lnTo>
                  <a:pt x="0" y="0"/>
                </a:lnTo>
                <a:close/>
              </a:path>
            </a:pathLst>
          </a:custGeom>
          <a:blipFill>
            <a:blip r:embed="rId21"/>
            <a:stretch>
              <a:fillRect l="-5353" t="-185628" r="-3204" b="-168653"/>
            </a:stretch>
          </a:blipFill>
        </p:spPr>
      </p:sp>
      <p:sp>
        <p:nvSpPr>
          <p:cNvPr name="Freeform 25" id="25"/>
          <p:cNvSpPr/>
          <p:nvPr/>
        </p:nvSpPr>
        <p:spPr>
          <a:xfrm flipH="false" flipV="false" rot="0">
            <a:off x="5393199" y="5280733"/>
            <a:ext cx="1912105" cy="397184"/>
          </a:xfrm>
          <a:custGeom>
            <a:avLst/>
            <a:gdLst/>
            <a:ahLst/>
            <a:cxnLst/>
            <a:rect r="r" b="b" t="t" l="l"/>
            <a:pathLst>
              <a:path h="397184" w="1912105">
                <a:moveTo>
                  <a:pt x="0" y="0"/>
                </a:moveTo>
                <a:lnTo>
                  <a:pt x="1912105" y="0"/>
                </a:lnTo>
                <a:lnTo>
                  <a:pt x="1912105" y="397183"/>
                </a:lnTo>
                <a:lnTo>
                  <a:pt x="0" y="397183"/>
                </a:lnTo>
                <a:lnTo>
                  <a:pt x="0" y="0"/>
                </a:lnTo>
                <a:close/>
              </a:path>
            </a:pathLst>
          </a:custGeom>
          <a:blipFill>
            <a:blip r:embed="rId21"/>
            <a:stretch>
              <a:fillRect l="-5353" t="-229420" r="-3204" b="-193194"/>
            </a:stretch>
          </a:blipFill>
        </p:spPr>
      </p:sp>
      <p:sp>
        <p:nvSpPr>
          <p:cNvPr name="Freeform 26" id="26"/>
          <p:cNvSpPr/>
          <p:nvPr/>
        </p:nvSpPr>
        <p:spPr>
          <a:xfrm flipH="false" flipV="false" rot="0">
            <a:off x="9241130" y="5288860"/>
            <a:ext cx="1912105" cy="397184"/>
          </a:xfrm>
          <a:custGeom>
            <a:avLst/>
            <a:gdLst/>
            <a:ahLst/>
            <a:cxnLst/>
            <a:rect r="r" b="b" t="t" l="l"/>
            <a:pathLst>
              <a:path h="397184" w="1912105">
                <a:moveTo>
                  <a:pt x="0" y="0"/>
                </a:moveTo>
                <a:lnTo>
                  <a:pt x="1912105" y="0"/>
                </a:lnTo>
                <a:lnTo>
                  <a:pt x="1912105" y="397184"/>
                </a:lnTo>
                <a:lnTo>
                  <a:pt x="0" y="397184"/>
                </a:lnTo>
                <a:lnTo>
                  <a:pt x="0" y="0"/>
                </a:lnTo>
                <a:close/>
              </a:path>
            </a:pathLst>
          </a:custGeom>
          <a:blipFill>
            <a:blip r:embed="rId21"/>
            <a:stretch>
              <a:fillRect l="-5353" t="-229420" r="-3204" b="-193194"/>
            </a:stretch>
          </a:blipFill>
        </p:spPr>
      </p:sp>
      <p:sp>
        <p:nvSpPr>
          <p:cNvPr name="Freeform 27" id="27"/>
          <p:cNvSpPr/>
          <p:nvPr/>
        </p:nvSpPr>
        <p:spPr>
          <a:xfrm flipH="false" flipV="false" rot="0">
            <a:off x="13293492" y="5280733"/>
            <a:ext cx="1912105" cy="397184"/>
          </a:xfrm>
          <a:custGeom>
            <a:avLst/>
            <a:gdLst/>
            <a:ahLst/>
            <a:cxnLst/>
            <a:rect r="r" b="b" t="t" l="l"/>
            <a:pathLst>
              <a:path h="397184" w="1912105">
                <a:moveTo>
                  <a:pt x="0" y="0"/>
                </a:moveTo>
                <a:lnTo>
                  <a:pt x="1912105" y="0"/>
                </a:lnTo>
                <a:lnTo>
                  <a:pt x="1912105" y="397183"/>
                </a:lnTo>
                <a:lnTo>
                  <a:pt x="0" y="397183"/>
                </a:lnTo>
                <a:lnTo>
                  <a:pt x="0" y="0"/>
                </a:lnTo>
                <a:close/>
              </a:path>
            </a:pathLst>
          </a:custGeom>
          <a:blipFill>
            <a:blip r:embed="rId21"/>
            <a:stretch>
              <a:fillRect l="-5353" t="-229420" r="-3204" b="-193194"/>
            </a:stretch>
          </a:blipFill>
        </p:spPr>
      </p:sp>
      <p:sp>
        <p:nvSpPr>
          <p:cNvPr name="Freeform 28" id="28"/>
          <p:cNvSpPr/>
          <p:nvPr/>
        </p:nvSpPr>
        <p:spPr>
          <a:xfrm flipH="false" flipV="false" rot="0">
            <a:off x="4401516" y="6459526"/>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9" id="29"/>
          <p:cNvSpPr/>
          <p:nvPr/>
        </p:nvSpPr>
        <p:spPr>
          <a:xfrm flipH="false" flipV="false" rot="0">
            <a:off x="8032666" y="6481890"/>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30" id="30"/>
          <p:cNvSpPr/>
          <p:nvPr/>
        </p:nvSpPr>
        <p:spPr>
          <a:xfrm flipH="false" flipV="false" rot="0">
            <a:off x="11915086" y="6459526"/>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31" id="31"/>
          <p:cNvSpPr/>
          <p:nvPr/>
        </p:nvSpPr>
        <p:spPr>
          <a:xfrm flipH="false" flipV="false" rot="0">
            <a:off x="16204994" y="6459526"/>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32" id="32"/>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33" id="33"/>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34" id="34"/>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35" id="35"/>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36" id="36"/>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37" id="37"/>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38" id="38"/>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39" id="39"/>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40" id="40"/>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41" id="41"/>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42" id="42"/>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43" id="43"/>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44" id="44"/>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45" id="45"/>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46" id="46"/>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47" id="4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14</a:t>
            </a:r>
          </a:p>
        </p:txBody>
      </p:sp>
      <p:sp>
        <p:nvSpPr>
          <p:cNvPr name="TextBox 48" id="48"/>
          <p:cNvSpPr txBox="true"/>
          <p:nvPr/>
        </p:nvSpPr>
        <p:spPr>
          <a:xfrm rot="0">
            <a:off x="5428355" y="5767193"/>
            <a:ext cx="2368156" cy="25351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Conjunto Man City</a:t>
            </a:r>
          </a:p>
        </p:txBody>
      </p:sp>
      <p:sp>
        <p:nvSpPr>
          <p:cNvPr name="TextBox 49" id="49"/>
          <p:cNvSpPr txBox="true"/>
          <p:nvPr/>
        </p:nvSpPr>
        <p:spPr>
          <a:xfrm rot="0">
            <a:off x="9268220" y="5807524"/>
            <a:ext cx="2772399" cy="490141"/>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Conjunto infantil Seleção Brasileira</a:t>
            </a:r>
          </a:p>
        </p:txBody>
      </p:sp>
      <p:sp>
        <p:nvSpPr>
          <p:cNvPr name="TextBox 50" id="50"/>
          <p:cNvSpPr txBox="true"/>
          <p:nvPr/>
        </p:nvSpPr>
        <p:spPr>
          <a:xfrm rot="0">
            <a:off x="13293492" y="5827335"/>
            <a:ext cx="2772399"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Infantil Caxias FC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800599" y="5696556"/>
            <a:ext cx="1750866" cy="397184"/>
          </a:xfrm>
          <a:custGeom>
            <a:avLst/>
            <a:gdLst/>
            <a:ahLst/>
            <a:cxnLst/>
            <a:rect r="r" b="b" t="t" l="l"/>
            <a:pathLst>
              <a:path h="397184" w="1750866">
                <a:moveTo>
                  <a:pt x="0" y="0"/>
                </a:moveTo>
                <a:lnTo>
                  <a:pt x="1750866" y="0"/>
                </a:lnTo>
                <a:lnTo>
                  <a:pt x="1750866" y="397183"/>
                </a:lnTo>
                <a:lnTo>
                  <a:pt x="0" y="397183"/>
                </a:lnTo>
                <a:lnTo>
                  <a:pt x="0" y="0"/>
                </a:lnTo>
                <a:close/>
              </a:path>
            </a:pathLst>
          </a:custGeom>
          <a:blipFill>
            <a:blip r:embed="rId2"/>
            <a:stretch>
              <a:fillRect l="-5846" t="-229420" r="-12708" b="-193194"/>
            </a:stretch>
          </a:blipFill>
        </p:spPr>
      </p:sp>
      <p:sp>
        <p:nvSpPr>
          <p:cNvPr name="Freeform 4" id="4"/>
          <p:cNvSpPr/>
          <p:nvPr/>
        </p:nvSpPr>
        <p:spPr>
          <a:xfrm flipH="false" flipV="false" rot="0">
            <a:off x="8839210" y="5711809"/>
            <a:ext cx="2014577" cy="381930"/>
          </a:xfrm>
          <a:custGeom>
            <a:avLst/>
            <a:gdLst/>
            <a:ahLst/>
            <a:cxnLst/>
            <a:rect r="r" b="b" t="t" l="l"/>
            <a:pathLst>
              <a:path h="381930" w="2014577">
                <a:moveTo>
                  <a:pt x="0" y="0"/>
                </a:moveTo>
                <a:lnTo>
                  <a:pt x="2014578" y="0"/>
                </a:lnTo>
                <a:lnTo>
                  <a:pt x="2014578" y="381930"/>
                </a:lnTo>
                <a:lnTo>
                  <a:pt x="0" y="381930"/>
                </a:lnTo>
                <a:lnTo>
                  <a:pt x="0" y="0"/>
                </a:lnTo>
                <a:close/>
              </a:path>
            </a:pathLst>
          </a:custGeom>
          <a:blipFill>
            <a:blip r:embed="rId2"/>
            <a:stretch>
              <a:fillRect l="-5186" t="-246645" r="0" b="-208186"/>
            </a:stretch>
          </a:blipFill>
        </p:spPr>
      </p:sp>
      <p:sp>
        <p:nvSpPr>
          <p:cNvPr name="Freeform 5" id="5"/>
          <p:cNvSpPr/>
          <p:nvPr/>
        </p:nvSpPr>
        <p:spPr>
          <a:xfrm flipH="false" flipV="false" rot="0">
            <a:off x="4875565" y="5680580"/>
            <a:ext cx="1641143" cy="376011"/>
          </a:xfrm>
          <a:custGeom>
            <a:avLst/>
            <a:gdLst/>
            <a:ahLst/>
            <a:cxnLst/>
            <a:rect r="r" b="b" t="t" l="l"/>
            <a:pathLst>
              <a:path h="376011" w="1641143">
                <a:moveTo>
                  <a:pt x="0" y="0"/>
                </a:moveTo>
                <a:lnTo>
                  <a:pt x="1641143" y="0"/>
                </a:lnTo>
                <a:lnTo>
                  <a:pt x="1641143" y="376012"/>
                </a:lnTo>
                <a:lnTo>
                  <a:pt x="0" y="376012"/>
                </a:lnTo>
                <a:lnTo>
                  <a:pt x="0" y="0"/>
                </a:lnTo>
                <a:close/>
              </a:path>
            </a:pathLst>
          </a:custGeom>
          <a:blipFill>
            <a:blip r:embed="rId2"/>
            <a:stretch>
              <a:fillRect l="-6138" t="-237700" r="-18354" b="-205666"/>
            </a:stretch>
          </a:blipFill>
        </p:spPr>
      </p:sp>
      <p:sp>
        <p:nvSpPr>
          <p:cNvPr name="Freeform 6" id="6"/>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3"/>
            <a:stretch>
              <a:fillRect l="0" t="-110584" r="0" b="-122957"/>
            </a:stretch>
          </a:blipFill>
        </p:spPr>
      </p:sp>
      <p:sp>
        <p:nvSpPr>
          <p:cNvPr name="Freeform 7" id="7"/>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715802" y="6750177"/>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846437" y="6823447"/>
            <a:ext cx="336176" cy="336176"/>
          </a:xfrm>
          <a:custGeom>
            <a:avLst/>
            <a:gdLst/>
            <a:ahLst/>
            <a:cxnLst/>
            <a:rect r="r" b="b" t="t" l="l"/>
            <a:pathLst>
              <a:path h="336176" w="336176">
                <a:moveTo>
                  <a:pt x="0" y="0"/>
                </a:moveTo>
                <a:lnTo>
                  <a:pt x="336177" y="0"/>
                </a:lnTo>
                <a:lnTo>
                  <a:pt x="336177"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508140" y="6890383"/>
            <a:ext cx="336176" cy="336176"/>
          </a:xfrm>
          <a:custGeom>
            <a:avLst/>
            <a:gdLst/>
            <a:ahLst/>
            <a:cxnLst/>
            <a:rect r="r" b="b" t="t" l="l"/>
            <a:pathLst>
              <a:path h="336176" w="336176">
                <a:moveTo>
                  <a:pt x="0" y="0"/>
                </a:moveTo>
                <a:lnTo>
                  <a:pt x="336176" y="0"/>
                </a:lnTo>
                <a:lnTo>
                  <a:pt x="336176" y="336177"/>
                </a:lnTo>
                <a:lnTo>
                  <a:pt x="0" y="3361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454962" y="6864477"/>
            <a:ext cx="336176" cy="336176"/>
          </a:xfrm>
          <a:custGeom>
            <a:avLst/>
            <a:gdLst/>
            <a:ahLst/>
            <a:cxnLst/>
            <a:rect r="r" b="b" t="t" l="l"/>
            <a:pathLst>
              <a:path h="336176" w="336176">
                <a:moveTo>
                  <a:pt x="0" y="0"/>
                </a:moveTo>
                <a:lnTo>
                  <a:pt x="336176" y="0"/>
                </a:lnTo>
                <a:lnTo>
                  <a:pt x="336176" y="336176"/>
                </a:lnTo>
                <a:lnTo>
                  <a:pt x="0" y="3361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8" id="18"/>
          <p:cNvGrpSpPr/>
          <p:nvPr/>
        </p:nvGrpSpPr>
        <p:grpSpPr>
          <a:xfrm rot="0">
            <a:off x="17882235" y="5939790"/>
            <a:ext cx="326708" cy="1291590"/>
            <a:chOff x="0" y="0"/>
            <a:chExt cx="435610" cy="1722120"/>
          </a:xfrm>
        </p:grpSpPr>
        <p:sp>
          <p:nvSpPr>
            <p:cNvPr name="Freeform 19" id="19"/>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20" id="20"/>
          <p:cNvGrpSpPr/>
          <p:nvPr/>
        </p:nvGrpSpPr>
        <p:grpSpPr>
          <a:xfrm rot="0">
            <a:off x="17916525" y="2520315"/>
            <a:ext cx="240983" cy="670560"/>
            <a:chOff x="0" y="0"/>
            <a:chExt cx="321310" cy="894080"/>
          </a:xfrm>
        </p:grpSpPr>
        <p:sp>
          <p:nvSpPr>
            <p:cNvPr name="Freeform 21" id="21"/>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22" id="22"/>
          <p:cNvSpPr/>
          <p:nvPr/>
        </p:nvSpPr>
        <p:spPr>
          <a:xfrm flipH="false" flipV="false" rot="0">
            <a:off x="800547" y="2656951"/>
            <a:ext cx="2912405" cy="2912405"/>
          </a:xfrm>
          <a:custGeom>
            <a:avLst/>
            <a:gdLst/>
            <a:ahLst/>
            <a:cxnLst/>
            <a:rect r="r" b="b" t="t" l="l"/>
            <a:pathLst>
              <a:path h="2912405" w="2912405">
                <a:moveTo>
                  <a:pt x="0" y="0"/>
                </a:moveTo>
                <a:lnTo>
                  <a:pt x="2912405" y="0"/>
                </a:lnTo>
                <a:lnTo>
                  <a:pt x="2912405" y="2912405"/>
                </a:lnTo>
                <a:lnTo>
                  <a:pt x="0" y="2912405"/>
                </a:lnTo>
                <a:lnTo>
                  <a:pt x="0" y="0"/>
                </a:lnTo>
                <a:close/>
              </a:path>
            </a:pathLst>
          </a:custGeom>
          <a:blipFill>
            <a:blip r:embed="rId20"/>
            <a:stretch>
              <a:fillRect l="0" t="0" r="0" b="0"/>
            </a:stretch>
          </a:blipFill>
        </p:spPr>
      </p:sp>
      <p:sp>
        <p:nvSpPr>
          <p:cNvPr name="Freeform 23" id="23"/>
          <p:cNvSpPr/>
          <p:nvPr/>
        </p:nvSpPr>
        <p:spPr>
          <a:xfrm flipH="false" flipV="false" rot="0">
            <a:off x="4871208" y="2650502"/>
            <a:ext cx="2925303" cy="2925303"/>
          </a:xfrm>
          <a:custGeom>
            <a:avLst/>
            <a:gdLst/>
            <a:ahLst/>
            <a:cxnLst/>
            <a:rect r="r" b="b" t="t" l="l"/>
            <a:pathLst>
              <a:path h="2925303" w="2925303">
                <a:moveTo>
                  <a:pt x="0" y="0"/>
                </a:moveTo>
                <a:lnTo>
                  <a:pt x="2925303" y="0"/>
                </a:lnTo>
                <a:lnTo>
                  <a:pt x="2925303" y="2925303"/>
                </a:lnTo>
                <a:lnTo>
                  <a:pt x="0" y="2925303"/>
                </a:lnTo>
                <a:lnTo>
                  <a:pt x="0" y="0"/>
                </a:lnTo>
                <a:close/>
              </a:path>
            </a:pathLst>
          </a:custGeom>
          <a:blipFill>
            <a:blip r:embed="rId21"/>
            <a:stretch>
              <a:fillRect l="0" t="0" r="0" b="0"/>
            </a:stretch>
          </a:blipFill>
        </p:spPr>
      </p:sp>
      <p:sp>
        <p:nvSpPr>
          <p:cNvPr name="Freeform 24" id="24"/>
          <p:cNvSpPr/>
          <p:nvPr/>
        </p:nvSpPr>
        <p:spPr>
          <a:xfrm flipH="false" flipV="false" rot="0">
            <a:off x="8843764" y="2619666"/>
            <a:ext cx="3002673" cy="3002673"/>
          </a:xfrm>
          <a:custGeom>
            <a:avLst/>
            <a:gdLst/>
            <a:ahLst/>
            <a:cxnLst/>
            <a:rect r="r" b="b" t="t" l="l"/>
            <a:pathLst>
              <a:path h="3002673" w="3002673">
                <a:moveTo>
                  <a:pt x="0" y="0"/>
                </a:moveTo>
                <a:lnTo>
                  <a:pt x="3002673" y="0"/>
                </a:lnTo>
                <a:lnTo>
                  <a:pt x="3002673" y="3002674"/>
                </a:lnTo>
                <a:lnTo>
                  <a:pt x="0" y="3002674"/>
                </a:lnTo>
                <a:lnTo>
                  <a:pt x="0" y="0"/>
                </a:lnTo>
                <a:close/>
              </a:path>
            </a:pathLst>
          </a:custGeom>
          <a:blipFill>
            <a:blip r:embed="rId22"/>
            <a:stretch>
              <a:fillRect l="0" t="0" r="0" b="0"/>
            </a:stretch>
          </a:blipFill>
        </p:spPr>
      </p:sp>
      <p:sp>
        <p:nvSpPr>
          <p:cNvPr name="Freeform 25" id="25"/>
          <p:cNvSpPr/>
          <p:nvPr/>
        </p:nvSpPr>
        <p:spPr>
          <a:xfrm flipH="false" flipV="false" rot="0">
            <a:off x="12934200" y="2686341"/>
            <a:ext cx="2949690" cy="2949690"/>
          </a:xfrm>
          <a:custGeom>
            <a:avLst/>
            <a:gdLst/>
            <a:ahLst/>
            <a:cxnLst/>
            <a:rect r="r" b="b" t="t" l="l"/>
            <a:pathLst>
              <a:path h="2949690" w="2949690">
                <a:moveTo>
                  <a:pt x="0" y="0"/>
                </a:moveTo>
                <a:lnTo>
                  <a:pt x="2949690" y="0"/>
                </a:lnTo>
                <a:lnTo>
                  <a:pt x="2949690" y="2949690"/>
                </a:lnTo>
                <a:lnTo>
                  <a:pt x="0" y="2949690"/>
                </a:lnTo>
                <a:lnTo>
                  <a:pt x="0" y="0"/>
                </a:lnTo>
                <a:close/>
              </a:path>
            </a:pathLst>
          </a:custGeom>
          <a:blipFill>
            <a:blip r:embed="rId23"/>
            <a:stretch>
              <a:fillRect l="0" t="0" r="0" b="0"/>
            </a:stretch>
          </a:blipFill>
        </p:spPr>
      </p:sp>
      <p:sp>
        <p:nvSpPr>
          <p:cNvPr name="Freeform 26" id="26"/>
          <p:cNvSpPr/>
          <p:nvPr/>
        </p:nvSpPr>
        <p:spPr>
          <a:xfrm flipH="false" flipV="false" rot="0">
            <a:off x="12934200" y="5711809"/>
            <a:ext cx="2014577" cy="381930"/>
          </a:xfrm>
          <a:custGeom>
            <a:avLst/>
            <a:gdLst/>
            <a:ahLst/>
            <a:cxnLst/>
            <a:rect r="r" b="b" t="t" l="l"/>
            <a:pathLst>
              <a:path h="381930" w="2014577">
                <a:moveTo>
                  <a:pt x="0" y="0"/>
                </a:moveTo>
                <a:lnTo>
                  <a:pt x="2014578" y="0"/>
                </a:lnTo>
                <a:lnTo>
                  <a:pt x="2014578" y="381930"/>
                </a:lnTo>
                <a:lnTo>
                  <a:pt x="0" y="381930"/>
                </a:lnTo>
                <a:lnTo>
                  <a:pt x="0" y="0"/>
                </a:lnTo>
                <a:close/>
              </a:path>
            </a:pathLst>
          </a:custGeom>
          <a:blipFill>
            <a:blip r:embed="rId2"/>
            <a:stretch>
              <a:fillRect l="-5186" t="-246645" r="0" b="-208186"/>
            </a:stretch>
          </a:blipFill>
        </p:spPr>
      </p:sp>
      <p:sp>
        <p:nvSpPr>
          <p:cNvPr name="Freeform 27" id="27"/>
          <p:cNvSpPr/>
          <p:nvPr/>
        </p:nvSpPr>
        <p:spPr>
          <a:xfrm flipH="false" flipV="false" rot="0">
            <a:off x="592590" y="8413993"/>
            <a:ext cx="3198548" cy="3198548"/>
          </a:xfrm>
          <a:custGeom>
            <a:avLst/>
            <a:gdLst/>
            <a:ahLst/>
            <a:cxnLst/>
            <a:rect r="r" b="b" t="t" l="l"/>
            <a:pathLst>
              <a:path h="3198548" w="3198548">
                <a:moveTo>
                  <a:pt x="0" y="0"/>
                </a:moveTo>
                <a:lnTo>
                  <a:pt x="3198548" y="0"/>
                </a:lnTo>
                <a:lnTo>
                  <a:pt x="3198548" y="3198549"/>
                </a:lnTo>
                <a:lnTo>
                  <a:pt x="0" y="3198549"/>
                </a:lnTo>
                <a:lnTo>
                  <a:pt x="0" y="0"/>
                </a:lnTo>
                <a:close/>
              </a:path>
            </a:pathLst>
          </a:custGeom>
          <a:blipFill>
            <a:blip r:embed="rId24"/>
            <a:stretch>
              <a:fillRect l="0" t="0" r="0" b="0"/>
            </a:stretch>
          </a:blipFill>
        </p:spPr>
      </p:sp>
      <p:sp>
        <p:nvSpPr>
          <p:cNvPr name="Freeform 28" id="28"/>
          <p:cNvSpPr/>
          <p:nvPr/>
        </p:nvSpPr>
        <p:spPr>
          <a:xfrm flipH="false" flipV="false" rot="0">
            <a:off x="4745396" y="8355665"/>
            <a:ext cx="3098920" cy="3098920"/>
          </a:xfrm>
          <a:custGeom>
            <a:avLst/>
            <a:gdLst/>
            <a:ahLst/>
            <a:cxnLst/>
            <a:rect r="r" b="b" t="t" l="l"/>
            <a:pathLst>
              <a:path h="3098920" w="3098920">
                <a:moveTo>
                  <a:pt x="0" y="0"/>
                </a:moveTo>
                <a:lnTo>
                  <a:pt x="3098920" y="0"/>
                </a:lnTo>
                <a:lnTo>
                  <a:pt x="3098920" y="3098920"/>
                </a:lnTo>
                <a:lnTo>
                  <a:pt x="0" y="3098920"/>
                </a:lnTo>
                <a:lnTo>
                  <a:pt x="0" y="0"/>
                </a:lnTo>
                <a:close/>
              </a:path>
            </a:pathLst>
          </a:custGeom>
          <a:blipFill>
            <a:blip r:embed="rId25"/>
            <a:stretch>
              <a:fillRect l="0" t="0" r="0" b="0"/>
            </a:stretch>
          </a:blipFill>
        </p:spPr>
      </p:sp>
      <p:sp>
        <p:nvSpPr>
          <p:cNvPr name="Freeform 29" id="29"/>
          <p:cNvSpPr/>
          <p:nvPr/>
        </p:nvSpPr>
        <p:spPr>
          <a:xfrm flipH="false" flipV="false" rot="0">
            <a:off x="8795641" y="8355665"/>
            <a:ext cx="3098920" cy="3098920"/>
          </a:xfrm>
          <a:custGeom>
            <a:avLst/>
            <a:gdLst/>
            <a:ahLst/>
            <a:cxnLst/>
            <a:rect r="r" b="b" t="t" l="l"/>
            <a:pathLst>
              <a:path h="3098920" w="3098920">
                <a:moveTo>
                  <a:pt x="0" y="0"/>
                </a:moveTo>
                <a:lnTo>
                  <a:pt x="3098920" y="0"/>
                </a:lnTo>
                <a:lnTo>
                  <a:pt x="3098920" y="3098920"/>
                </a:lnTo>
                <a:lnTo>
                  <a:pt x="0" y="3098920"/>
                </a:lnTo>
                <a:lnTo>
                  <a:pt x="0" y="0"/>
                </a:lnTo>
                <a:close/>
              </a:path>
            </a:pathLst>
          </a:custGeom>
          <a:blipFill>
            <a:blip r:embed="rId26"/>
            <a:stretch>
              <a:fillRect l="0" t="0" r="0" b="0"/>
            </a:stretch>
          </a:blipFill>
        </p:spPr>
      </p:sp>
      <p:sp>
        <p:nvSpPr>
          <p:cNvPr name="Freeform 30" id="30"/>
          <p:cNvSpPr/>
          <p:nvPr/>
        </p:nvSpPr>
        <p:spPr>
          <a:xfrm flipH="false" flipV="false" rot="0">
            <a:off x="12954939" y="8355665"/>
            <a:ext cx="2928951" cy="2928951"/>
          </a:xfrm>
          <a:custGeom>
            <a:avLst/>
            <a:gdLst/>
            <a:ahLst/>
            <a:cxnLst/>
            <a:rect r="r" b="b" t="t" l="l"/>
            <a:pathLst>
              <a:path h="2928951" w="2928951">
                <a:moveTo>
                  <a:pt x="0" y="0"/>
                </a:moveTo>
                <a:lnTo>
                  <a:pt x="2928951" y="0"/>
                </a:lnTo>
                <a:lnTo>
                  <a:pt x="2928951" y="2928951"/>
                </a:lnTo>
                <a:lnTo>
                  <a:pt x="0" y="2928951"/>
                </a:lnTo>
                <a:lnTo>
                  <a:pt x="0" y="0"/>
                </a:lnTo>
                <a:close/>
              </a:path>
            </a:pathLst>
          </a:custGeom>
          <a:blipFill>
            <a:blip r:embed="rId27"/>
            <a:stretch>
              <a:fillRect l="0" t="0" r="0" b="0"/>
            </a:stretch>
          </a:blipFill>
        </p:spPr>
      </p:sp>
      <p:sp>
        <p:nvSpPr>
          <p:cNvPr name="TextBox 31" id="31"/>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32" id="32"/>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33" id="33"/>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34" id="34"/>
          <p:cNvSpPr txBox="true"/>
          <p:nvPr/>
        </p:nvSpPr>
        <p:spPr>
          <a:xfrm rot="0">
            <a:off x="832084" y="6788277"/>
            <a:ext cx="1943496"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R$ 399,99</a:t>
            </a:r>
            <a:r>
              <a:rPr lang="en-US" b="true" sz="1753" spc="-101">
                <a:solidFill>
                  <a:srgbClr val="FFFFFF"/>
                </a:solidFill>
                <a:latin typeface="Open Sauce Bold"/>
                <a:ea typeface="Open Sauce Bold"/>
                <a:cs typeface="Open Sauce Bold"/>
                <a:sym typeface="Open Sauce Bold"/>
              </a:rPr>
              <a:t>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R$ 99,99</a:t>
            </a:r>
          </a:p>
        </p:txBody>
      </p:sp>
      <p:sp>
        <p:nvSpPr>
          <p:cNvPr name="TextBox 35" id="35"/>
          <p:cNvSpPr txBox="true"/>
          <p:nvPr/>
        </p:nvSpPr>
        <p:spPr>
          <a:xfrm rot="0">
            <a:off x="740918" y="6198006"/>
            <a:ext cx="3946767" cy="253485"/>
          </a:xfrm>
          <a:prstGeom prst="rect">
            <a:avLst/>
          </a:prstGeom>
        </p:spPr>
        <p:txBody>
          <a:bodyPr anchor="t" rtlCol="false" tIns="0" lIns="0" bIns="0" rIns="0">
            <a:spAutoFit/>
          </a:bodyPr>
          <a:lstStyle/>
          <a:p>
            <a:pPr algn="just">
              <a:lnSpc>
                <a:spcPts val="1903"/>
              </a:lnSpc>
            </a:pPr>
            <a:r>
              <a:rPr lang="en-US" b="true" sz="1884" spc="-109">
                <a:solidFill>
                  <a:srgbClr val="FFFFFF"/>
                </a:solidFill>
                <a:latin typeface="Open Sauce Bold"/>
                <a:ea typeface="Open Sauce Bold"/>
                <a:cs typeface="Open Sauce Bold"/>
                <a:sym typeface="Open Sauce Bold"/>
              </a:rPr>
              <a:t>Tênis Puma  Court - Masculino</a:t>
            </a:r>
          </a:p>
        </p:txBody>
      </p:sp>
      <p:sp>
        <p:nvSpPr>
          <p:cNvPr name="TextBox 36" id="36"/>
          <p:cNvSpPr txBox="true"/>
          <p:nvPr/>
        </p:nvSpPr>
        <p:spPr>
          <a:xfrm rot="0">
            <a:off x="4914160" y="6155325"/>
            <a:ext cx="3946767" cy="490077"/>
          </a:xfrm>
          <a:prstGeom prst="rect">
            <a:avLst/>
          </a:prstGeom>
        </p:spPr>
        <p:txBody>
          <a:bodyPr anchor="t" rtlCol="false" tIns="0" lIns="0" bIns="0" rIns="0">
            <a:spAutoFit/>
          </a:bodyPr>
          <a:lstStyle/>
          <a:p>
            <a:pPr algn="just">
              <a:lnSpc>
                <a:spcPts val="1903"/>
              </a:lnSpc>
            </a:pPr>
            <a:r>
              <a:rPr lang="en-US" b="true" sz="1884" spc="-109">
                <a:solidFill>
                  <a:srgbClr val="FFFFFF"/>
                </a:solidFill>
                <a:latin typeface="Open Sauce Bold"/>
                <a:ea typeface="Open Sauce Bold"/>
                <a:cs typeface="Open Sauce Bold"/>
                <a:sym typeface="Open Sauce Bold"/>
              </a:rPr>
              <a:t>Chuteira de Campo Mizuno Morelia </a:t>
            </a:r>
          </a:p>
          <a:p>
            <a:pPr algn="just">
              <a:lnSpc>
                <a:spcPts val="1903"/>
              </a:lnSpc>
            </a:pPr>
          </a:p>
        </p:txBody>
      </p:sp>
      <p:sp>
        <p:nvSpPr>
          <p:cNvPr name="TextBox 37" id="37"/>
          <p:cNvSpPr txBox="true"/>
          <p:nvPr/>
        </p:nvSpPr>
        <p:spPr>
          <a:xfrm rot="0">
            <a:off x="5006313" y="6788277"/>
            <a:ext cx="1948322"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R$ 322,04</a:t>
            </a:r>
            <a:r>
              <a:rPr lang="en-US" b="true" sz="1753" spc="-101">
                <a:solidFill>
                  <a:srgbClr val="FFFFFF"/>
                </a:solidFill>
                <a:latin typeface="Open Sauce Bold"/>
                <a:ea typeface="Open Sauce Bold"/>
                <a:cs typeface="Open Sauce Bold"/>
                <a:sym typeface="Open Sauce Bold"/>
              </a:rPr>
              <a:t>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R$ 80,51</a:t>
            </a:r>
          </a:p>
        </p:txBody>
      </p:sp>
      <p:sp>
        <p:nvSpPr>
          <p:cNvPr name="TextBox 38" id="38"/>
          <p:cNvSpPr txBox="true"/>
          <p:nvPr/>
        </p:nvSpPr>
        <p:spPr>
          <a:xfrm rot="0">
            <a:off x="8880404" y="6155325"/>
            <a:ext cx="3946767" cy="490077"/>
          </a:xfrm>
          <a:prstGeom prst="rect">
            <a:avLst/>
          </a:prstGeom>
        </p:spPr>
        <p:txBody>
          <a:bodyPr anchor="t" rtlCol="false" tIns="0" lIns="0" bIns="0" rIns="0">
            <a:spAutoFit/>
          </a:bodyPr>
          <a:lstStyle/>
          <a:p>
            <a:pPr algn="just">
              <a:lnSpc>
                <a:spcPts val="1903"/>
              </a:lnSpc>
            </a:pPr>
            <a:r>
              <a:rPr lang="en-US" b="true" sz="1884" spc="-109">
                <a:solidFill>
                  <a:srgbClr val="FFFFFF"/>
                </a:solidFill>
                <a:latin typeface="Open Sauce Bold"/>
                <a:ea typeface="Open Sauce Bold"/>
                <a:cs typeface="Open Sauce Bold"/>
                <a:sym typeface="Open Sauce Bold"/>
              </a:rPr>
              <a:t>Tênis Mizuno Enigma 2 Masculino</a:t>
            </a:r>
          </a:p>
          <a:p>
            <a:pPr algn="just">
              <a:lnSpc>
                <a:spcPts val="1903"/>
              </a:lnSpc>
            </a:pPr>
          </a:p>
        </p:txBody>
      </p:sp>
      <p:sp>
        <p:nvSpPr>
          <p:cNvPr name="TextBox 39" id="39"/>
          <p:cNvSpPr txBox="true"/>
          <p:nvPr/>
        </p:nvSpPr>
        <p:spPr>
          <a:xfrm rot="0">
            <a:off x="8880404" y="6829306"/>
            <a:ext cx="2014577"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R$ 303,99 </a:t>
            </a:r>
            <a:r>
              <a:rPr lang="en-US" b="true" sz="1753" spc="-101">
                <a:solidFill>
                  <a:srgbClr val="FFFFFF"/>
                </a:solidFill>
                <a:latin typeface="Open Sauce Bold"/>
                <a:ea typeface="Open Sauce Bold"/>
                <a:cs typeface="Open Sauce Bold"/>
                <a:sym typeface="Open Sauce Bold"/>
              </a:rPr>
              <a:t>no Pix</a:t>
            </a:r>
          </a:p>
          <a:p>
            <a:pPr algn="just">
              <a:lnSpc>
                <a:spcPts val="1771"/>
              </a:lnSpc>
            </a:pPr>
            <a:r>
              <a:rPr lang="en-US" b="true" sz="1753" spc="-101">
                <a:solidFill>
                  <a:srgbClr val="FFFFFF"/>
                </a:solidFill>
                <a:latin typeface="Open Sauce Bold"/>
                <a:ea typeface="Open Sauce Bold"/>
                <a:cs typeface="Open Sauce Bold"/>
                <a:sym typeface="Open Sauce Bold"/>
              </a:rPr>
              <a:t>ou 4x de R$ 75,99</a:t>
            </a:r>
          </a:p>
        </p:txBody>
      </p:sp>
      <p:sp>
        <p:nvSpPr>
          <p:cNvPr name="TextBox 40" id="40"/>
          <p:cNvSpPr txBox="true"/>
          <p:nvPr/>
        </p:nvSpPr>
        <p:spPr>
          <a:xfrm rot="0">
            <a:off x="13131961" y="6129941"/>
            <a:ext cx="3946767" cy="726668"/>
          </a:xfrm>
          <a:prstGeom prst="rect">
            <a:avLst/>
          </a:prstGeom>
        </p:spPr>
        <p:txBody>
          <a:bodyPr anchor="t" rtlCol="false" tIns="0" lIns="0" bIns="0" rIns="0">
            <a:spAutoFit/>
          </a:bodyPr>
          <a:lstStyle/>
          <a:p>
            <a:pPr algn="just">
              <a:lnSpc>
                <a:spcPts val="1903"/>
              </a:lnSpc>
            </a:pPr>
            <a:r>
              <a:rPr lang="en-US" b="true" sz="1884" spc="-109">
                <a:solidFill>
                  <a:srgbClr val="FFFFFF"/>
                </a:solidFill>
                <a:latin typeface="Open Sauce Bold"/>
                <a:ea typeface="Open Sauce Bold"/>
                <a:cs typeface="Open Sauce Bold"/>
                <a:sym typeface="Open Sauce Bold"/>
              </a:rPr>
              <a:t>Chuteira Society adidas Deportivo III Adulto</a:t>
            </a:r>
          </a:p>
          <a:p>
            <a:pPr algn="just">
              <a:lnSpc>
                <a:spcPts val="1903"/>
              </a:lnSpc>
            </a:pPr>
          </a:p>
        </p:txBody>
      </p:sp>
      <p:sp>
        <p:nvSpPr>
          <p:cNvPr name="TextBox 41" id="41"/>
          <p:cNvSpPr txBox="true"/>
          <p:nvPr/>
        </p:nvSpPr>
        <p:spPr>
          <a:xfrm rot="0">
            <a:off x="13131961" y="6781943"/>
            <a:ext cx="1973384" cy="444617"/>
          </a:xfrm>
          <a:prstGeom prst="rect">
            <a:avLst/>
          </a:prstGeom>
        </p:spPr>
        <p:txBody>
          <a:bodyPr anchor="t" rtlCol="false" tIns="0" lIns="0" bIns="0" rIns="0">
            <a:spAutoFit/>
          </a:bodyPr>
          <a:lstStyle/>
          <a:p>
            <a:pPr algn="just">
              <a:lnSpc>
                <a:spcPts val="1771"/>
              </a:lnSpc>
            </a:pPr>
            <a:r>
              <a:rPr lang="en-US" b="true" sz="1753" spc="-101">
                <a:solidFill>
                  <a:srgbClr val="FFFFFF"/>
                </a:solidFill>
                <a:latin typeface="Open Sauce Bold"/>
                <a:ea typeface="Open Sauce Bold"/>
                <a:cs typeface="Open Sauce Bold"/>
                <a:sym typeface="Open Sauce Bold"/>
              </a:rPr>
              <a:t>R$218,48 no Pix</a:t>
            </a:r>
          </a:p>
          <a:p>
            <a:pPr algn="just">
              <a:lnSpc>
                <a:spcPts val="1771"/>
              </a:lnSpc>
            </a:pPr>
            <a:r>
              <a:rPr lang="en-US" b="true" sz="1753" spc="-101">
                <a:solidFill>
                  <a:srgbClr val="FFFFFF"/>
                </a:solidFill>
                <a:latin typeface="Open Sauce Bold"/>
                <a:ea typeface="Open Sauce Bold"/>
                <a:cs typeface="Open Sauce Bold"/>
                <a:sym typeface="Open Sauce Bold"/>
              </a:rPr>
              <a:t>ou 4x de R$ 54,12</a:t>
            </a:r>
          </a:p>
        </p:txBody>
      </p:sp>
      <p:sp>
        <p:nvSpPr>
          <p:cNvPr name="TextBox 42" id="42"/>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43" id="43"/>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44" id="44"/>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45" id="45"/>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46" id="46"/>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47" id="47"/>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48" id="48"/>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49" id="49"/>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50" id="50"/>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51" id="51"/>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52" id="52"/>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53" id="53"/>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54" id="5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75186" y="307832"/>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2"/>
            <a:stretch>
              <a:fillRect l="0" t="-110584" r="0" b="-122957"/>
            </a:stretch>
          </a:blipFill>
        </p:spPr>
      </p:sp>
      <p:sp>
        <p:nvSpPr>
          <p:cNvPr name="Freeform 4" id="4"/>
          <p:cNvSpPr/>
          <p:nvPr/>
        </p:nvSpPr>
        <p:spPr>
          <a:xfrm flipH="false" flipV="false" rot="0">
            <a:off x="3245071" y="45177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734682" y="451779"/>
            <a:ext cx="619000" cy="722920"/>
          </a:xfrm>
          <a:custGeom>
            <a:avLst/>
            <a:gdLst/>
            <a:ahLst/>
            <a:cxnLst/>
            <a:rect r="r" b="b" t="t" l="l"/>
            <a:pathLst>
              <a:path h="722920" w="619000">
                <a:moveTo>
                  <a:pt x="0" y="0"/>
                </a:moveTo>
                <a:lnTo>
                  <a:pt x="619000" y="0"/>
                </a:lnTo>
                <a:lnTo>
                  <a:pt x="619000" y="722920"/>
                </a:lnTo>
                <a:lnTo>
                  <a:pt x="0" y="722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420107" y="397879"/>
            <a:ext cx="737863" cy="775677"/>
          </a:xfrm>
          <a:custGeom>
            <a:avLst/>
            <a:gdLst/>
            <a:ahLst/>
            <a:cxnLst/>
            <a:rect r="r" b="b" t="t" l="l"/>
            <a:pathLst>
              <a:path h="775677" w="737863">
                <a:moveTo>
                  <a:pt x="0" y="0"/>
                </a:moveTo>
                <a:lnTo>
                  <a:pt x="737862" y="0"/>
                </a:lnTo>
                <a:lnTo>
                  <a:pt x="737862" y="775677"/>
                </a:lnTo>
                <a:lnTo>
                  <a:pt x="0" y="7756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679705" y="571692"/>
            <a:ext cx="580947" cy="549259"/>
          </a:xfrm>
          <a:custGeom>
            <a:avLst/>
            <a:gdLst/>
            <a:ahLst/>
            <a:cxnLst/>
            <a:rect r="r" b="b" t="t" l="l"/>
            <a:pathLst>
              <a:path h="549259" w="580947">
                <a:moveTo>
                  <a:pt x="0" y="0"/>
                </a:moveTo>
                <a:lnTo>
                  <a:pt x="580947" y="0"/>
                </a:lnTo>
                <a:lnTo>
                  <a:pt x="580947" y="549259"/>
                </a:lnTo>
                <a:lnTo>
                  <a:pt x="0" y="549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1865273" y="2232539"/>
            <a:ext cx="7126056" cy="3444409"/>
          </a:xfrm>
          <a:custGeom>
            <a:avLst/>
            <a:gdLst/>
            <a:ahLst/>
            <a:cxnLst/>
            <a:rect r="r" b="b" t="t" l="l"/>
            <a:pathLst>
              <a:path h="3444409" w="7126056">
                <a:moveTo>
                  <a:pt x="0" y="0"/>
                </a:moveTo>
                <a:lnTo>
                  <a:pt x="7126056" y="0"/>
                </a:lnTo>
                <a:lnTo>
                  <a:pt x="7126056" y="3444410"/>
                </a:lnTo>
                <a:lnTo>
                  <a:pt x="0" y="3444410"/>
                </a:lnTo>
                <a:lnTo>
                  <a:pt x="0" y="0"/>
                </a:lnTo>
                <a:close/>
              </a:path>
            </a:pathLst>
          </a:custGeom>
          <a:blipFill>
            <a:blip r:embed="rId13"/>
            <a:stretch>
              <a:fillRect l="0" t="-24132" r="0" b="0"/>
            </a:stretch>
          </a:blipFill>
        </p:spPr>
      </p:sp>
      <p:sp>
        <p:nvSpPr>
          <p:cNvPr name="AutoShape 10" id="10"/>
          <p:cNvSpPr/>
          <p:nvPr/>
        </p:nvSpPr>
        <p:spPr>
          <a:xfrm flipV="true">
            <a:off x="-112079" y="4983183"/>
            <a:ext cx="17926004" cy="0"/>
          </a:xfrm>
          <a:prstGeom prst="line">
            <a:avLst/>
          </a:prstGeom>
          <a:ln cap="flat" w="28575">
            <a:solidFill>
              <a:srgbClr val="FFFFFF"/>
            </a:solidFill>
            <a:prstDash val="solid"/>
            <a:headEnd type="none" len="sm" w="sm"/>
            <a:tailEnd type="none" len="sm" w="sm"/>
          </a:ln>
        </p:spPr>
      </p:sp>
      <p:sp>
        <p:nvSpPr>
          <p:cNvPr name="AutoShape 11" id="11"/>
          <p:cNvSpPr/>
          <p:nvPr/>
        </p:nvSpPr>
        <p:spPr>
          <a:xfrm>
            <a:off x="75186" y="8128623"/>
            <a:ext cx="17841339" cy="0"/>
          </a:xfrm>
          <a:prstGeom prst="line">
            <a:avLst/>
          </a:prstGeom>
          <a:ln cap="flat" w="28575">
            <a:solidFill>
              <a:srgbClr val="FFFFFF"/>
            </a:solidFill>
            <a:prstDash val="solid"/>
            <a:headEnd type="none" len="sm" w="sm"/>
            <a:tailEnd type="none" len="sm" w="sm"/>
          </a:ln>
        </p:spPr>
      </p:sp>
      <p:sp>
        <p:nvSpPr>
          <p:cNvPr name="Freeform 12" id="12"/>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6822661" y="61104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4" id="14"/>
          <p:cNvGrpSpPr/>
          <p:nvPr/>
        </p:nvGrpSpPr>
        <p:grpSpPr>
          <a:xfrm rot="0">
            <a:off x="17882235" y="5939790"/>
            <a:ext cx="326708" cy="1291590"/>
            <a:chOff x="0" y="0"/>
            <a:chExt cx="435610" cy="1722120"/>
          </a:xfrm>
        </p:grpSpPr>
        <p:sp>
          <p:nvSpPr>
            <p:cNvPr name="Freeform 15" id="15"/>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16" id="16"/>
          <p:cNvGrpSpPr/>
          <p:nvPr/>
        </p:nvGrpSpPr>
        <p:grpSpPr>
          <a:xfrm rot="0">
            <a:off x="17916525" y="2520315"/>
            <a:ext cx="240983" cy="670560"/>
            <a:chOff x="0" y="0"/>
            <a:chExt cx="321310" cy="894080"/>
          </a:xfrm>
        </p:grpSpPr>
        <p:sp>
          <p:nvSpPr>
            <p:cNvPr name="Freeform 17" id="17"/>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18" id="18"/>
          <p:cNvSpPr/>
          <p:nvPr/>
        </p:nvSpPr>
        <p:spPr>
          <a:xfrm flipH="false" flipV="false" rot="0">
            <a:off x="1028700" y="2391066"/>
            <a:ext cx="4091741" cy="2301604"/>
          </a:xfrm>
          <a:custGeom>
            <a:avLst/>
            <a:gdLst/>
            <a:ahLst/>
            <a:cxnLst/>
            <a:rect r="r" b="b" t="t" l="l"/>
            <a:pathLst>
              <a:path h="2301604" w="4091741">
                <a:moveTo>
                  <a:pt x="0" y="0"/>
                </a:moveTo>
                <a:lnTo>
                  <a:pt x="4091741" y="0"/>
                </a:lnTo>
                <a:lnTo>
                  <a:pt x="4091741" y="2301605"/>
                </a:lnTo>
                <a:lnTo>
                  <a:pt x="0" y="2301605"/>
                </a:lnTo>
                <a:lnTo>
                  <a:pt x="0" y="0"/>
                </a:lnTo>
                <a:close/>
              </a:path>
            </a:pathLst>
          </a:custGeom>
          <a:blipFill>
            <a:blip r:embed="rId18"/>
            <a:stretch>
              <a:fillRect l="0" t="0" r="0" b="0"/>
            </a:stretch>
          </a:blipFill>
        </p:spPr>
      </p:sp>
      <p:sp>
        <p:nvSpPr>
          <p:cNvPr name="Freeform 19" id="19"/>
          <p:cNvSpPr/>
          <p:nvPr/>
        </p:nvSpPr>
        <p:spPr>
          <a:xfrm flipH="false" flipV="false" rot="0">
            <a:off x="4088900" y="2429166"/>
            <a:ext cx="5252625" cy="2454912"/>
          </a:xfrm>
          <a:custGeom>
            <a:avLst/>
            <a:gdLst/>
            <a:ahLst/>
            <a:cxnLst/>
            <a:rect r="r" b="b" t="t" l="l"/>
            <a:pathLst>
              <a:path h="2454912" w="5252625">
                <a:moveTo>
                  <a:pt x="0" y="0"/>
                </a:moveTo>
                <a:lnTo>
                  <a:pt x="5252624" y="0"/>
                </a:lnTo>
                <a:lnTo>
                  <a:pt x="5252624" y="2454912"/>
                </a:lnTo>
                <a:lnTo>
                  <a:pt x="0" y="2454912"/>
                </a:lnTo>
                <a:lnTo>
                  <a:pt x="0" y="0"/>
                </a:lnTo>
                <a:close/>
              </a:path>
            </a:pathLst>
          </a:custGeom>
          <a:blipFill>
            <a:blip r:embed="rId19"/>
            <a:stretch>
              <a:fillRect l="0" t="-20354" r="0" b="0"/>
            </a:stretch>
          </a:blipFill>
        </p:spPr>
      </p:sp>
      <p:sp>
        <p:nvSpPr>
          <p:cNvPr name="Freeform 20" id="20"/>
          <p:cNvSpPr/>
          <p:nvPr/>
        </p:nvSpPr>
        <p:spPr>
          <a:xfrm flipH="false" flipV="false" rot="0">
            <a:off x="9144000" y="2595638"/>
            <a:ext cx="4439320" cy="1657603"/>
          </a:xfrm>
          <a:custGeom>
            <a:avLst/>
            <a:gdLst/>
            <a:ahLst/>
            <a:cxnLst/>
            <a:rect r="r" b="b" t="t" l="l"/>
            <a:pathLst>
              <a:path h="1657603" w="4439320">
                <a:moveTo>
                  <a:pt x="0" y="0"/>
                </a:moveTo>
                <a:lnTo>
                  <a:pt x="4439320" y="0"/>
                </a:lnTo>
                <a:lnTo>
                  <a:pt x="4439320" y="1657603"/>
                </a:lnTo>
                <a:lnTo>
                  <a:pt x="0" y="1657603"/>
                </a:lnTo>
                <a:lnTo>
                  <a:pt x="0" y="0"/>
                </a:lnTo>
                <a:close/>
              </a:path>
            </a:pathLst>
          </a:custGeom>
          <a:blipFill>
            <a:blip r:embed="rId20"/>
            <a:stretch>
              <a:fillRect l="0" t="-82138" r="0" b="-85677"/>
            </a:stretch>
          </a:blipFill>
        </p:spPr>
      </p:sp>
      <p:sp>
        <p:nvSpPr>
          <p:cNvPr name="Freeform 21" id="21"/>
          <p:cNvSpPr/>
          <p:nvPr/>
        </p:nvSpPr>
        <p:spPr>
          <a:xfrm flipH="false" flipV="false" rot="0">
            <a:off x="4769223" y="5312902"/>
            <a:ext cx="3891979" cy="2486002"/>
          </a:xfrm>
          <a:custGeom>
            <a:avLst/>
            <a:gdLst/>
            <a:ahLst/>
            <a:cxnLst/>
            <a:rect r="r" b="b" t="t" l="l"/>
            <a:pathLst>
              <a:path h="2486002" w="3891979">
                <a:moveTo>
                  <a:pt x="0" y="0"/>
                </a:moveTo>
                <a:lnTo>
                  <a:pt x="3891979" y="0"/>
                </a:lnTo>
                <a:lnTo>
                  <a:pt x="3891979" y="2486002"/>
                </a:lnTo>
                <a:lnTo>
                  <a:pt x="0" y="2486002"/>
                </a:lnTo>
                <a:lnTo>
                  <a:pt x="0" y="0"/>
                </a:lnTo>
                <a:close/>
              </a:path>
            </a:pathLst>
          </a:custGeom>
          <a:blipFill>
            <a:blip r:embed="rId21"/>
            <a:stretch>
              <a:fillRect l="0" t="0" r="0" b="0"/>
            </a:stretch>
          </a:blipFill>
        </p:spPr>
      </p:sp>
      <p:sp>
        <p:nvSpPr>
          <p:cNvPr name="Freeform 22" id="22"/>
          <p:cNvSpPr/>
          <p:nvPr/>
        </p:nvSpPr>
        <p:spPr>
          <a:xfrm flipH="false" flipV="false" rot="0">
            <a:off x="939651" y="5676949"/>
            <a:ext cx="3305714" cy="1859464"/>
          </a:xfrm>
          <a:custGeom>
            <a:avLst/>
            <a:gdLst/>
            <a:ahLst/>
            <a:cxnLst/>
            <a:rect r="r" b="b" t="t" l="l"/>
            <a:pathLst>
              <a:path h="1859464" w="3305714">
                <a:moveTo>
                  <a:pt x="0" y="0"/>
                </a:moveTo>
                <a:lnTo>
                  <a:pt x="3305714" y="0"/>
                </a:lnTo>
                <a:lnTo>
                  <a:pt x="3305714" y="1859464"/>
                </a:lnTo>
                <a:lnTo>
                  <a:pt x="0" y="1859464"/>
                </a:lnTo>
                <a:lnTo>
                  <a:pt x="0" y="0"/>
                </a:lnTo>
                <a:close/>
              </a:path>
            </a:pathLst>
          </a:custGeom>
          <a:blipFill>
            <a:blip r:embed="rId22"/>
            <a:stretch>
              <a:fillRect l="0" t="0" r="0" b="0"/>
            </a:stretch>
          </a:blipFill>
        </p:spPr>
      </p:sp>
      <p:sp>
        <p:nvSpPr>
          <p:cNvPr name="Freeform 23" id="23"/>
          <p:cNvSpPr/>
          <p:nvPr/>
        </p:nvSpPr>
        <p:spPr>
          <a:xfrm flipH="false" flipV="false" rot="0">
            <a:off x="10229128" y="5698045"/>
            <a:ext cx="1834889" cy="1817272"/>
          </a:xfrm>
          <a:custGeom>
            <a:avLst/>
            <a:gdLst/>
            <a:ahLst/>
            <a:cxnLst/>
            <a:rect r="r" b="b" t="t" l="l"/>
            <a:pathLst>
              <a:path h="1817272" w="1834889">
                <a:moveTo>
                  <a:pt x="0" y="0"/>
                </a:moveTo>
                <a:lnTo>
                  <a:pt x="1834889" y="0"/>
                </a:lnTo>
                <a:lnTo>
                  <a:pt x="1834889" y="1817272"/>
                </a:lnTo>
                <a:lnTo>
                  <a:pt x="0" y="1817272"/>
                </a:lnTo>
                <a:lnTo>
                  <a:pt x="0" y="0"/>
                </a:lnTo>
                <a:close/>
              </a:path>
            </a:pathLst>
          </a:custGeom>
          <a:blipFill>
            <a:blip r:embed="rId23"/>
            <a:stretch>
              <a:fillRect l="0" t="0" r="-199422" b="0"/>
            </a:stretch>
          </a:blipFill>
        </p:spPr>
      </p:sp>
      <p:sp>
        <p:nvSpPr>
          <p:cNvPr name="Freeform 24" id="24"/>
          <p:cNvSpPr/>
          <p:nvPr/>
        </p:nvSpPr>
        <p:spPr>
          <a:xfrm flipH="false" flipV="false" rot="0">
            <a:off x="13635642" y="5627432"/>
            <a:ext cx="3465034" cy="1958498"/>
          </a:xfrm>
          <a:custGeom>
            <a:avLst/>
            <a:gdLst/>
            <a:ahLst/>
            <a:cxnLst/>
            <a:rect r="r" b="b" t="t" l="l"/>
            <a:pathLst>
              <a:path h="1958498" w="3465034">
                <a:moveTo>
                  <a:pt x="0" y="0"/>
                </a:moveTo>
                <a:lnTo>
                  <a:pt x="3465035" y="0"/>
                </a:lnTo>
                <a:lnTo>
                  <a:pt x="3465035" y="1958498"/>
                </a:lnTo>
                <a:lnTo>
                  <a:pt x="0" y="1958498"/>
                </a:lnTo>
                <a:lnTo>
                  <a:pt x="0" y="0"/>
                </a:lnTo>
                <a:close/>
              </a:path>
            </a:pathLst>
          </a:custGeom>
          <a:blipFill>
            <a:blip r:embed="rId24"/>
            <a:stretch>
              <a:fillRect l="0" t="0" r="0" b="0"/>
            </a:stretch>
          </a:blipFill>
        </p:spPr>
      </p:sp>
      <p:sp>
        <p:nvSpPr>
          <p:cNvPr name="TextBox 25" id="25"/>
          <p:cNvSpPr txBox="true"/>
          <p:nvPr/>
        </p:nvSpPr>
        <p:spPr>
          <a:xfrm rot="0">
            <a:off x="15552126"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26" id="26"/>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27" id="27"/>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28" id="28"/>
          <p:cNvSpPr txBox="true"/>
          <p:nvPr/>
        </p:nvSpPr>
        <p:spPr>
          <a:xfrm rot="0">
            <a:off x="8486711" y="604887"/>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29" id="29"/>
          <p:cNvSpPr txBox="true"/>
          <p:nvPr/>
        </p:nvSpPr>
        <p:spPr>
          <a:xfrm rot="0">
            <a:off x="10585217" y="582465"/>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30" id="30"/>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31" id="31"/>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32" id="32"/>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33" id="33"/>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34" id="34"/>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35" id="35"/>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36" id="36"/>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37" id="37"/>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38" id="38"/>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39" id="39"/>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40" id="4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423148" y="3473431"/>
            <a:ext cx="1889089" cy="397184"/>
          </a:xfrm>
          <a:custGeom>
            <a:avLst/>
            <a:gdLst/>
            <a:ahLst/>
            <a:cxnLst/>
            <a:rect r="r" b="b" t="t" l="l"/>
            <a:pathLst>
              <a:path h="397184" w="1889089">
                <a:moveTo>
                  <a:pt x="0" y="0"/>
                </a:moveTo>
                <a:lnTo>
                  <a:pt x="1889088" y="0"/>
                </a:lnTo>
                <a:lnTo>
                  <a:pt x="1889088" y="397184"/>
                </a:lnTo>
                <a:lnTo>
                  <a:pt x="0" y="397184"/>
                </a:lnTo>
                <a:lnTo>
                  <a:pt x="0" y="0"/>
                </a:lnTo>
                <a:close/>
              </a:path>
            </a:pathLst>
          </a:custGeom>
          <a:blipFill>
            <a:blip r:embed="rId2"/>
            <a:stretch>
              <a:fillRect l="-5333" t="-225029" r="-2820" b="-189372"/>
            </a:stretch>
          </a:blipFill>
        </p:spPr>
      </p:sp>
      <p:sp>
        <p:nvSpPr>
          <p:cNvPr name="Freeform 3" id="3"/>
          <p:cNvSpPr/>
          <p:nvPr/>
        </p:nvSpPr>
        <p:spPr>
          <a:xfrm flipH="false" flipV="false" rot="0">
            <a:off x="17461872" y="3789346"/>
            <a:ext cx="395153" cy="390214"/>
          </a:xfrm>
          <a:custGeom>
            <a:avLst/>
            <a:gdLst/>
            <a:ahLst/>
            <a:cxnLst/>
            <a:rect r="r" b="b" t="t" l="l"/>
            <a:pathLst>
              <a:path h="390214" w="395153">
                <a:moveTo>
                  <a:pt x="0" y="0"/>
                </a:moveTo>
                <a:lnTo>
                  <a:pt x="395154" y="0"/>
                </a:lnTo>
                <a:lnTo>
                  <a:pt x="395154" y="390214"/>
                </a:lnTo>
                <a:lnTo>
                  <a:pt x="0" y="390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6158754" y="4065845"/>
            <a:ext cx="1175811" cy="0"/>
          </a:xfrm>
          <a:prstGeom prst="line">
            <a:avLst/>
          </a:prstGeom>
          <a:ln cap="flat" w="28575">
            <a:solidFill>
              <a:srgbClr val="FFFFFF"/>
            </a:solidFill>
            <a:prstDash val="solid"/>
            <a:headEnd type="none" len="sm" w="sm"/>
            <a:tailEnd type="none" len="sm" w="sm"/>
          </a:ln>
        </p:spPr>
      </p:sp>
      <p:sp>
        <p:nvSpPr>
          <p:cNvPr name="AutoShape 5" id="5"/>
          <p:cNvSpPr/>
          <p:nvPr/>
        </p:nvSpPr>
        <p:spPr>
          <a:xfrm>
            <a:off x="13703485" y="4081550"/>
            <a:ext cx="1435789" cy="0"/>
          </a:xfrm>
          <a:prstGeom prst="line">
            <a:avLst/>
          </a:prstGeom>
          <a:ln cap="flat" w="28575">
            <a:solidFill>
              <a:srgbClr val="FFFFFF"/>
            </a:solidFill>
            <a:prstDash val="solid"/>
            <a:headEnd type="none" len="sm" w="sm"/>
            <a:tailEnd type="none" len="sm" w="sm"/>
          </a:ln>
        </p:spPr>
      </p:sp>
      <p:sp>
        <p:nvSpPr>
          <p:cNvPr name="Freeform 6" id="6"/>
          <p:cNvSpPr/>
          <p:nvPr/>
        </p:nvSpPr>
        <p:spPr>
          <a:xfrm flipH="false" flipV="false" rot="0">
            <a:off x="13856533" y="2693972"/>
            <a:ext cx="457027" cy="432098"/>
          </a:xfrm>
          <a:custGeom>
            <a:avLst/>
            <a:gdLst/>
            <a:ahLst/>
            <a:cxnLst/>
            <a:rect r="r" b="b" t="t" l="l"/>
            <a:pathLst>
              <a:path h="432098" w="457027">
                <a:moveTo>
                  <a:pt x="0" y="0"/>
                </a:moveTo>
                <a:lnTo>
                  <a:pt x="457027" y="0"/>
                </a:lnTo>
                <a:lnTo>
                  <a:pt x="457027" y="432098"/>
                </a:lnTo>
                <a:lnTo>
                  <a:pt x="0" y="4320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423148" y="6469070"/>
            <a:ext cx="3353328" cy="792224"/>
          </a:xfrm>
          <a:custGeom>
            <a:avLst/>
            <a:gdLst/>
            <a:ahLst/>
            <a:cxnLst/>
            <a:rect r="r" b="b" t="t" l="l"/>
            <a:pathLst>
              <a:path h="792224" w="3353328">
                <a:moveTo>
                  <a:pt x="0" y="0"/>
                </a:moveTo>
                <a:lnTo>
                  <a:pt x="3353328" y="0"/>
                </a:lnTo>
                <a:lnTo>
                  <a:pt x="3353328" y="792223"/>
                </a:lnTo>
                <a:lnTo>
                  <a:pt x="0" y="7922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4621541" y="2540529"/>
            <a:ext cx="491850" cy="674017"/>
          </a:xfrm>
          <a:custGeom>
            <a:avLst/>
            <a:gdLst/>
            <a:ahLst/>
            <a:cxnLst/>
            <a:rect r="r" b="b" t="t" l="l"/>
            <a:pathLst>
              <a:path h="674017" w="491850">
                <a:moveTo>
                  <a:pt x="0" y="0"/>
                </a:moveTo>
                <a:lnTo>
                  <a:pt x="491850" y="0"/>
                </a:lnTo>
                <a:lnTo>
                  <a:pt x="491850" y="674017"/>
                </a:lnTo>
                <a:lnTo>
                  <a:pt x="0" y="674017"/>
                </a:lnTo>
                <a:lnTo>
                  <a:pt x="0" y="0"/>
                </a:lnTo>
                <a:close/>
              </a:path>
            </a:pathLst>
          </a:custGeom>
          <a:blipFill>
            <a:blip r:embed="rId9"/>
            <a:stretch>
              <a:fillRect l="0" t="0" r="0" b="0"/>
            </a:stretch>
          </a:blipFill>
        </p:spPr>
      </p:sp>
      <p:sp>
        <p:nvSpPr>
          <p:cNvPr name="Freeform 9" id="9"/>
          <p:cNvSpPr/>
          <p:nvPr/>
        </p:nvSpPr>
        <p:spPr>
          <a:xfrm flipH="false" flipV="false" rot="0">
            <a:off x="9464325" y="5565702"/>
            <a:ext cx="684292" cy="684292"/>
          </a:xfrm>
          <a:custGeom>
            <a:avLst/>
            <a:gdLst/>
            <a:ahLst/>
            <a:cxnLst/>
            <a:rect r="r" b="b" t="t" l="l"/>
            <a:pathLst>
              <a:path h="684292" w="684292">
                <a:moveTo>
                  <a:pt x="0" y="0"/>
                </a:moveTo>
                <a:lnTo>
                  <a:pt x="684292" y="0"/>
                </a:lnTo>
                <a:lnTo>
                  <a:pt x="684292" y="684293"/>
                </a:lnTo>
                <a:lnTo>
                  <a:pt x="0" y="6842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294250" y="5565702"/>
            <a:ext cx="684292" cy="684292"/>
          </a:xfrm>
          <a:custGeom>
            <a:avLst/>
            <a:gdLst/>
            <a:ahLst/>
            <a:cxnLst/>
            <a:rect r="r" b="b" t="t" l="l"/>
            <a:pathLst>
              <a:path h="684292" w="684292">
                <a:moveTo>
                  <a:pt x="0" y="0"/>
                </a:moveTo>
                <a:lnTo>
                  <a:pt x="684292" y="0"/>
                </a:lnTo>
                <a:lnTo>
                  <a:pt x="684292" y="684293"/>
                </a:lnTo>
                <a:lnTo>
                  <a:pt x="0" y="6842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121417" y="5549710"/>
            <a:ext cx="684292" cy="684292"/>
          </a:xfrm>
          <a:custGeom>
            <a:avLst/>
            <a:gdLst/>
            <a:ahLst/>
            <a:cxnLst/>
            <a:rect r="r" b="b" t="t" l="l"/>
            <a:pathLst>
              <a:path h="684292" w="684292">
                <a:moveTo>
                  <a:pt x="0" y="0"/>
                </a:moveTo>
                <a:lnTo>
                  <a:pt x="684293" y="0"/>
                </a:lnTo>
                <a:lnTo>
                  <a:pt x="684293" y="684292"/>
                </a:lnTo>
                <a:lnTo>
                  <a:pt x="0" y="6842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1949019" y="5565702"/>
            <a:ext cx="684292" cy="684292"/>
          </a:xfrm>
          <a:custGeom>
            <a:avLst/>
            <a:gdLst/>
            <a:ahLst/>
            <a:cxnLst/>
            <a:rect r="r" b="b" t="t" l="l"/>
            <a:pathLst>
              <a:path h="684292" w="684292">
                <a:moveTo>
                  <a:pt x="0" y="0"/>
                </a:moveTo>
                <a:lnTo>
                  <a:pt x="684292" y="0"/>
                </a:lnTo>
                <a:lnTo>
                  <a:pt x="684292" y="684293"/>
                </a:lnTo>
                <a:lnTo>
                  <a:pt x="0" y="6842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9463322" y="7508943"/>
            <a:ext cx="3353328" cy="792224"/>
          </a:xfrm>
          <a:custGeom>
            <a:avLst/>
            <a:gdLst/>
            <a:ahLst/>
            <a:cxnLst/>
            <a:rect r="r" b="b" t="t" l="l"/>
            <a:pathLst>
              <a:path h="792224" w="3353328">
                <a:moveTo>
                  <a:pt x="0" y="0"/>
                </a:moveTo>
                <a:lnTo>
                  <a:pt x="3353329" y="0"/>
                </a:lnTo>
                <a:lnTo>
                  <a:pt x="3353329" y="792224"/>
                </a:lnTo>
                <a:lnTo>
                  <a:pt x="0" y="79222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AutoShape 14" id="14"/>
          <p:cNvSpPr/>
          <p:nvPr/>
        </p:nvSpPr>
        <p:spPr>
          <a:xfrm>
            <a:off x="-768684" y="1908159"/>
            <a:ext cx="19393406" cy="0"/>
          </a:xfrm>
          <a:prstGeom prst="line">
            <a:avLst/>
          </a:prstGeom>
          <a:ln cap="flat" w="28575">
            <a:solidFill>
              <a:srgbClr val="FFFFFF"/>
            </a:solidFill>
            <a:prstDash val="solid"/>
            <a:headEnd type="none" len="sm" w="sm"/>
            <a:tailEnd type="none" len="sm" w="sm"/>
          </a:ln>
        </p:spPr>
      </p:sp>
      <p:sp>
        <p:nvSpPr>
          <p:cNvPr name="Freeform 15" id="15"/>
          <p:cNvSpPr/>
          <p:nvPr/>
        </p:nvSpPr>
        <p:spPr>
          <a:xfrm flipH="false" flipV="false" rot="0">
            <a:off x="86356" y="345275"/>
            <a:ext cx="3045880" cy="913192"/>
          </a:xfrm>
          <a:custGeom>
            <a:avLst/>
            <a:gdLst/>
            <a:ahLst/>
            <a:cxnLst/>
            <a:rect r="r" b="b" t="t" l="l"/>
            <a:pathLst>
              <a:path h="913192" w="3045880">
                <a:moveTo>
                  <a:pt x="0" y="0"/>
                </a:moveTo>
                <a:lnTo>
                  <a:pt x="3045880" y="0"/>
                </a:lnTo>
                <a:lnTo>
                  <a:pt x="3045880" y="913192"/>
                </a:lnTo>
                <a:lnTo>
                  <a:pt x="0" y="913192"/>
                </a:lnTo>
                <a:lnTo>
                  <a:pt x="0" y="0"/>
                </a:lnTo>
                <a:close/>
              </a:path>
            </a:pathLst>
          </a:custGeom>
          <a:blipFill>
            <a:blip r:embed="rId14"/>
            <a:stretch>
              <a:fillRect l="0" t="-110584" r="0" b="-122957"/>
            </a:stretch>
          </a:blipFill>
        </p:spPr>
      </p:sp>
      <p:sp>
        <p:nvSpPr>
          <p:cNvPr name="Freeform 16" id="16"/>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1" id="21"/>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2" id="22"/>
          <p:cNvSpPr/>
          <p:nvPr/>
        </p:nvSpPr>
        <p:spPr>
          <a:xfrm flipH="false" flipV="false" rot="0">
            <a:off x="15263099" y="3764058"/>
            <a:ext cx="366490" cy="366490"/>
          </a:xfrm>
          <a:custGeom>
            <a:avLst/>
            <a:gdLst/>
            <a:ahLst/>
            <a:cxnLst/>
            <a:rect r="r" b="b" t="t" l="l"/>
            <a:pathLst>
              <a:path h="366490" w="366490">
                <a:moveTo>
                  <a:pt x="0" y="0"/>
                </a:moveTo>
                <a:lnTo>
                  <a:pt x="366491" y="0"/>
                </a:lnTo>
                <a:lnTo>
                  <a:pt x="366491" y="366490"/>
                </a:lnTo>
                <a:lnTo>
                  <a:pt x="0" y="36649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23" id="23"/>
          <p:cNvSpPr/>
          <p:nvPr/>
        </p:nvSpPr>
        <p:spPr>
          <a:xfrm flipH="false" flipV="false" rot="0">
            <a:off x="3314317" y="3242586"/>
            <a:ext cx="5302750" cy="5302750"/>
          </a:xfrm>
          <a:custGeom>
            <a:avLst/>
            <a:gdLst/>
            <a:ahLst/>
            <a:cxnLst/>
            <a:rect r="r" b="b" t="t" l="l"/>
            <a:pathLst>
              <a:path h="5302750" w="5302750">
                <a:moveTo>
                  <a:pt x="0" y="0"/>
                </a:moveTo>
                <a:lnTo>
                  <a:pt x="5302750" y="0"/>
                </a:lnTo>
                <a:lnTo>
                  <a:pt x="5302750" y="5302750"/>
                </a:lnTo>
                <a:lnTo>
                  <a:pt x="0" y="5302750"/>
                </a:lnTo>
                <a:lnTo>
                  <a:pt x="0" y="0"/>
                </a:lnTo>
                <a:close/>
              </a:path>
            </a:pathLst>
          </a:custGeom>
          <a:blipFill>
            <a:blip r:embed="rId29"/>
            <a:stretch>
              <a:fillRect l="0" t="0" r="0" b="0"/>
            </a:stretch>
          </a:blipFill>
        </p:spPr>
      </p:sp>
      <p:sp>
        <p:nvSpPr>
          <p:cNvPr name="Freeform 24" id="24"/>
          <p:cNvSpPr/>
          <p:nvPr/>
        </p:nvSpPr>
        <p:spPr>
          <a:xfrm flipH="false" flipV="false" rot="0">
            <a:off x="1382786" y="3307148"/>
            <a:ext cx="1354610" cy="1354610"/>
          </a:xfrm>
          <a:custGeom>
            <a:avLst/>
            <a:gdLst/>
            <a:ahLst/>
            <a:cxnLst/>
            <a:rect r="r" b="b" t="t" l="l"/>
            <a:pathLst>
              <a:path h="1354610" w="1354610">
                <a:moveTo>
                  <a:pt x="0" y="0"/>
                </a:moveTo>
                <a:lnTo>
                  <a:pt x="1354609" y="0"/>
                </a:lnTo>
                <a:lnTo>
                  <a:pt x="1354609" y="1354610"/>
                </a:lnTo>
                <a:lnTo>
                  <a:pt x="0" y="1354610"/>
                </a:lnTo>
                <a:lnTo>
                  <a:pt x="0" y="0"/>
                </a:lnTo>
                <a:close/>
              </a:path>
            </a:pathLst>
          </a:custGeom>
          <a:blipFill>
            <a:blip r:embed="rId30"/>
            <a:stretch>
              <a:fillRect l="0" t="0" r="0" b="0"/>
            </a:stretch>
          </a:blipFill>
        </p:spPr>
      </p:sp>
      <p:sp>
        <p:nvSpPr>
          <p:cNvPr name="Freeform 25" id="25"/>
          <p:cNvSpPr/>
          <p:nvPr/>
        </p:nvSpPr>
        <p:spPr>
          <a:xfrm flipH="false" flipV="false" rot="0">
            <a:off x="1382786" y="4872405"/>
            <a:ext cx="1354610" cy="1354610"/>
          </a:xfrm>
          <a:custGeom>
            <a:avLst/>
            <a:gdLst/>
            <a:ahLst/>
            <a:cxnLst/>
            <a:rect r="r" b="b" t="t" l="l"/>
            <a:pathLst>
              <a:path h="1354610" w="1354610">
                <a:moveTo>
                  <a:pt x="0" y="0"/>
                </a:moveTo>
                <a:lnTo>
                  <a:pt x="1354609" y="0"/>
                </a:lnTo>
                <a:lnTo>
                  <a:pt x="1354609" y="1354610"/>
                </a:lnTo>
                <a:lnTo>
                  <a:pt x="0" y="1354610"/>
                </a:lnTo>
                <a:lnTo>
                  <a:pt x="0" y="0"/>
                </a:lnTo>
                <a:close/>
              </a:path>
            </a:pathLst>
          </a:custGeom>
          <a:blipFill>
            <a:blip r:embed="rId31"/>
            <a:stretch>
              <a:fillRect l="0" t="0" r="0" b="0"/>
            </a:stretch>
          </a:blipFill>
        </p:spPr>
      </p:sp>
      <p:sp>
        <p:nvSpPr>
          <p:cNvPr name="Freeform 26" id="26"/>
          <p:cNvSpPr/>
          <p:nvPr/>
        </p:nvSpPr>
        <p:spPr>
          <a:xfrm flipH="false" flipV="false" rot="0">
            <a:off x="1382786" y="6460039"/>
            <a:ext cx="1354610" cy="1354610"/>
          </a:xfrm>
          <a:custGeom>
            <a:avLst/>
            <a:gdLst/>
            <a:ahLst/>
            <a:cxnLst/>
            <a:rect r="r" b="b" t="t" l="l"/>
            <a:pathLst>
              <a:path h="1354610" w="1354610">
                <a:moveTo>
                  <a:pt x="0" y="0"/>
                </a:moveTo>
                <a:lnTo>
                  <a:pt x="1354609" y="0"/>
                </a:lnTo>
                <a:lnTo>
                  <a:pt x="1354609" y="1354610"/>
                </a:lnTo>
                <a:lnTo>
                  <a:pt x="0" y="1354610"/>
                </a:lnTo>
                <a:lnTo>
                  <a:pt x="0" y="0"/>
                </a:lnTo>
                <a:close/>
              </a:path>
            </a:pathLst>
          </a:custGeom>
          <a:blipFill>
            <a:blip r:embed="rId32"/>
            <a:stretch>
              <a:fillRect l="0" t="0" r="0" b="0"/>
            </a:stretch>
          </a:blipFill>
        </p:spPr>
      </p:sp>
      <p:sp>
        <p:nvSpPr>
          <p:cNvPr name="TextBox 27" id="27"/>
          <p:cNvSpPr txBox="true"/>
          <p:nvPr/>
        </p:nvSpPr>
        <p:spPr>
          <a:xfrm rot="0">
            <a:off x="9463322" y="4165890"/>
            <a:ext cx="4971393" cy="586631"/>
          </a:xfrm>
          <a:prstGeom prst="rect">
            <a:avLst/>
          </a:prstGeom>
        </p:spPr>
        <p:txBody>
          <a:bodyPr anchor="t" rtlCol="false" tIns="0" lIns="0" bIns="0" rIns="0">
            <a:spAutoFit/>
          </a:bodyPr>
          <a:lstStyle/>
          <a:p>
            <a:pPr algn="just">
              <a:lnSpc>
                <a:spcPts val="2335"/>
              </a:lnSpc>
            </a:pPr>
            <a:r>
              <a:rPr lang="en-US" b="true" sz="2312" i="true" spc="-134">
                <a:solidFill>
                  <a:srgbClr val="B43E34"/>
                </a:solidFill>
                <a:latin typeface="Open Sauce Bold Italics"/>
                <a:ea typeface="Open Sauce Bold Italics"/>
                <a:cs typeface="Open Sauce Bold Italics"/>
                <a:sym typeface="Open Sauce Bold Italics"/>
              </a:rPr>
              <a:t>R$ 235,99no Pix</a:t>
            </a:r>
          </a:p>
          <a:p>
            <a:pPr algn="just">
              <a:lnSpc>
                <a:spcPts val="2335"/>
              </a:lnSpc>
            </a:pPr>
            <a:r>
              <a:rPr lang="en-US" b="true" sz="2312" spc="-134">
                <a:solidFill>
                  <a:srgbClr val="FFFFFF"/>
                </a:solidFill>
                <a:latin typeface="Open Sauce Bold"/>
                <a:ea typeface="Open Sauce Bold"/>
                <a:cs typeface="Open Sauce Bold"/>
                <a:sym typeface="Open Sauce Bold"/>
              </a:rPr>
              <a:t>ou 221,10 </a:t>
            </a:r>
            <a:r>
              <a:rPr lang="en-US" b="true" sz="2312" spc="-134">
                <a:solidFill>
                  <a:srgbClr val="D7D6D8"/>
                </a:solidFill>
                <a:latin typeface="Open Sauce Bold"/>
                <a:ea typeface="Open Sauce Bold"/>
                <a:cs typeface="Open Sauce Bold"/>
                <a:sym typeface="Open Sauce Bold"/>
              </a:rPr>
              <a:t>4x</a:t>
            </a:r>
            <a:r>
              <a:rPr lang="en-US" b="true" sz="2312" spc="-134">
                <a:solidFill>
                  <a:srgbClr val="B43E34"/>
                </a:solidFill>
                <a:latin typeface="Open Sauce Bold"/>
                <a:ea typeface="Open Sauce Bold"/>
                <a:cs typeface="Open Sauce Bold"/>
                <a:sym typeface="Open Sauce Bold"/>
              </a:rPr>
              <a:t> </a:t>
            </a:r>
            <a:r>
              <a:rPr lang="en-US" b="true" sz="2312" spc="-134">
                <a:solidFill>
                  <a:srgbClr val="FFFFFF"/>
                </a:solidFill>
                <a:latin typeface="Open Sauce Bold"/>
                <a:ea typeface="Open Sauce Bold"/>
                <a:cs typeface="Open Sauce Bold"/>
                <a:sym typeface="Open Sauce Bold"/>
              </a:rPr>
              <a:t>de </a:t>
            </a:r>
            <a:r>
              <a:rPr lang="en-US" b="true" sz="2312" spc="-134">
                <a:solidFill>
                  <a:srgbClr val="B43E34"/>
                </a:solidFill>
                <a:latin typeface="Open Sauce Bold"/>
                <a:ea typeface="Open Sauce Bold"/>
                <a:cs typeface="Open Sauce Bold"/>
                <a:sym typeface="Open Sauce Bold"/>
              </a:rPr>
              <a:t>R$ 55,27</a:t>
            </a:r>
            <a:r>
              <a:rPr lang="en-US" b="true" sz="2312" spc="-134">
                <a:solidFill>
                  <a:srgbClr val="FFFFFF"/>
                </a:solidFill>
                <a:latin typeface="Open Sauce Bold"/>
                <a:ea typeface="Open Sauce Bold"/>
                <a:cs typeface="Open Sauce Bold"/>
                <a:sym typeface="Open Sauce Bold"/>
              </a:rPr>
              <a:t> sem juros</a:t>
            </a:r>
          </a:p>
        </p:txBody>
      </p:sp>
      <p:sp>
        <p:nvSpPr>
          <p:cNvPr name="TextBox 28" id="28"/>
          <p:cNvSpPr txBox="true"/>
          <p:nvPr/>
        </p:nvSpPr>
        <p:spPr>
          <a:xfrm rot="0">
            <a:off x="9463322" y="2705188"/>
            <a:ext cx="3946767" cy="493144"/>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Tênis Puma Carina BDP - Feminino</a:t>
            </a:r>
          </a:p>
          <a:p>
            <a:pPr algn="just">
              <a:lnSpc>
                <a:spcPts val="1903"/>
              </a:lnSpc>
            </a:pPr>
          </a:p>
        </p:txBody>
      </p:sp>
      <p:sp>
        <p:nvSpPr>
          <p:cNvPr name="TextBox 29" id="29"/>
          <p:cNvSpPr txBox="true"/>
          <p:nvPr/>
        </p:nvSpPr>
        <p:spPr>
          <a:xfrm rot="0">
            <a:off x="9374617" y="5181600"/>
            <a:ext cx="4596834" cy="290418"/>
          </a:xfrm>
          <a:prstGeom prst="rect">
            <a:avLst/>
          </a:prstGeom>
        </p:spPr>
        <p:txBody>
          <a:bodyPr anchor="t" rtlCol="false" tIns="0" lIns="0" bIns="0" rIns="0">
            <a:spAutoFit/>
          </a:bodyPr>
          <a:lstStyle/>
          <a:p>
            <a:pPr algn="just">
              <a:lnSpc>
                <a:spcPts val="2216"/>
              </a:lnSpc>
            </a:pPr>
            <a:r>
              <a:rPr lang="en-US" sz="2194" spc="-127">
                <a:solidFill>
                  <a:srgbClr val="FFFFFF"/>
                </a:solidFill>
                <a:latin typeface="Open Sauce"/>
                <a:ea typeface="Open Sauce"/>
                <a:cs typeface="Open Sauce"/>
                <a:sym typeface="Open Sauce"/>
              </a:rPr>
              <a:t>Tamanho do produto:</a:t>
            </a:r>
          </a:p>
        </p:txBody>
      </p:sp>
      <p:sp>
        <p:nvSpPr>
          <p:cNvPr name="TextBox 30" id="30"/>
          <p:cNvSpPr txBox="true"/>
          <p:nvPr/>
        </p:nvSpPr>
        <p:spPr>
          <a:xfrm rot="0">
            <a:off x="10590668" y="3435331"/>
            <a:ext cx="1872803" cy="339357"/>
          </a:xfrm>
          <a:prstGeom prst="rect">
            <a:avLst/>
          </a:prstGeom>
        </p:spPr>
        <p:txBody>
          <a:bodyPr anchor="t" rtlCol="false" tIns="0" lIns="0" bIns="0" rIns="0">
            <a:spAutoFit/>
          </a:bodyPr>
          <a:lstStyle/>
          <a:p>
            <a:pPr algn="ctr" marL="0" indent="0" lvl="0">
              <a:lnSpc>
                <a:spcPts val="2820"/>
              </a:lnSpc>
              <a:spcBef>
                <a:spcPct val="0"/>
              </a:spcBef>
            </a:pPr>
            <a:r>
              <a:rPr lang="en-US" sz="2014">
                <a:solidFill>
                  <a:srgbClr val="85131E"/>
                </a:solidFill>
                <a:latin typeface="Montserrat"/>
                <a:ea typeface="Montserrat"/>
                <a:cs typeface="Montserrat"/>
                <a:sym typeface="Montserrat"/>
              </a:rPr>
              <a:t>(70)</a:t>
            </a:r>
          </a:p>
        </p:txBody>
      </p:sp>
      <p:sp>
        <p:nvSpPr>
          <p:cNvPr name="TextBox 31" id="31"/>
          <p:cNvSpPr txBox="true"/>
          <p:nvPr/>
        </p:nvSpPr>
        <p:spPr>
          <a:xfrm rot="0">
            <a:off x="13568307" y="3812028"/>
            <a:ext cx="1731864" cy="269522"/>
          </a:xfrm>
          <a:prstGeom prst="rect">
            <a:avLst/>
          </a:prstGeom>
        </p:spPr>
        <p:txBody>
          <a:bodyPr anchor="t" rtlCol="false" tIns="0" lIns="0" bIns="0" rIns="0">
            <a:spAutoFit/>
          </a:bodyPr>
          <a:lstStyle/>
          <a:p>
            <a:pPr algn="ctr" marL="0" indent="0" lvl="0">
              <a:lnSpc>
                <a:spcPts val="2145"/>
              </a:lnSpc>
              <a:spcBef>
                <a:spcPct val="0"/>
              </a:spcBef>
            </a:pPr>
            <a:r>
              <a:rPr lang="en-US" sz="1532">
                <a:solidFill>
                  <a:srgbClr val="FFFFFF"/>
                </a:solidFill>
                <a:latin typeface="Montserrat"/>
                <a:ea typeface="Montserrat"/>
                <a:cs typeface="Montserrat"/>
                <a:sym typeface="Montserrat"/>
              </a:rPr>
              <a:t>COMPARTILHE</a:t>
            </a:r>
          </a:p>
        </p:txBody>
      </p:sp>
      <p:sp>
        <p:nvSpPr>
          <p:cNvPr name="TextBox 32" id="32"/>
          <p:cNvSpPr txBox="true"/>
          <p:nvPr/>
        </p:nvSpPr>
        <p:spPr>
          <a:xfrm rot="0">
            <a:off x="15948317" y="3843261"/>
            <a:ext cx="1596685"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COPIAR LINK</a:t>
            </a:r>
          </a:p>
        </p:txBody>
      </p:sp>
      <p:sp>
        <p:nvSpPr>
          <p:cNvPr name="TextBox 33" id="33"/>
          <p:cNvSpPr txBox="true"/>
          <p:nvPr/>
        </p:nvSpPr>
        <p:spPr>
          <a:xfrm rot="0">
            <a:off x="201830" y="2200291"/>
            <a:ext cx="1407466" cy="266772"/>
          </a:xfrm>
          <a:prstGeom prst="rect">
            <a:avLst/>
          </a:prstGeom>
        </p:spPr>
        <p:txBody>
          <a:bodyPr anchor="t" rtlCol="false" tIns="0" lIns="0" bIns="0" rIns="0">
            <a:spAutoFit/>
          </a:bodyPr>
          <a:lstStyle/>
          <a:p>
            <a:pPr algn="ctr" marL="0" indent="0" lvl="0">
              <a:lnSpc>
                <a:spcPts val="2119"/>
              </a:lnSpc>
              <a:spcBef>
                <a:spcPct val="0"/>
              </a:spcBef>
            </a:pPr>
            <a:r>
              <a:rPr lang="en-US" sz="1513">
                <a:solidFill>
                  <a:srgbClr val="FFFFFF"/>
                </a:solidFill>
                <a:latin typeface="Montserrat"/>
                <a:ea typeface="Montserrat"/>
                <a:cs typeface="Montserrat"/>
                <a:sym typeface="Montserrat"/>
              </a:rPr>
              <a:t>VESTUÁRIO</a:t>
            </a:r>
          </a:p>
        </p:txBody>
      </p:sp>
      <p:sp>
        <p:nvSpPr>
          <p:cNvPr name="TextBox 34" id="34"/>
          <p:cNvSpPr txBox="true"/>
          <p:nvPr/>
        </p:nvSpPr>
        <p:spPr>
          <a:xfrm rot="0">
            <a:off x="952690" y="220981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&gt;</a:t>
            </a:r>
          </a:p>
        </p:txBody>
      </p:sp>
      <p:sp>
        <p:nvSpPr>
          <p:cNvPr name="TextBox 35" id="35"/>
          <p:cNvSpPr txBox="true"/>
          <p:nvPr/>
        </p:nvSpPr>
        <p:spPr>
          <a:xfrm rot="0">
            <a:off x="10058192" y="6751310"/>
            <a:ext cx="1867031" cy="275367"/>
          </a:xfrm>
          <a:prstGeom prst="rect">
            <a:avLst/>
          </a:prstGeom>
        </p:spPr>
        <p:txBody>
          <a:bodyPr anchor="t" rtlCol="false" tIns="0" lIns="0" bIns="0" rIns="0">
            <a:spAutoFit/>
          </a:bodyPr>
          <a:lstStyle/>
          <a:p>
            <a:pPr algn="just">
              <a:lnSpc>
                <a:spcPts val="2179"/>
              </a:lnSpc>
            </a:pPr>
            <a:r>
              <a:rPr lang="en-US" sz="2157" spc="-125">
                <a:solidFill>
                  <a:srgbClr val="FFFFFF"/>
                </a:solidFill>
                <a:latin typeface="Open Sauce"/>
                <a:ea typeface="Open Sauce"/>
                <a:cs typeface="Open Sauce"/>
                <a:sym typeface="Open Sauce"/>
              </a:rPr>
              <a:t>Comprar agora</a:t>
            </a:r>
          </a:p>
        </p:txBody>
      </p:sp>
      <p:sp>
        <p:nvSpPr>
          <p:cNvPr name="TextBox 36" id="36"/>
          <p:cNvSpPr txBox="true"/>
          <p:nvPr/>
        </p:nvSpPr>
        <p:spPr>
          <a:xfrm rot="0">
            <a:off x="14972224" y="2742283"/>
            <a:ext cx="2302869"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AVALIAR O PRODUTO</a:t>
            </a:r>
          </a:p>
        </p:txBody>
      </p:sp>
      <p:sp>
        <p:nvSpPr>
          <p:cNvPr name="TextBox 37" id="37"/>
          <p:cNvSpPr txBox="true"/>
          <p:nvPr/>
        </p:nvSpPr>
        <p:spPr>
          <a:xfrm rot="0">
            <a:off x="9611208" y="5646462"/>
            <a:ext cx="390525"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39</a:t>
            </a:r>
          </a:p>
        </p:txBody>
      </p:sp>
      <p:sp>
        <p:nvSpPr>
          <p:cNvPr name="TextBox 38" id="38"/>
          <p:cNvSpPr txBox="true"/>
          <p:nvPr/>
        </p:nvSpPr>
        <p:spPr>
          <a:xfrm rot="0">
            <a:off x="10440633" y="5632575"/>
            <a:ext cx="390525"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40</a:t>
            </a:r>
          </a:p>
        </p:txBody>
      </p:sp>
      <p:sp>
        <p:nvSpPr>
          <p:cNvPr name="TextBox 39" id="39"/>
          <p:cNvSpPr txBox="true"/>
          <p:nvPr/>
        </p:nvSpPr>
        <p:spPr>
          <a:xfrm rot="0">
            <a:off x="11282510" y="5630470"/>
            <a:ext cx="390525"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41</a:t>
            </a:r>
          </a:p>
        </p:txBody>
      </p:sp>
      <p:sp>
        <p:nvSpPr>
          <p:cNvPr name="TextBox 40" id="40"/>
          <p:cNvSpPr txBox="true"/>
          <p:nvPr/>
        </p:nvSpPr>
        <p:spPr>
          <a:xfrm rot="0">
            <a:off x="12072080" y="5632575"/>
            <a:ext cx="390525"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42</a:t>
            </a:r>
          </a:p>
        </p:txBody>
      </p:sp>
      <p:sp>
        <p:nvSpPr>
          <p:cNvPr name="TextBox 41" id="41"/>
          <p:cNvSpPr txBox="true"/>
          <p:nvPr/>
        </p:nvSpPr>
        <p:spPr>
          <a:xfrm rot="0">
            <a:off x="9782514" y="7766118"/>
            <a:ext cx="2634596" cy="275367"/>
          </a:xfrm>
          <a:prstGeom prst="rect">
            <a:avLst/>
          </a:prstGeom>
        </p:spPr>
        <p:txBody>
          <a:bodyPr anchor="t" rtlCol="false" tIns="0" lIns="0" bIns="0" rIns="0">
            <a:spAutoFit/>
          </a:bodyPr>
          <a:lstStyle/>
          <a:p>
            <a:pPr algn="just">
              <a:lnSpc>
                <a:spcPts val="2179"/>
              </a:lnSpc>
            </a:pPr>
            <a:r>
              <a:rPr lang="en-US" sz="2157" spc="-125">
                <a:solidFill>
                  <a:srgbClr val="FFFFFF"/>
                </a:solidFill>
                <a:latin typeface="Open Sauce"/>
                <a:ea typeface="Open Sauce"/>
                <a:cs typeface="Open Sauce"/>
                <a:sym typeface="Open Sauce"/>
              </a:rPr>
              <a:t>Adicionar ao carrinho</a:t>
            </a:r>
          </a:p>
        </p:txBody>
      </p:sp>
      <p:sp>
        <p:nvSpPr>
          <p:cNvPr name="TextBox 42" id="42"/>
          <p:cNvSpPr txBox="true"/>
          <p:nvPr/>
        </p:nvSpPr>
        <p:spPr>
          <a:xfrm rot="0">
            <a:off x="1436237" y="2184977"/>
            <a:ext cx="2213660" cy="266772"/>
          </a:xfrm>
          <a:prstGeom prst="rect">
            <a:avLst/>
          </a:prstGeom>
        </p:spPr>
        <p:txBody>
          <a:bodyPr anchor="t" rtlCol="false" tIns="0" lIns="0" bIns="0" rIns="0">
            <a:spAutoFit/>
          </a:bodyPr>
          <a:lstStyle/>
          <a:p>
            <a:pPr algn="ctr" marL="0" indent="0" lvl="0">
              <a:lnSpc>
                <a:spcPts val="2119"/>
              </a:lnSpc>
              <a:spcBef>
                <a:spcPct val="0"/>
              </a:spcBef>
            </a:pPr>
            <a:r>
              <a:rPr lang="en-US" sz="1513">
                <a:solidFill>
                  <a:srgbClr val="FFFFFF"/>
                </a:solidFill>
                <a:latin typeface="Montserrat"/>
                <a:ea typeface="Montserrat"/>
                <a:cs typeface="Montserrat"/>
                <a:sym typeface="Montserrat"/>
              </a:rPr>
              <a:t>CAMISA DE TIME</a:t>
            </a:r>
          </a:p>
        </p:txBody>
      </p:sp>
      <p:sp>
        <p:nvSpPr>
          <p:cNvPr name="TextBox 43" id="43"/>
          <p:cNvSpPr txBox="true"/>
          <p:nvPr/>
        </p:nvSpPr>
        <p:spPr>
          <a:xfrm rot="0">
            <a:off x="3503175" y="2194502"/>
            <a:ext cx="239750"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&gt;</a:t>
            </a:r>
          </a:p>
        </p:txBody>
      </p:sp>
      <p:sp>
        <p:nvSpPr>
          <p:cNvPr name="TextBox 44" id="44"/>
          <p:cNvSpPr txBox="true"/>
          <p:nvPr/>
        </p:nvSpPr>
        <p:spPr>
          <a:xfrm rot="0">
            <a:off x="3283229" y="2169663"/>
            <a:ext cx="2213660" cy="266772"/>
          </a:xfrm>
          <a:prstGeom prst="rect">
            <a:avLst/>
          </a:prstGeom>
        </p:spPr>
        <p:txBody>
          <a:bodyPr anchor="t" rtlCol="false" tIns="0" lIns="0" bIns="0" rIns="0">
            <a:spAutoFit/>
          </a:bodyPr>
          <a:lstStyle/>
          <a:p>
            <a:pPr algn="ctr" marL="0" indent="0" lvl="0">
              <a:lnSpc>
                <a:spcPts val="2119"/>
              </a:lnSpc>
              <a:spcBef>
                <a:spcPct val="0"/>
              </a:spcBef>
            </a:pPr>
            <a:r>
              <a:rPr lang="en-US" sz="1513">
                <a:solidFill>
                  <a:srgbClr val="FFFFFF"/>
                </a:solidFill>
                <a:latin typeface="Montserrat"/>
                <a:ea typeface="Montserrat"/>
                <a:cs typeface="Montserrat"/>
                <a:sym typeface="Montserrat"/>
              </a:rPr>
              <a:t>MASCULINO</a:t>
            </a:r>
          </a:p>
        </p:txBody>
      </p:sp>
      <p:sp>
        <p:nvSpPr>
          <p:cNvPr name="TextBox 45" id="45"/>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46" id="46"/>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47" id="47"/>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48" id="48"/>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49" id="49"/>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50" id="50"/>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51" id="51"/>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52" id="52"/>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53" id="53"/>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54" id="54"/>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55" id="55"/>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56" id="56"/>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57" id="57"/>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58" id="58"/>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59" id="59"/>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60" id="6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423148" y="3473431"/>
            <a:ext cx="1889089" cy="397184"/>
          </a:xfrm>
          <a:custGeom>
            <a:avLst/>
            <a:gdLst/>
            <a:ahLst/>
            <a:cxnLst/>
            <a:rect r="r" b="b" t="t" l="l"/>
            <a:pathLst>
              <a:path h="397184" w="1889089">
                <a:moveTo>
                  <a:pt x="0" y="0"/>
                </a:moveTo>
                <a:lnTo>
                  <a:pt x="1889088" y="0"/>
                </a:lnTo>
                <a:lnTo>
                  <a:pt x="1889088" y="397184"/>
                </a:lnTo>
                <a:lnTo>
                  <a:pt x="0" y="397184"/>
                </a:lnTo>
                <a:lnTo>
                  <a:pt x="0" y="0"/>
                </a:lnTo>
                <a:close/>
              </a:path>
            </a:pathLst>
          </a:custGeom>
          <a:blipFill>
            <a:blip r:embed="rId2"/>
            <a:stretch>
              <a:fillRect l="-5333" t="-225029" r="-2820" b="-189372"/>
            </a:stretch>
          </a:blipFill>
        </p:spPr>
      </p:sp>
      <p:sp>
        <p:nvSpPr>
          <p:cNvPr name="Freeform 3" id="3"/>
          <p:cNvSpPr/>
          <p:nvPr/>
        </p:nvSpPr>
        <p:spPr>
          <a:xfrm flipH="false" flipV="false" rot="0">
            <a:off x="3445944" y="3150222"/>
            <a:ext cx="5191700" cy="5631706"/>
          </a:xfrm>
          <a:custGeom>
            <a:avLst/>
            <a:gdLst/>
            <a:ahLst/>
            <a:cxnLst/>
            <a:rect r="r" b="b" t="t" l="l"/>
            <a:pathLst>
              <a:path h="5631706" w="5191700">
                <a:moveTo>
                  <a:pt x="0" y="0"/>
                </a:moveTo>
                <a:lnTo>
                  <a:pt x="5191700" y="0"/>
                </a:lnTo>
                <a:lnTo>
                  <a:pt x="5191700" y="5631706"/>
                </a:lnTo>
                <a:lnTo>
                  <a:pt x="0" y="5631706"/>
                </a:lnTo>
                <a:lnTo>
                  <a:pt x="0" y="0"/>
                </a:lnTo>
                <a:close/>
              </a:path>
            </a:pathLst>
          </a:custGeom>
          <a:blipFill>
            <a:blip r:embed="rId3"/>
            <a:stretch>
              <a:fillRect l="-4237" t="0" r="-4237" b="0"/>
            </a:stretch>
          </a:blipFill>
        </p:spPr>
      </p:sp>
      <p:sp>
        <p:nvSpPr>
          <p:cNvPr name="Freeform 4" id="4"/>
          <p:cNvSpPr/>
          <p:nvPr/>
        </p:nvSpPr>
        <p:spPr>
          <a:xfrm flipH="false" flipV="false" rot="0">
            <a:off x="1436237" y="3242586"/>
            <a:ext cx="1247707" cy="1353453"/>
          </a:xfrm>
          <a:custGeom>
            <a:avLst/>
            <a:gdLst/>
            <a:ahLst/>
            <a:cxnLst/>
            <a:rect r="r" b="b" t="t" l="l"/>
            <a:pathLst>
              <a:path h="1353453" w="1247707">
                <a:moveTo>
                  <a:pt x="0" y="0"/>
                </a:moveTo>
                <a:lnTo>
                  <a:pt x="1247707" y="0"/>
                </a:lnTo>
                <a:lnTo>
                  <a:pt x="1247707" y="1353453"/>
                </a:lnTo>
                <a:lnTo>
                  <a:pt x="0" y="1353453"/>
                </a:lnTo>
                <a:lnTo>
                  <a:pt x="0" y="0"/>
                </a:lnTo>
                <a:close/>
              </a:path>
            </a:pathLst>
          </a:custGeom>
          <a:blipFill>
            <a:blip r:embed="rId3"/>
            <a:stretch>
              <a:fillRect l="-4237" t="0" r="-4237" b="0"/>
            </a:stretch>
          </a:blipFill>
        </p:spPr>
      </p:sp>
      <p:sp>
        <p:nvSpPr>
          <p:cNvPr name="Freeform 5" id="5"/>
          <p:cNvSpPr/>
          <p:nvPr/>
        </p:nvSpPr>
        <p:spPr>
          <a:xfrm flipH="false" flipV="false" rot="0">
            <a:off x="1436237" y="4824639"/>
            <a:ext cx="1247707" cy="1377937"/>
          </a:xfrm>
          <a:custGeom>
            <a:avLst/>
            <a:gdLst/>
            <a:ahLst/>
            <a:cxnLst/>
            <a:rect r="r" b="b" t="t" l="l"/>
            <a:pathLst>
              <a:path h="1377937" w="1247707">
                <a:moveTo>
                  <a:pt x="0" y="0"/>
                </a:moveTo>
                <a:lnTo>
                  <a:pt x="1247707" y="0"/>
                </a:lnTo>
                <a:lnTo>
                  <a:pt x="1247707" y="1377937"/>
                </a:lnTo>
                <a:lnTo>
                  <a:pt x="0" y="1377937"/>
                </a:lnTo>
                <a:lnTo>
                  <a:pt x="0" y="0"/>
                </a:lnTo>
                <a:close/>
              </a:path>
            </a:pathLst>
          </a:custGeom>
          <a:blipFill>
            <a:blip r:embed="rId4"/>
            <a:stretch>
              <a:fillRect l="0" t="-2228" r="0" b="-2228"/>
            </a:stretch>
          </a:blipFill>
        </p:spPr>
      </p:sp>
      <p:sp>
        <p:nvSpPr>
          <p:cNvPr name="Freeform 6" id="6"/>
          <p:cNvSpPr/>
          <p:nvPr/>
        </p:nvSpPr>
        <p:spPr>
          <a:xfrm flipH="false" flipV="false" rot="0">
            <a:off x="17461872" y="3789346"/>
            <a:ext cx="395153" cy="390214"/>
          </a:xfrm>
          <a:custGeom>
            <a:avLst/>
            <a:gdLst/>
            <a:ahLst/>
            <a:cxnLst/>
            <a:rect r="r" b="b" t="t" l="l"/>
            <a:pathLst>
              <a:path h="390214" w="395153">
                <a:moveTo>
                  <a:pt x="0" y="0"/>
                </a:moveTo>
                <a:lnTo>
                  <a:pt x="395154" y="0"/>
                </a:lnTo>
                <a:lnTo>
                  <a:pt x="395154" y="390214"/>
                </a:lnTo>
                <a:lnTo>
                  <a:pt x="0" y="3902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16158754" y="4065845"/>
            <a:ext cx="1175811" cy="0"/>
          </a:xfrm>
          <a:prstGeom prst="line">
            <a:avLst/>
          </a:prstGeom>
          <a:ln cap="flat" w="28575">
            <a:solidFill>
              <a:srgbClr val="FFFFFF"/>
            </a:solidFill>
            <a:prstDash val="solid"/>
            <a:headEnd type="none" len="sm" w="sm"/>
            <a:tailEnd type="none" len="sm" w="sm"/>
          </a:ln>
        </p:spPr>
      </p:sp>
      <p:sp>
        <p:nvSpPr>
          <p:cNvPr name="AutoShape 8" id="8"/>
          <p:cNvSpPr/>
          <p:nvPr/>
        </p:nvSpPr>
        <p:spPr>
          <a:xfrm>
            <a:off x="13703485" y="4081550"/>
            <a:ext cx="1435789" cy="0"/>
          </a:xfrm>
          <a:prstGeom prst="line">
            <a:avLst/>
          </a:prstGeom>
          <a:ln cap="flat" w="28575">
            <a:solidFill>
              <a:srgbClr val="FFFFFF"/>
            </a:solidFill>
            <a:prstDash val="solid"/>
            <a:headEnd type="none" len="sm" w="sm"/>
            <a:tailEnd type="none" len="sm" w="sm"/>
          </a:ln>
        </p:spPr>
      </p:sp>
      <p:sp>
        <p:nvSpPr>
          <p:cNvPr name="Freeform 9" id="9"/>
          <p:cNvSpPr/>
          <p:nvPr/>
        </p:nvSpPr>
        <p:spPr>
          <a:xfrm flipH="false" flipV="false" rot="0">
            <a:off x="13670748" y="2549432"/>
            <a:ext cx="457027" cy="432098"/>
          </a:xfrm>
          <a:custGeom>
            <a:avLst/>
            <a:gdLst/>
            <a:ahLst/>
            <a:cxnLst/>
            <a:rect r="r" b="b" t="t" l="l"/>
            <a:pathLst>
              <a:path h="432098" w="457027">
                <a:moveTo>
                  <a:pt x="0" y="0"/>
                </a:moveTo>
                <a:lnTo>
                  <a:pt x="457026" y="0"/>
                </a:lnTo>
                <a:lnTo>
                  <a:pt x="457026" y="432098"/>
                </a:lnTo>
                <a:lnTo>
                  <a:pt x="0" y="4320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436237" y="6392891"/>
            <a:ext cx="1247707" cy="1142499"/>
          </a:xfrm>
          <a:custGeom>
            <a:avLst/>
            <a:gdLst/>
            <a:ahLst/>
            <a:cxnLst/>
            <a:rect r="r" b="b" t="t" l="l"/>
            <a:pathLst>
              <a:path h="1142499" w="1247707">
                <a:moveTo>
                  <a:pt x="0" y="0"/>
                </a:moveTo>
                <a:lnTo>
                  <a:pt x="1247707" y="0"/>
                </a:lnTo>
                <a:lnTo>
                  <a:pt x="1247707" y="1142500"/>
                </a:lnTo>
                <a:lnTo>
                  <a:pt x="0" y="1142500"/>
                </a:lnTo>
                <a:lnTo>
                  <a:pt x="0" y="0"/>
                </a:lnTo>
                <a:close/>
              </a:path>
            </a:pathLst>
          </a:custGeom>
          <a:blipFill>
            <a:blip r:embed="rId9"/>
            <a:stretch>
              <a:fillRect l="0" t="-2330" r="0" b="-6878"/>
            </a:stretch>
          </a:blipFill>
        </p:spPr>
      </p:sp>
      <p:sp>
        <p:nvSpPr>
          <p:cNvPr name="Freeform 11" id="11"/>
          <p:cNvSpPr/>
          <p:nvPr/>
        </p:nvSpPr>
        <p:spPr>
          <a:xfrm flipH="false" flipV="false" rot="0">
            <a:off x="9518323" y="5465818"/>
            <a:ext cx="1381213" cy="1442520"/>
          </a:xfrm>
          <a:custGeom>
            <a:avLst/>
            <a:gdLst/>
            <a:ahLst/>
            <a:cxnLst/>
            <a:rect r="r" b="b" t="t" l="l"/>
            <a:pathLst>
              <a:path h="1442520" w="1381213">
                <a:moveTo>
                  <a:pt x="0" y="0"/>
                </a:moveTo>
                <a:lnTo>
                  <a:pt x="1381213" y="0"/>
                </a:lnTo>
                <a:lnTo>
                  <a:pt x="1381213" y="1442519"/>
                </a:lnTo>
                <a:lnTo>
                  <a:pt x="0" y="1442519"/>
                </a:lnTo>
                <a:lnTo>
                  <a:pt x="0" y="0"/>
                </a:lnTo>
                <a:close/>
              </a:path>
            </a:pathLst>
          </a:custGeom>
          <a:blipFill>
            <a:blip r:embed="rId10"/>
            <a:stretch>
              <a:fillRect l="0" t="0" r="0" b="0"/>
            </a:stretch>
          </a:blipFill>
        </p:spPr>
      </p:sp>
      <p:sp>
        <p:nvSpPr>
          <p:cNvPr name="Freeform 12" id="12"/>
          <p:cNvSpPr/>
          <p:nvPr/>
        </p:nvSpPr>
        <p:spPr>
          <a:xfrm flipH="false" flipV="false" rot="0">
            <a:off x="9518323" y="8405405"/>
            <a:ext cx="3353328" cy="792224"/>
          </a:xfrm>
          <a:custGeom>
            <a:avLst/>
            <a:gdLst/>
            <a:ahLst/>
            <a:cxnLst/>
            <a:rect r="r" b="b" t="t" l="l"/>
            <a:pathLst>
              <a:path h="792224" w="3353328">
                <a:moveTo>
                  <a:pt x="0" y="0"/>
                </a:moveTo>
                <a:lnTo>
                  <a:pt x="3353328" y="0"/>
                </a:lnTo>
                <a:lnTo>
                  <a:pt x="3353328" y="792223"/>
                </a:lnTo>
                <a:lnTo>
                  <a:pt x="0" y="7922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4621541" y="2540529"/>
            <a:ext cx="491850" cy="674017"/>
          </a:xfrm>
          <a:custGeom>
            <a:avLst/>
            <a:gdLst/>
            <a:ahLst/>
            <a:cxnLst/>
            <a:rect r="r" b="b" t="t" l="l"/>
            <a:pathLst>
              <a:path h="674017" w="491850">
                <a:moveTo>
                  <a:pt x="0" y="0"/>
                </a:moveTo>
                <a:lnTo>
                  <a:pt x="491850" y="0"/>
                </a:lnTo>
                <a:lnTo>
                  <a:pt x="491850" y="674017"/>
                </a:lnTo>
                <a:lnTo>
                  <a:pt x="0" y="674017"/>
                </a:lnTo>
                <a:lnTo>
                  <a:pt x="0" y="0"/>
                </a:lnTo>
                <a:close/>
              </a:path>
            </a:pathLst>
          </a:custGeom>
          <a:blipFill>
            <a:blip r:embed="rId13"/>
            <a:stretch>
              <a:fillRect l="0" t="0" r="0" b="0"/>
            </a:stretch>
          </a:blipFill>
        </p:spPr>
      </p:sp>
      <p:sp>
        <p:nvSpPr>
          <p:cNvPr name="Freeform 14" id="14"/>
          <p:cNvSpPr/>
          <p:nvPr/>
        </p:nvSpPr>
        <p:spPr>
          <a:xfrm flipH="false" flipV="false" rot="0">
            <a:off x="9476555" y="7425428"/>
            <a:ext cx="684292" cy="684292"/>
          </a:xfrm>
          <a:custGeom>
            <a:avLst/>
            <a:gdLst/>
            <a:ahLst/>
            <a:cxnLst/>
            <a:rect r="r" b="b" t="t" l="l"/>
            <a:pathLst>
              <a:path h="684292" w="684292">
                <a:moveTo>
                  <a:pt x="0" y="0"/>
                </a:moveTo>
                <a:lnTo>
                  <a:pt x="684292" y="0"/>
                </a:lnTo>
                <a:lnTo>
                  <a:pt x="684292" y="684292"/>
                </a:lnTo>
                <a:lnTo>
                  <a:pt x="0" y="68429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41758" y="7397480"/>
            <a:ext cx="684292" cy="684292"/>
          </a:xfrm>
          <a:custGeom>
            <a:avLst/>
            <a:gdLst/>
            <a:ahLst/>
            <a:cxnLst/>
            <a:rect r="r" b="b" t="t" l="l"/>
            <a:pathLst>
              <a:path h="684292" w="684292">
                <a:moveTo>
                  <a:pt x="0" y="0"/>
                </a:moveTo>
                <a:lnTo>
                  <a:pt x="684292" y="0"/>
                </a:lnTo>
                <a:lnTo>
                  <a:pt x="684292" y="684293"/>
                </a:lnTo>
                <a:lnTo>
                  <a:pt x="0" y="68429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1207025" y="7405877"/>
            <a:ext cx="684292" cy="684292"/>
          </a:xfrm>
          <a:custGeom>
            <a:avLst/>
            <a:gdLst/>
            <a:ahLst/>
            <a:cxnLst/>
            <a:rect r="r" b="b" t="t" l="l"/>
            <a:pathLst>
              <a:path h="684292" w="684292">
                <a:moveTo>
                  <a:pt x="0" y="0"/>
                </a:moveTo>
                <a:lnTo>
                  <a:pt x="684292" y="0"/>
                </a:lnTo>
                <a:lnTo>
                  <a:pt x="684292" y="684292"/>
                </a:lnTo>
                <a:lnTo>
                  <a:pt x="0" y="68429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2121325" y="7405877"/>
            <a:ext cx="684292" cy="684292"/>
          </a:xfrm>
          <a:custGeom>
            <a:avLst/>
            <a:gdLst/>
            <a:ahLst/>
            <a:cxnLst/>
            <a:rect r="r" b="b" t="t" l="l"/>
            <a:pathLst>
              <a:path h="684292" w="684292">
                <a:moveTo>
                  <a:pt x="0" y="0"/>
                </a:moveTo>
                <a:lnTo>
                  <a:pt x="684293" y="0"/>
                </a:lnTo>
                <a:lnTo>
                  <a:pt x="684293" y="684292"/>
                </a:lnTo>
                <a:lnTo>
                  <a:pt x="0" y="68429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9518323" y="9302403"/>
            <a:ext cx="3353328" cy="792224"/>
          </a:xfrm>
          <a:custGeom>
            <a:avLst/>
            <a:gdLst/>
            <a:ahLst/>
            <a:cxnLst/>
            <a:rect r="r" b="b" t="t" l="l"/>
            <a:pathLst>
              <a:path h="792224" w="3353328">
                <a:moveTo>
                  <a:pt x="0" y="0"/>
                </a:moveTo>
                <a:lnTo>
                  <a:pt x="3353328" y="0"/>
                </a:lnTo>
                <a:lnTo>
                  <a:pt x="3353328" y="792224"/>
                </a:lnTo>
                <a:lnTo>
                  <a:pt x="0" y="79222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AutoShape 19" id="19"/>
          <p:cNvSpPr/>
          <p:nvPr/>
        </p:nvSpPr>
        <p:spPr>
          <a:xfrm>
            <a:off x="-768684" y="1908159"/>
            <a:ext cx="19393406" cy="0"/>
          </a:xfrm>
          <a:prstGeom prst="line">
            <a:avLst/>
          </a:prstGeom>
          <a:ln cap="flat" w="28575">
            <a:solidFill>
              <a:srgbClr val="FFFFFF"/>
            </a:solidFill>
            <a:prstDash val="solid"/>
            <a:headEnd type="none" len="sm" w="sm"/>
            <a:tailEnd type="none" len="sm" w="sm"/>
          </a:ln>
        </p:spPr>
      </p:sp>
      <p:sp>
        <p:nvSpPr>
          <p:cNvPr name="Freeform 20" id="20"/>
          <p:cNvSpPr/>
          <p:nvPr/>
        </p:nvSpPr>
        <p:spPr>
          <a:xfrm flipH="false" flipV="false" rot="0">
            <a:off x="86356" y="345275"/>
            <a:ext cx="3045880" cy="913192"/>
          </a:xfrm>
          <a:custGeom>
            <a:avLst/>
            <a:gdLst/>
            <a:ahLst/>
            <a:cxnLst/>
            <a:rect r="r" b="b" t="t" l="l"/>
            <a:pathLst>
              <a:path h="913192" w="3045880">
                <a:moveTo>
                  <a:pt x="0" y="0"/>
                </a:moveTo>
                <a:lnTo>
                  <a:pt x="3045880" y="0"/>
                </a:lnTo>
                <a:lnTo>
                  <a:pt x="3045880" y="913192"/>
                </a:lnTo>
                <a:lnTo>
                  <a:pt x="0" y="913192"/>
                </a:lnTo>
                <a:lnTo>
                  <a:pt x="0" y="0"/>
                </a:lnTo>
                <a:close/>
              </a:path>
            </a:pathLst>
          </a:custGeom>
          <a:blipFill>
            <a:blip r:embed="rId18"/>
            <a:stretch>
              <a:fillRect l="0" t="-110584" r="0" b="-122957"/>
            </a:stretch>
          </a:blipFill>
        </p:spPr>
      </p:sp>
      <p:sp>
        <p:nvSpPr>
          <p:cNvPr name="Freeform 21" id="21"/>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2" id="22"/>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3" id="23"/>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4" id="24"/>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5" id="25"/>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26" id="26"/>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27" id="27"/>
          <p:cNvSpPr/>
          <p:nvPr/>
        </p:nvSpPr>
        <p:spPr>
          <a:xfrm flipH="false" flipV="false" rot="0">
            <a:off x="15263099" y="3764058"/>
            <a:ext cx="366490" cy="366490"/>
          </a:xfrm>
          <a:custGeom>
            <a:avLst/>
            <a:gdLst/>
            <a:ahLst/>
            <a:cxnLst/>
            <a:rect r="r" b="b" t="t" l="l"/>
            <a:pathLst>
              <a:path h="366490" w="366490">
                <a:moveTo>
                  <a:pt x="0" y="0"/>
                </a:moveTo>
                <a:lnTo>
                  <a:pt x="366491" y="0"/>
                </a:lnTo>
                <a:lnTo>
                  <a:pt x="366491" y="366490"/>
                </a:lnTo>
                <a:lnTo>
                  <a:pt x="0" y="366490"/>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28" id="28"/>
          <p:cNvSpPr txBox="true"/>
          <p:nvPr/>
        </p:nvSpPr>
        <p:spPr>
          <a:xfrm rot="0">
            <a:off x="9463322" y="4165890"/>
            <a:ext cx="4971393" cy="586631"/>
          </a:xfrm>
          <a:prstGeom prst="rect">
            <a:avLst/>
          </a:prstGeom>
        </p:spPr>
        <p:txBody>
          <a:bodyPr anchor="t" rtlCol="false" tIns="0" lIns="0" bIns="0" rIns="0">
            <a:spAutoFit/>
          </a:bodyPr>
          <a:lstStyle/>
          <a:p>
            <a:pPr algn="just">
              <a:lnSpc>
                <a:spcPts val="2335"/>
              </a:lnSpc>
            </a:pPr>
            <a:r>
              <a:rPr lang="en-US" b="true" sz="2312" i="true" spc="-134">
                <a:solidFill>
                  <a:srgbClr val="B43E34"/>
                </a:solidFill>
                <a:latin typeface="Open Sauce Bold Italics"/>
                <a:ea typeface="Open Sauce Bold Italics"/>
                <a:cs typeface="Open Sauce Bold Italics"/>
                <a:sym typeface="Open Sauce Bold Italics"/>
              </a:rPr>
              <a:t>R$ 209,90 no Pix</a:t>
            </a:r>
          </a:p>
          <a:p>
            <a:pPr algn="just">
              <a:lnSpc>
                <a:spcPts val="2335"/>
              </a:lnSpc>
            </a:pPr>
            <a:r>
              <a:rPr lang="en-US" b="true" sz="2312" spc="-134">
                <a:solidFill>
                  <a:srgbClr val="FFFFFF"/>
                </a:solidFill>
                <a:latin typeface="Open Sauce Bold"/>
                <a:ea typeface="Open Sauce Bold"/>
                <a:cs typeface="Open Sauce Bold"/>
                <a:sym typeface="Open Sauce Bold"/>
              </a:rPr>
              <a:t>ou 221,10 </a:t>
            </a:r>
            <a:r>
              <a:rPr lang="en-US" b="true" sz="2312" spc="-134">
                <a:solidFill>
                  <a:srgbClr val="D7D6D8"/>
                </a:solidFill>
                <a:latin typeface="Open Sauce Bold"/>
                <a:ea typeface="Open Sauce Bold"/>
                <a:cs typeface="Open Sauce Bold"/>
                <a:sym typeface="Open Sauce Bold"/>
              </a:rPr>
              <a:t>4x</a:t>
            </a:r>
            <a:r>
              <a:rPr lang="en-US" b="true" sz="2312" spc="-134">
                <a:solidFill>
                  <a:srgbClr val="B43E34"/>
                </a:solidFill>
                <a:latin typeface="Open Sauce Bold"/>
                <a:ea typeface="Open Sauce Bold"/>
                <a:cs typeface="Open Sauce Bold"/>
                <a:sym typeface="Open Sauce Bold"/>
              </a:rPr>
              <a:t> </a:t>
            </a:r>
            <a:r>
              <a:rPr lang="en-US" b="true" sz="2312" spc="-134">
                <a:solidFill>
                  <a:srgbClr val="FFFFFF"/>
                </a:solidFill>
                <a:latin typeface="Open Sauce Bold"/>
                <a:ea typeface="Open Sauce Bold"/>
                <a:cs typeface="Open Sauce Bold"/>
                <a:sym typeface="Open Sauce Bold"/>
              </a:rPr>
              <a:t>de </a:t>
            </a:r>
            <a:r>
              <a:rPr lang="en-US" b="true" sz="2312" spc="-134">
                <a:solidFill>
                  <a:srgbClr val="B43E34"/>
                </a:solidFill>
                <a:latin typeface="Open Sauce Bold"/>
                <a:ea typeface="Open Sauce Bold"/>
                <a:cs typeface="Open Sauce Bold"/>
                <a:sym typeface="Open Sauce Bold"/>
              </a:rPr>
              <a:t>R$ 55,27</a:t>
            </a:r>
            <a:r>
              <a:rPr lang="en-US" b="true" sz="2312" spc="-134">
                <a:solidFill>
                  <a:srgbClr val="FFFFFF"/>
                </a:solidFill>
                <a:latin typeface="Open Sauce Bold"/>
                <a:ea typeface="Open Sauce Bold"/>
                <a:cs typeface="Open Sauce Bold"/>
                <a:sym typeface="Open Sauce Bold"/>
              </a:rPr>
              <a:t> sem juros</a:t>
            </a:r>
          </a:p>
        </p:txBody>
      </p:sp>
      <p:sp>
        <p:nvSpPr>
          <p:cNvPr name="TextBox 29" id="29"/>
          <p:cNvSpPr txBox="true"/>
          <p:nvPr/>
        </p:nvSpPr>
        <p:spPr>
          <a:xfrm rot="0">
            <a:off x="9463322" y="2705188"/>
            <a:ext cx="3946767" cy="490077"/>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CAMISA SERTÃOZINHO FC MODELO 2 18/19</a:t>
            </a:r>
          </a:p>
        </p:txBody>
      </p:sp>
      <p:sp>
        <p:nvSpPr>
          <p:cNvPr name="TextBox 30" id="30"/>
          <p:cNvSpPr txBox="true"/>
          <p:nvPr/>
        </p:nvSpPr>
        <p:spPr>
          <a:xfrm rot="0">
            <a:off x="9494894" y="7011185"/>
            <a:ext cx="4596834" cy="290418"/>
          </a:xfrm>
          <a:prstGeom prst="rect">
            <a:avLst/>
          </a:prstGeom>
        </p:spPr>
        <p:txBody>
          <a:bodyPr anchor="t" rtlCol="false" tIns="0" lIns="0" bIns="0" rIns="0">
            <a:spAutoFit/>
          </a:bodyPr>
          <a:lstStyle/>
          <a:p>
            <a:pPr algn="just">
              <a:lnSpc>
                <a:spcPts val="2216"/>
              </a:lnSpc>
            </a:pPr>
            <a:r>
              <a:rPr lang="en-US" sz="2194" spc="-127">
                <a:solidFill>
                  <a:srgbClr val="FFFFFF"/>
                </a:solidFill>
                <a:latin typeface="Open Sauce"/>
                <a:ea typeface="Open Sauce"/>
                <a:cs typeface="Open Sauce"/>
                <a:sym typeface="Open Sauce"/>
              </a:rPr>
              <a:t>Tamanho do produto:</a:t>
            </a:r>
          </a:p>
        </p:txBody>
      </p:sp>
      <p:sp>
        <p:nvSpPr>
          <p:cNvPr name="TextBox 31" id="31"/>
          <p:cNvSpPr txBox="true"/>
          <p:nvPr/>
        </p:nvSpPr>
        <p:spPr>
          <a:xfrm rot="0">
            <a:off x="9463322" y="5034328"/>
            <a:ext cx="4596834" cy="290418"/>
          </a:xfrm>
          <a:prstGeom prst="rect">
            <a:avLst/>
          </a:prstGeom>
        </p:spPr>
        <p:txBody>
          <a:bodyPr anchor="t" rtlCol="false" tIns="0" lIns="0" bIns="0" rIns="0">
            <a:spAutoFit/>
          </a:bodyPr>
          <a:lstStyle/>
          <a:p>
            <a:pPr algn="just">
              <a:lnSpc>
                <a:spcPts val="2216"/>
              </a:lnSpc>
            </a:pPr>
            <a:r>
              <a:rPr lang="en-US" sz="2194" spc="-127">
                <a:solidFill>
                  <a:srgbClr val="FFFFFF"/>
                </a:solidFill>
                <a:latin typeface="Open Sauce"/>
                <a:ea typeface="Open Sauce"/>
                <a:cs typeface="Open Sauce"/>
                <a:sym typeface="Open Sauce"/>
              </a:rPr>
              <a:t>Cor do Produto: Branco/ Grená</a:t>
            </a:r>
          </a:p>
        </p:txBody>
      </p:sp>
      <p:sp>
        <p:nvSpPr>
          <p:cNvPr name="TextBox 32" id="32"/>
          <p:cNvSpPr txBox="true"/>
          <p:nvPr/>
        </p:nvSpPr>
        <p:spPr>
          <a:xfrm rot="0">
            <a:off x="10590668" y="3435331"/>
            <a:ext cx="1872803" cy="339357"/>
          </a:xfrm>
          <a:prstGeom prst="rect">
            <a:avLst/>
          </a:prstGeom>
        </p:spPr>
        <p:txBody>
          <a:bodyPr anchor="t" rtlCol="false" tIns="0" lIns="0" bIns="0" rIns="0">
            <a:spAutoFit/>
          </a:bodyPr>
          <a:lstStyle/>
          <a:p>
            <a:pPr algn="ctr" marL="0" indent="0" lvl="0">
              <a:lnSpc>
                <a:spcPts val="2820"/>
              </a:lnSpc>
              <a:spcBef>
                <a:spcPct val="0"/>
              </a:spcBef>
            </a:pPr>
            <a:r>
              <a:rPr lang="en-US" sz="2014">
                <a:solidFill>
                  <a:srgbClr val="85131E"/>
                </a:solidFill>
                <a:latin typeface="Montserrat"/>
                <a:ea typeface="Montserrat"/>
                <a:cs typeface="Montserrat"/>
                <a:sym typeface="Montserrat"/>
              </a:rPr>
              <a:t>(97)</a:t>
            </a:r>
          </a:p>
        </p:txBody>
      </p:sp>
      <p:sp>
        <p:nvSpPr>
          <p:cNvPr name="TextBox 33" id="33"/>
          <p:cNvSpPr txBox="true"/>
          <p:nvPr/>
        </p:nvSpPr>
        <p:spPr>
          <a:xfrm rot="0">
            <a:off x="13568307" y="3812028"/>
            <a:ext cx="1731864" cy="269522"/>
          </a:xfrm>
          <a:prstGeom prst="rect">
            <a:avLst/>
          </a:prstGeom>
        </p:spPr>
        <p:txBody>
          <a:bodyPr anchor="t" rtlCol="false" tIns="0" lIns="0" bIns="0" rIns="0">
            <a:spAutoFit/>
          </a:bodyPr>
          <a:lstStyle/>
          <a:p>
            <a:pPr algn="ctr" marL="0" indent="0" lvl="0">
              <a:lnSpc>
                <a:spcPts val="2145"/>
              </a:lnSpc>
              <a:spcBef>
                <a:spcPct val="0"/>
              </a:spcBef>
            </a:pPr>
            <a:r>
              <a:rPr lang="en-US" sz="1532">
                <a:solidFill>
                  <a:srgbClr val="FFFFFF"/>
                </a:solidFill>
                <a:latin typeface="Montserrat"/>
                <a:ea typeface="Montserrat"/>
                <a:cs typeface="Montserrat"/>
                <a:sym typeface="Montserrat"/>
              </a:rPr>
              <a:t>COMPARTILHE</a:t>
            </a:r>
          </a:p>
        </p:txBody>
      </p:sp>
      <p:sp>
        <p:nvSpPr>
          <p:cNvPr name="TextBox 34" id="34"/>
          <p:cNvSpPr txBox="true"/>
          <p:nvPr/>
        </p:nvSpPr>
        <p:spPr>
          <a:xfrm rot="0">
            <a:off x="15948317" y="3843261"/>
            <a:ext cx="1596685"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COPIAR LINK</a:t>
            </a:r>
          </a:p>
        </p:txBody>
      </p:sp>
      <p:sp>
        <p:nvSpPr>
          <p:cNvPr name="TextBox 35" id="35"/>
          <p:cNvSpPr txBox="true"/>
          <p:nvPr/>
        </p:nvSpPr>
        <p:spPr>
          <a:xfrm rot="0">
            <a:off x="201830" y="2200291"/>
            <a:ext cx="1407466" cy="266772"/>
          </a:xfrm>
          <a:prstGeom prst="rect">
            <a:avLst/>
          </a:prstGeom>
        </p:spPr>
        <p:txBody>
          <a:bodyPr anchor="t" rtlCol="false" tIns="0" lIns="0" bIns="0" rIns="0">
            <a:spAutoFit/>
          </a:bodyPr>
          <a:lstStyle/>
          <a:p>
            <a:pPr algn="ctr" marL="0" indent="0" lvl="0">
              <a:lnSpc>
                <a:spcPts val="2119"/>
              </a:lnSpc>
              <a:spcBef>
                <a:spcPct val="0"/>
              </a:spcBef>
            </a:pPr>
            <a:r>
              <a:rPr lang="en-US" sz="1513">
                <a:solidFill>
                  <a:srgbClr val="FFFFFF"/>
                </a:solidFill>
                <a:latin typeface="Montserrat"/>
                <a:ea typeface="Montserrat"/>
                <a:cs typeface="Montserrat"/>
                <a:sym typeface="Montserrat"/>
              </a:rPr>
              <a:t>VESTUÁRIO</a:t>
            </a:r>
          </a:p>
        </p:txBody>
      </p:sp>
      <p:sp>
        <p:nvSpPr>
          <p:cNvPr name="TextBox 36" id="36"/>
          <p:cNvSpPr txBox="true"/>
          <p:nvPr/>
        </p:nvSpPr>
        <p:spPr>
          <a:xfrm rot="0">
            <a:off x="952690" y="220981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&gt;</a:t>
            </a:r>
          </a:p>
        </p:txBody>
      </p:sp>
      <p:sp>
        <p:nvSpPr>
          <p:cNvPr name="TextBox 37" id="37"/>
          <p:cNvSpPr txBox="true"/>
          <p:nvPr/>
        </p:nvSpPr>
        <p:spPr>
          <a:xfrm rot="0">
            <a:off x="10254294" y="8668057"/>
            <a:ext cx="1867031" cy="275367"/>
          </a:xfrm>
          <a:prstGeom prst="rect">
            <a:avLst/>
          </a:prstGeom>
        </p:spPr>
        <p:txBody>
          <a:bodyPr anchor="t" rtlCol="false" tIns="0" lIns="0" bIns="0" rIns="0">
            <a:spAutoFit/>
          </a:bodyPr>
          <a:lstStyle/>
          <a:p>
            <a:pPr algn="just">
              <a:lnSpc>
                <a:spcPts val="2179"/>
              </a:lnSpc>
            </a:pPr>
            <a:r>
              <a:rPr lang="en-US" sz="2157" spc="-125">
                <a:solidFill>
                  <a:srgbClr val="FFFFFF"/>
                </a:solidFill>
                <a:latin typeface="Open Sauce"/>
                <a:ea typeface="Open Sauce"/>
                <a:cs typeface="Open Sauce"/>
                <a:sym typeface="Open Sauce"/>
              </a:rPr>
              <a:t>Comprar agora</a:t>
            </a:r>
          </a:p>
        </p:txBody>
      </p:sp>
      <p:sp>
        <p:nvSpPr>
          <p:cNvPr name="TextBox 38" id="38"/>
          <p:cNvSpPr txBox="true"/>
          <p:nvPr/>
        </p:nvSpPr>
        <p:spPr>
          <a:xfrm rot="0">
            <a:off x="14972224" y="2742283"/>
            <a:ext cx="2302869"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AVALIAR O PRODUTO</a:t>
            </a:r>
          </a:p>
        </p:txBody>
      </p:sp>
      <p:sp>
        <p:nvSpPr>
          <p:cNvPr name="TextBox 39" id="39"/>
          <p:cNvSpPr txBox="true"/>
          <p:nvPr/>
        </p:nvSpPr>
        <p:spPr>
          <a:xfrm rot="0">
            <a:off x="9711287" y="7478241"/>
            <a:ext cx="214828"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P</a:t>
            </a:r>
          </a:p>
        </p:txBody>
      </p:sp>
      <p:sp>
        <p:nvSpPr>
          <p:cNvPr name="TextBox 40" id="40"/>
          <p:cNvSpPr txBox="true"/>
          <p:nvPr/>
        </p:nvSpPr>
        <p:spPr>
          <a:xfrm rot="0">
            <a:off x="10522630" y="7450293"/>
            <a:ext cx="322547"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M</a:t>
            </a:r>
          </a:p>
        </p:txBody>
      </p:sp>
      <p:sp>
        <p:nvSpPr>
          <p:cNvPr name="TextBox 41" id="41"/>
          <p:cNvSpPr txBox="true"/>
          <p:nvPr/>
        </p:nvSpPr>
        <p:spPr>
          <a:xfrm rot="0">
            <a:off x="11425307" y="7458689"/>
            <a:ext cx="247727"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G</a:t>
            </a:r>
          </a:p>
        </p:txBody>
      </p:sp>
      <p:sp>
        <p:nvSpPr>
          <p:cNvPr name="TextBox 42" id="42"/>
          <p:cNvSpPr txBox="true"/>
          <p:nvPr/>
        </p:nvSpPr>
        <p:spPr>
          <a:xfrm rot="0">
            <a:off x="12215744" y="7458689"/>
            <a:ext cx="495455" cy="465622"/>
          </a:xfrm>
          <a:prstGeom prst="rect">
            <a:avLst/>
          </a:prstGeom>
        </p:spPr>
        <p:txBody>
          <a:bodyPr anchor="t" rtlCol="false" tIns="0" lIns="0" bIns="0" rIns="0">
            <a:spAutoFit/>
          </a:bodyPr>
          <a:lstStyle/>
          <a:p>
            <a:pPr algn="ctr">
              <a:lnSpc>
                <a:spcPts val="3771"/>
              </a:lnSpc>
            </a:pPr>
            <a:r>
              <a:rPr lang="en-US" sz="2693" b="true">
                <a:solidFill>
                  <a:srgbClr val="FFFFFF"/>
                </a:solidFill>
                <a:latin typeface="Open Sans Bold"/>
                <a:ea typeface="Open Sans Bold"/>
                <a:cs typeface="Open Sans Bold"/>
                <a:sym typeface="Open Sans Bold"/>
              </a:rPr>
              <a:t>GG</a:t>
            </a:r>
          </a:p>
        </p:txBody>
      </p:sp>
      <p:sp>
        <p:nvSpPr>
          <p:cNvPr name="TextBox 43" id="43"/>
          <p:cNvSpPr txBox="true"/>
          <p:nvPr/>
        </p:nvSpPr>
        <p:spPr>
          <a:xfrm rot="0">
            <a:off x="9943008" y="9540528"/>
            <a:ext cx="2634596" cy="275367"/>
          </a:xfrm>
          <a:prstGeom prst="rect">
            <a:avLst/>
          </a:prstGeom>
        </p:spPr>
        <p:txBody>
          <a:bodyPr anchor="t" rtlCol="false" tIns="0" lIns="0" bIns="0" rIns="0">
            <a:spAutoFit/>
          </a:bodyPr>
          <a:lstStyle/>
          <a:p>
            <a:pPr algn="just">
              <a:lnSpc>
                <a:spcPts val="2179"/>
              </a:lnSpc>
            </a:pPr>
            <a:r>
              <a:rPr lang="en-US" sz="2157" spc="-125">
                <a:solidFill>
                  <a:srgbClr val="FFFFFF"/>
                </a:solidFill>
                <a:latin typeface="Open Sauce"/>
                <a:ea typeface="Open Sauce"/>
                <a:cs typeface="Open Sauce"/>
                <a:sym typeface="Open Sauce"/>
              </a:rPr>
              <a:t>Adicionar ao carrinho</a:t>
            </a:r>
          </a:p>
        </p:txBody>
      </p:sp>
      <p:sp>
        <p:nvSpPr>
          <p:cNvPr name="TextBox 44" id="44"/>
          <p:cNvSpPr txBox="true"/>
          <p:nvPr/>
        </p:nvSpPr>
        <p:spPr>
          <a:xfrm rot="0">
            <a:off x="1436237" y="2184977"/>
            <a:ext cx="2213660" cy="266772"/>
          </a:xfrm>
          <a:prstGeom prst="rect">
            <a:avLst/>
          </a:prstGeom>
        </p:spPr>
        <p:txBody>
          <a:bodyPr anchor="t" rtlCol="false" tIns="0" lIns="0" bIns="0" rIns="0">
            <a:spAutoFit/>
          </a:bodyPr>
          <a:lstStyle/>
          <a:p>
            <a:pPr algn="ctr" marL="0" indent="0" lvl="0">
              <a:lnSpc>
                <a:spcPts val="2119"/>
              </a:lnSpc>
              <a:spcBef>
                <a:spcPct val="0"/>
              </a:spcBef>
            </a:pPr>
            <a:r>
              <a:rPr lang="en-US" sz="1513">
                <a:solidFill>
                  <a:srgbClr val="FFFFFF"/>
                </a:solidFill>
                <a:latin typeface="Montserrat"/>
                <a:ea typeface="Montserrat"/>
                <a:cs typeface="Montserrat"/>
                <a:sym typeface="Montserrat"/>
              </a:rPr>
              <a:t>CAMISA DE TIME</a:t>
            </a:r>
          </a:p>
        </p:txBody>
      </p:sp>
      <p:sp>
        <p:nvSpPr>
          <p:cNvPr name="TextBox 45" id="45"/>
          <p:cNvSpPr txBox="true"/>
          <p:nvPr/>
        </p:nvSpPr>
        <p:spPr>
          <a:xfrm rot="0">
            <a:off x="3503175" y="2194502"/>
            <a:ext cx="239750"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&gt;</a:t>
            </a:r>
          </a:p>
        </p:txBody>
      </p:sp>
      <p:sp>
        <p:nvSpPr>
          <p:cNvPr name="TextBox 46" id="46"/>
          <p:cNvSpPr txBox="true"/>
          <p:nvPr/>
        </p:nvSpPr>
        <p:spPr>
          <a:xfrm rot="0">
            <a:off x="3283229" y="2169663"/>
            <a:ext cx="2213660" cy="266772"/>
          </a:xfrm>
          <a:prstGeom prst="rect">
            <a:avLst/>
          </a:prstGeom>
        </p:spPr>
        <p:txBody>
          <a:bodyPr anchor="t" rtlCol="false" tIns="0" lIns="0" bIns="0" rIns="0">
            <a:spAutoFit/>
          </a:bodyPr>
          <a:lstStyle/>
          <a:p>
            <a:pPr algn="ctr" marL="0" indent="0" lvl="0">
              <a:lnSpc>
                <a:spcPts val="2119"/>
              </a:lnSpc>
              <a:spcBef>
                <a:spcPct val="0"/>
              </a:spcBef>
            </a:pPr>
            <a:r>
              <a:rPr lang="en-US" sz="1513">
                <a:solidFill>
                  <a:srgbClr val="FFFFFF"/>
                </a:solidFill>
                <a:latin typeface="Montserrat"/>
                <a:ea typeface="Montserrat"/>
                <a:cs typeface="Montserrat"/>
                <a:sym typeface="Montserrat"/>
              </a:rPr>
              <a:t>MASCULINO</a:t>
            </a:r>
          </a:p>
        </p:txBody>
      </p:sp>
      <p:sp>
        <p:nvSpPr>
          <p:cNvPr name="TextBox 47" id="47"/>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48" id="48"/>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49" id="49"/>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50" id="50"/>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51" id="51"/>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52" id="52"/>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53" id="53"/>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54" id="54"/>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55" id="55"/>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56" id="56"/>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57" id="57"/>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58" id="58"/>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59" id="59"/>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60" id="60"/>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61" id="61"/>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62" id="6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94834" y="390689"/>
            <a:ext cx="4064481" cy="1218582"/>
          </a:xfrm>
          <a:custGeom>
            <a:avLst/>
            <a:gdLst/>
            <a:ahLst/>
            <a:cxnLst/>
            <a:rect r="r" b="b" t="t" l="l"/>
            <a:pathLst>
              <a:path h="1218582" w="4064481">
                <a:moveTo>
                  <a:pt x="0" y="0"/>
                </a:moveTo>
                <a:lnTo>
                  <a:pt x="4064481" y="0"/>
                </a:lnTo>
                <a:lnTo>
                  <a:pt x="4064481" y="1218581"/>
                </a:lnTo>
                <a:lnTo>
                  <a:pt x="0" y="1218581"/>
                </a:lnTo>
                <a:lnTo>
                  <a:pt x="0" y="0"/>
                </a:lnTo>
                <a:close/>
              </a:path>
            </a:pathLst>
          </a:custGeom>
          <a:blipFill>
            <a:blip r:embed="rId2"/>
            <a:stretch>
              <a:fillRect l="0" t="-110584" r="0" b="-122957"/>
            </a:stretch>
          </a:blipFill>
        </p:spPr>
      </p:sp>
      <p:sp>
        <p:nvSpPr>
          <p:cNvPr name="Freeform 3" id="3"/>
          <p:cNvSpPr/>
          <p:nvPr/>
        </p:nvSpPr>
        <p:spPr>
          <a:xfrm flipH="false" flipV="false" rot="0">
            <a:off x="329159" y="2241925"/>
            <a:ext cx="465675" cy="461441"/>
          </a:xfrm>
          <a:custGeom>
            <a:avLst/>
            <a:gdLst/>
            <a:ahLst/>
            <a:cxnLst/>
            <a:rect r="r" b="b" t="t" l="l"/>
            <a:pathLst>
              <a:path h="461441" w="465675">
                <a:moveTo>
                  <a:pt x="0" y="0"/>
                </a:moveTo>
                <a:lnTo>
                  <a:pt x="465675" y="0"/>
                </a:lnTo>
                <a:lnTo>
                  <a:pt x="465675" y="461441"/>
                </a:lnTo>
                <a:lnTo>
                  <a:pt x="0" y="461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37014" y="762507"/>
            <a:ext cx="504590" cy="474946"/>
          </a:xfrm>
          <a:custGeom>
            <a:avLst/>
            <a:gdLst/>
            <a:ahLst/>
            <a:cxnLst/>
            <a:rect r="r" b="b" t="t" l="l"/>
            <a:pathLst>
              <a:path h="474946" w="504590">
                <a:moveTo>
                  <a:pt x="0" y="0"/>
                </a:moveTo>
                <a:lnTo>
                  <a:pt x="504591" y="0"/>
                </a:lnTo>
                <a:lnTo>
                  <a:pt x="504591" y="474945"/>
                </a:lnTo>
                <a:lnTo>
                  <a:pt x="0" y="4749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2314737" y="6985232"/>
            <a:ext cx="5668574" cy="2712801"/>
            <a:chOff x="0" y="0"/>
            <a:chExt cx="1492958" cy="714482"/>
          </a:xfrm>
        </p:grpSpPr>
        <p:sp>
          <p:nvSpPr>
            <p:cNvPr name="Freeform 6" id="6"/>
            <p:cNvSpPr/>
            <p:nvPr/>
          </p:nvSpPr>
          <p:spPr>
            <a:xfrm flipH="false" flipV="false" rot="0">
              <a:off x="0" y="0"/>
              <a:ext cx="1492958" cy="714483"/>
            </a:xfrm>
            <a:custGeom>
              <a:avLst/>
              <a:gdLst/>
              <a:ahLst/>
              <a:cxnLst/>
              <a:rect r="r" b="b" t="t" l="l"/>
              <a:pathLst>
                <a:path h="714483" w="1492958">
                  <a:moveTo>
                    <a:pt x="69654" y="0"/>
                  </a:moveTo>
                  <a:lnTo>
                    <a:pt x="1423304" y="0"/>
                  </a:lnTo>
                  <a:cubicBezTo>
                    <a:pt x="1441777" y="0"/>
                    <a:pt x="1459494" y="7339"/>
                    <a:pt x="1472557" y="20401"/>
                  </a:cubicBezTo>
                  <a:cubicBezTo>
                    <a:pt x="1485619" y="33464"/>
                    <a:pt x="1492958" y="51180"/>
                    <a:pt x="1492958" y="69654"/>
                  </a:cubicBezTo>
                  <a:lnTo>
                    <a:pt x="1492958" y="644829"/>
                  </a:lnTo>
                  <a:cubicBezTo>
                    <a:pt x="1492958" y="683297"/>
                    <a:pt x="1461773" y="714483"/>
                    <a:pt x="1423304" y="714483"/>
                  </a:cubicBezTo>
                  <a:lnTo>
                    <a:pt x="69654" y="714483"/>
                  </a:lnTo>
                  <a:cubicBezTo>
                    <a:pt x="51180" y="714483"/>
                    <a:pt x="33464" y="707144"/>
                    <a:pt x="20401" y="694081"/>
                  </a:cubicBezTo>
                  <a:cubicBezTo>
                    <a:pt x="7339" y="681019"/>
                    <a:pt x="0" y="663302"/>
                    <a:pt x="0" y="644829"/>
                  </a:cubicBezTo>
                  <a:lnTo>
                    <a:pt x="0" y="69654"/>
                  </a:lnTo>
                  <a:cubicBezTo>
                    <a:pt x="0" y="31185"/>
                    <a:pt x="31185" y="0"/>
                    <a:pt x="69654" y="0"/>
                  </a:cubicBezTo>
                  <a:close/>
                </a:path>
              </a:pathLst>
            </a:custGeom>
            <a:solidFill>
              <a:srgbClr val="FEFEFE"/>
            </a:solidFill>
          </p:spPr>
        </p:sp>
        <p:sp>
          <p:nvSpPr>
            <p:cNvPr name="TextBox 7" id="7"/>
            <p:cNvSpPr txBox="true"/>
            <p:nvPr/>
          </p:nvSpPr>
          <p:spPr>
            <a:xfrm>
              <a:off x="0" y="-38100"/>
              <a:ext cx="1492958" cy="752582"/>
            </a:xfrm>
            <a:prstGeom prst="rect">
              <a:avLst/>
            </a:prstGeom>
          </p:spPr>
          <p:txBody>
            <a:bodyPr anchor="ctr" rtlCol="false" tIns="50800" lIns="50800" bIns="50800" rIns="50800"/>
            <a:lstStyle/>
            <a:p>
              <a:pPr algn="ctr">
                <a:lnSpc>
                  <a:spcPts val="2871"/>
                </a:lnSpc>
              </a:pPr>
            </a:p>
          </p:txBody>
        </p:sp>
      </p:grpSp>
      <p:grpSp>
        <p:nvGrpSpPr>
          <p:cNvPr name="Group 8" id="8"/>
          <p:cNvGrpSpPr/>
          <p:nvPr/>
        </p:nvGrpSpPr>
        <p:grpSpPr>
          <a:xfrm rot="0">
            <a:off x="12504623" y="8880057"/>
            <a:ext cx="5302931" cy="635804"/>
            <a:chOff x="0" y="0"/>
            <a:chExt cx="1713001" cy="205383"/>
          </a:xfrm>
        </p:grpSpPr>
        <p:sp>
          <p:nvSpPr>
            <p:cNvPr name="Freeform 9" id="9"/>
            <p:cNvSpPr/>
            <p:nvPr/>
          </p:nvSpPr>
          <p:spPr>
            <a:xfrm flipH="false" flipV="false" rot="0">
              <a:off x="0" y="0"/>
              <a:ext cx="1713001" cy="205383"/>
            </a:xfrm>
            <a:custGeom>
              <a:avLst/>
              <a:gdLst/>
              <a:ahLst/>
              <a:cxnLst/>
              <a:rect r="r" b="b" t="t" l="l"/>
              <a:pathLst>
                <a:path h="205383" w="1713001">
                  <a:moveTo>
                    <a:pt x="74457" y="0"/>
                  </a:moveTo>
                  <a:lnTo>
                    <a:pt x="1638544" y="0"/>
                  </a:lnTo>
                  <a:cubicBezTo>
                    <a:pt x="1679665" y="0"/>
                    <a:pt x="1713001" y="33335"/>
                    <a:pt x="1713001" y="74457"/>
                  </a:cubicBezTo>
                  <a:lnTo>
                    <a:pt x="1713001" y="130926"/>
                  </a:lnTo>
                  <a:cubicBezTo>
                    <a:pt x="1713001" y="150674"/>
                    <a:pt x="1705156" y="169612"/>
                    <a:pt x="1691193" y="183575"/>
                  </a:cubicBezTo>
                  <a:cubicBezTo>
                    <a:pt x="1677230" y="197539"/>
                    <a:pt x="1658291" y="205383"/>
                    <a:pt x="1638544" y="205383"/>
                  </a:cubicBezTo>
                  <a:lnTo>
                    <a:pt x="74457" y="205383"/>
                  </a:lnTo>
                  <a:cubicBezTo>
                    <a:pt x="33335" y="205383"/>
                    <a:pt x="0" y="172048"/>
                    <a:pt x="0" y="130926"/>
                  </a:cubicBezTo>
                  <a:lnTo>
                    <a:pt x="0" y="74457"/>
                  </a:lnTo>
                  <a:cubicBezTo>
                    <a:pt x="0" y="33335"/>
                    <a:pt x="33335" y="0"/>
                    <a:pt x="74457" y="0"/>
                  </a:cubicBezTo>
                  <a:close/>
                </a:path>
              </a:pathLst>
            </a:custGeom>
            <a:solidFill>
              <a:srgbClr val="000000"/>
            </a:solidFill>
          </p:spPr>
        </p:sp>
        <p:sp>
          <p:nvSpPr>
            <p:cNvPr name="TextBox 10" id="10"/>
            <p:cNvSpPr txBox="true"/>
            <p:nvPr/>
          </p:nvSpPr>
          <p:spPr>
            <a:xfrm>
              <a:off x="0" y="-28575"/>
              <a:ext cx="1713001" cy="233958"/>
            </a:xfrm>
            <a:prstGeom prst="rect">
              <a:avLst/>
            </a:prstGeom>
          </p:spPr>
          <p:txBody>
            <a:bodyPr anchor="ctr" rtlCol="false" tIns="50800" lIns="50800" bIns="50800" rIns="50800"/>
            <a:lstStyle/>
            <a:p>
              <a:pPr algn="ctr">
                <a:lnSpc>
                  <a:spcPts val="1977"/>
                </a:lnSpc>
              </a:pPr>
            </a:p>
          </p:txBody>
        </p:sp>
      </p:grpSp>
      <p:sp>
        <p:nvSpPr>
          <p:cNvPr name="Freeform 11" id="11"/>
          <p:cNvSpPr/>
          <p:nvPr/>
        </p:nvSpPr>
        <p:spPr>
          <a:xfrm flipH="false" flipV="false" rot="0">
            <a:off x="7940088" y="762507"/>
            <a:ext cx="810748" cy="432737"/>
          </a:xfrm>
          <a:custGeom>
            <a:avLst/>
            <a:gdLst/>
            <a:ahLst/>
            <a:cxnLst/>
            <a:rect r="r" b="b" t="t" l="l"/>
            <a:pathLst>
              <a:path h="432737" w="810748">
                <a:moveTo>
                  <a:pt x="0" y="0"/>
                </a:moveTo>
                <a:lnTo>
                  <a:pt x="810748" y="0"/>
                </a:lnTo>
                <a:lnTo>
                  <a:pt x="810748" y="432736"/>
                </a:lnTo>
                <a:lnTo>
                  <a:pt x="0" y="4327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9700908" y="629292"/>
            <a:ext cx="600914" cy="565952"/>
          </a:xfrm>
          <a:custGeom>
            <a:avLst/>
            <a:gdLst/>
            <a:ahLst/>
            <a:cxnLst/>
            <a:rect r="r" b="b" t="t" l="l"/>
            <a:pathLst>
              <a:path h="565952" w="600914">
                <a:moveTo>
                  <a:pt x="0" y="0"/>
                </a:moveTo>
                <a:lnTo>
                  <a:pt x="600914" y="0"/>
                </a:lnTo>
                <a:lnTo>
                  <a:pt x="600914" y="565951"/>
                </a:lnTo>
                <a:lnTo>
                  <a:pt x="0" y="5659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1391318" y="722279"/>
            <a:ext cx="521458" cy="387775"/>
          </a:xfrm>
          <a:custGeom>
            <a:avLst/>
            <a:gdLst/>
            <a:ahLst/>
            <a:cxnLst/>
            <a:rect r="r" b="b" t="t" l="l"/>
            <a:pathLst>
              <a:path h="387775" w="521458">
                <a:moveTo>
                  <a:pt x="0" y="0"/>
                </a:moveTo>
                <a:lnTo>
                  <a:pt x="521459" y="0"/>
                </a:lnTo>
                <a:lnTo>
                  <a:pt x="521459" y="387775"/>
                </a:lnTo>
                <a:lnTo>
                  <a:pt x="0" y="3877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9405037" y="1333140"/>
            <a:ext cx="1208227" cy="224877"/>
          </a:xfrm>
          <a:prstGeom prst="rect">
            <a:avLst/>
          </a:prstGeom>
        </p:spPr>
        <p:txBody>
          <a:bodyPr anchor="t" rtlCol="false" tIns="0" lIns="0" bIns="0" rIns="0">
            <a:spAutoFit/>
          </a:bodyPr>
          <a:lstStyle/>
          <a:p>
            <a:pPr algn="ctr" marL="0" indent="0" lvl="0">
              <a:lnSpc>
                <a:spcPts val="1819"/>
              </a:lnSpc>
              <a:spcBef>
                <a:spcPct val="0"/>
              </a:spcBef>
            </a:pPr>
            <a:r>
              <a:rPr lang="en-US" sz="1299">
                <a:solidFill>
                  <a:srgbClr val="FFFFFF"/>
                </a:solidFill>
                <a:latin typeface="Montserrat"/>
                <a:ea typeface="Montserrat"/>
                <a:cs typeface="Montserrat"/>
                <a:sym typeface="Montserrat"/>
              </a:rPr>
              <a:t>PAGAMENTO</a:t>
            </a:r>
          </a:p>
        </p:txBody>
      </p:sp>
      <p:sp>
        <p:nvSpPr>
          <p:cNvPr name="TextBox 15" id="15"/>
          <p:cNvSpPr txBox="true"/>
          <p:nvPr/>
        </p:nvSpPr>
        <p:spPr>
          <a:xfrm rot="0">
            <a:off x="6032704" y="1316084"/>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CARRINHO</a:t>
            </a:r>
          </a:p>
        </p:txBody>
      </p:sp>
      <p:sp>
        <p:nvSpPr>
          <p:cNvPr name="TextBox 16" id="16"/>
          <p:cNvSpPr txBox="true"/>
          <p:nvPr/>
        </p:nvSpPr>
        <p:spPr>
          <a:xfrm rot="0">
            <a:off x="7688857" y="1316084"/>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ENTREGA</a:t>
            </a:r>
          </a:p>
        </p:txBody>
      </p:sp>
      <p:sp>
        <p:nvSpPr>
          <p:cNvPr name="Freeform 17" id="17"/>
          <p:cNvSpPr/>
          <p:nvPr/>
        </p:nvSpPr>
        <p:spPr>
          <a:xfrm flipH="false" flipV="false" rot="0">
            <a:off x="6103939" y="528294"/>
            <a:ext cx="1170741" cy="1170741"/>
          </a:xfrm>
          <a:custGeom>
            <a:avLst/>
            <a:gdLst/>
            <a:ahLst/>
            <a:cxnLst/>
            <a:rect r="r" b="b" t="t" l="l"/>
            <a:pathLst>
              <a:path h="1170741" w="1170741">
                <a:moveTo>
                  <a:pt x="0" y="0"/>
                </a:moveTo>
                <a:lnTo>
                  <a:pt x="1170741" y="0"/>
                </a:lnTo>
                <a:lnTo>
                  <a:pt x="1170741" y="1170742"/>
                </a:lnTo>
                <a:lnTo>
                  <a:pt x="0" y="117074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8" id="18"/>
          <p:cNvSpPr/>
          <p:nvPr/>
        </p:nvSpPr>
        <p:spPr>
          <a:xfrm flipH="false" flipV="false" rot="0">
            <a:off x="7809427" y="472909"/>
            <a:ext cx="1170741" cy="1170741"/>
          </a:xfrm>
          <a:custGeom>
            <a:avLst/>
            <a:gdLst/>
            <a:ahLst/>
            <a:cxnLst/>
            <a:rect r="r" b="b" t="t" l="l"/>
            <a:pathLst>
              <a:path h="1170741" w="1170741">
                <a:moveTo>
                  <a:pt x="0" y="0"/>
                </a:moveTo>
                <a:lnTo>
                  <a:pt x="1170742" y="0"/>
                </a:lnTo>
                <a:lnTo>
                  <a:pt x="1170742" y="1170741"/>
                </a:lnTo>
                <a:lnTo>
                  <a:pt x="0" y="11707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9" id="19"/>
          <p:cNvSpPr/>
          <p:nvPr/>
        </p:nvSpPr>
        <p:spPr>
          <a:xfrm flipH="false" flipV="false" rot="0">
            <a:off x="9423780" y="472909"/>
            <a:ext cx="1170741" cy="1170741"/>
          </a:xfrm>
          <a:custGeom>
            <a:avLst/>
            <a:gdLst/>
            <a:ahLst/>
            <a:cxnLst/>
            <a:rect r="r" b="b" t="t" l="l"/>
            <a:pathLst>
              <a:path h="1170741" w="1170741">
                <a:moveTo>
                  <a:pt x="0" y="0"/>
                </a:moveTo>
                <a:lnTo>
                  <a:pt x="1170741" y="0"/>
                </a:lnTo>
                <a:lnTo>
                  <a:pt x="1170741" y="1170741"/>
                </a:lnTo>
                <a:lnTo>
                  <a:pt x="0" y="11707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0" id="20"/>
          <p:cNvSpPr txBox="true"/>
          <p:nvPr/>
        </p:nvSpPr>
        <p:spPr>
          <a:xfrm rot="0">
            <a:off x="10992093" y="1377210"/>
            <a:ext cx="1263203" cy="180807"/>
          </a:xfrm>
          <a:prstGeom prst="rect">
            <a:avLst/>
          </a:prstGeom>
        </p:spPr>
        <p:txBody>
          <a:bodyPr anchor="t" rtlCol="false" tIns="0" lIns="0" bIns="0" rIns="0">
            <a:spAutoFit/>
          </a:bodyPr>
          <a:lstStyle/>
          <a:p>
            <a:pPr algn="ctr" marL="0" indent="0" lvl="0">
              <a:lnSpc>
                <a:spcPts val="1499"/>
              </a:lnSpc>
              <a:spcBef>
                <a:spcPct val="0"/>
              </a:spcBef>
            </a:pPr>
            <a:r>
              <a:rPr lang="en-US" sz="1070">
                <a:solidFill>
                  <a:srgbClr val="FFFFFF"/>
                </a:solidFill>
                <a:latin typeface="Montserrat"/>
                <a:ea typeface="Montserrat"/>
                <a:cs typeface="Montserrat"/>
                <a:sym typeface="Montserrat"/>
              </a:rPr>
              <a:t>CONFIRMAÇÃO</a:t>
            </a:r>
          </a:p>
        </p:txBody>
      </p:sp>
      <p:sp>
        <p:nvSpPr>
          <p:cNvPr name="Freeform 21" id="21"/>
          <p:cNvSpPr/>
          <p:nvPr/>
        </p:nvSpPr>
        <p:spPr>
          <a:xfrm flipH="false" flipV="false" rot="0">
            <a:off x="11030193" y="472909"/>
            <a:ext cx="1170741" cy="1170741"/>
          </a:xfrm>
          <a:custGeom>
            <a:avLst/>
            <a:gdLst/>
            <a:ahLst/>
            <a:cxnLst/>
            <a:rect r="r" b="b" t="t" l="l"/>
            <a:pathLst>
              <a:path h="1170741" w="1170741">
                <a:moveTo>
                  <a:pt x="0" y="0"/>
                </a:moveTo>
                <a:lnTo>
                  <a:pt x="1170741" y="0"/>
                </a:lnTo>
                <a:lnTo>
                  <a:pt x="1170741" y="1170741"/>
                </a:lnTo>
                <a:lnTo>
                  <a:pt x="0" y="11707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2024544" y="2935399"/>
            <a:ext cx="374746" cy="374746"/>
          </a:xfrm>
          <a:custGeom>
            <a:avLst/>
            <a:gdLst/>
            <a:ahLst/>
            <a:cxnLst/>
            <a:rect r="r" b="b" t="t" l="l"/>
            <a:pathLst>
              <a:path h="374746" w="374746">
                <a:moveTo>
                  <a:pt x="0" y="0"/>
                </a:moveTo>
                <a:lnTo>
                  <a:pt x="374746" y="0"/>
                </a:lnTo>
                <a:lnTo>
                  <a:pt x="374746" y="374746"/>
                </a:lnTo>
                <a:lnTo>
                  <a:pt x="0" y="37474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3" id="23"/>
          <p:cNvSpPr/>
          <p:nvPr/>
        </p:nvSpPr>
        <p:spPr>
          <a:xfrm flipH="false" flipV="false" rot="0">
            <a:off x="11115764" y="2910795"/>
            <a:ext cx="299876" cy="399350"/>
          </a:xfrm>
          <a:custGeom>
            <a:avLst/>
            <a:gdLst/>
            <a:ahLst/>
            <a:cxnLst/>
            <a:rect r="r" b="b" t="t" l="l"/>
            <a:pathLst>
              <a:path h="399350" w="299876">
                <a:moveTo>
                  <a:pt x="0" y="0"/>
                </a:moveTo>
                <a:lnTo>
                  <a:pt x="299875" y="0"/>
                </a:lnTo>
                <a:lnTo>
                  <a:pt x="299875" y="399350"/>
                </a:lnTo>
                <a:lnTo>
                  <a:pt x="0" y="39935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AutoShape 24" id="24"/>
          <p:cNvSpPr/>
          <p:nvPr/>
        </p:nvSpPr>
        <p:spPr>
          <a:xfrm>
            <a:off x="12672846" y="8257635"/>
            <a:ext cx="4999343" cy="0"/>
          </a:xfrm>
          <a:prstGeom prst="line">
            <a:avLst/>
          </a:prstGeom>
          <a:ln cap="flat" w="28575">
            <a:solidFill>
              <a:srgbClr val="FFFFFF"/>
            </a:solidFill>
            <a:prstDash val="solid"/>
            <a:headEnd type="none" len="sm" w="sm"/>
            <a:tailEnd type="none" len="sm" w="sm"/>
          </a:ln>
        </p:spPr>
      </p:sp>
      <p:sp>
        <p:nvSpPr>
          <p:cNvPr name="AutoShape 25" id="25"/>
          <p:cNvSpPr/>
          <p:nvPr/>
        </p:nvSpPr>
        <p:spPr>
          <a:xfrm>
            <a:off x="12649538" y="7793902"/>
            <a:ext cx="4999343" cy="0"/>
          </a:xfrm>
          <a:prstGeom prst="line">
            <a:avLst/>
          </a:prstGeom>
          <a:ln cap="flat" w="28575">
            <a:solidFill>
              <a:srgbClr val="FFFFFF"/>
            </a:solidFill>
            <a:prstDash val="solid"/>
            <a:headEnd type="none" len="sm" w="sm"/>
            <a:tailEnd type="none" len="sm" w="sm"/>
          </a:ln>
        </p:spPr>
      </p:sp>
      <p:sp>
        <p:nvSpPr>
          <p:cNvPr name="AutoShape 26" id="26"/>
          <p:cNvSpPr/>
          <p:nvPr/>
        </p:nvSpPr>
        <p:spPr>
          <a:xfrm flipV="true">
            <a:off x="16593553" y="8110708"/>
            <a:ext cx="115854" cy="218"/>
          </a:xfrm>
          <a:prstGeom prst="line">
            <a:avLst/>
          </a:prstGeom>
          <a:ln cap="flat" w="28575">
            <a:solidFill>
              <a:srgbClr val="000000"/>
            </a:solidFill>
            <a:prstDash val="solid"/>
            <a:headEnd type="none" len="sm" w="sm"/>
            <a:tailEnd type="none" len="sm" w="sm"/>
          </a:ln>
        </p:spPr>
      </p:sp>
      <p:sp>
        <p:nvSpPr>
          <p:cNvPr name="AutoShape 27" id="27"/>
          <p:cNvSpPr/>
          <p:nvPr/>
        </p:nvSpPr>
        <p:spPr>
          <a:xfrm>
            <a:off x="1027061" y="4419962"/>
            <a:ext cx="16230600" cy="0"/>
          </a:xfrm>
          <a:prstGeom prst="line">
            <a:avLst/>
          </a:prstGeom>
          <a:ln cap="flat" w="28575">
            <a:solidFill>
              <a:srgbClr val="FFFFFF"/>
            </a:solidFill>
            <a:prstDash val="solid"/>
            <a:headEnd type="none" len="sm" w="sm"/>
            <a:tailEnd type="none" len="sm" w="sm"/>
          </a:ln>
        </p:spPr>
      </p:sp>
      <p:sp>
        <p:nvSpPr>
          <p:cNvPr name="AutoShape 28" id="28"/>
          <p:cNvSpPr/>
          <p:nvPr/>
        </p:nvSpPr>
        <p:spPr>
          <a:xfrm>
            <a:off x="-872166" y="1832386"/>
            <a:ext cx="22378795" cy="0"/>
          </a:xfrm>
          <a:prstGeom prst="line">
            <a:avLst/>
          </a:prstGeom>
          <a:ln cap="flat" w="28575">
            <a:solidFill>
              <a:srgbClr val="FFFFFF"/>
            </a:solidFill>
            <a:prstDash val="solid"/>
            <a:headEnd type="none" len="sm" w="sm"/>
            <a:tailEnd type="none" len="sm" w="sm"/>
          </a:ln>
        </p:spPr>
      </p:sp>
      <p:grpSp>
        <p:nvGrpSpPr>
          <p:cNvPr name="Group 29" id="29"/>
          <p:cNvGrpSpPr/>
          <p:nvPr/>
        </p:nvGrpSpPr>
        <p:grpSpPr>
          <a:xfrm rot="0">
            <a:off x="8345462" y="6985232"/>
            <a:ext cx="1400921" cy="508382"/>
            <a:chOff x="0" y="0"/>
            <a:chExt cx="452538" cy="164222"/>
          </a:xfrm>
        </p:grpSpPr>
        <p:sp>
          <p:nvSpPr>
            <p:cNvPr name="Freeform 30" id="30"/>
            <p:cNvSpPr/>
            <p:nvPr/>
          </p:nvSpPr>
          <p:spPr>
            <a:xfrm flipH="false" flipV="false" rot="0">
              <a:off x="0" y="0"/>
              <a:ext cx="452538" cy="164222"/>
            </a:xfrm>
            <a:custGeom>
              <a:avLst/>
              <a:gdLst/>
              <a:ahLst/>
              <a:cxnLst/>
              <a:rect r="r" b="b" t="t" l="l"/>
              <a:pathLst>
                <a:path h="164222" w="452538">
                  <a:moveTo>
                    <a:pt x="82111" y="0"/>
                  </a:moveTo>
                  <a:lnTo>
                    <a:pt x="370427" y="0"/>
                  </a:lnTo>
                  <a:cubicBezTo>
                    <a:pt x="392204" y="0"/>
                    <a:pt x="413090" y="8651"/>
                    <a:pt x="428488" y="24050"/>
                  </a:cubicBezTo>
                  <a:cubicBezTo>
                    <a:pt x="443887" y="39449"/>
                    <a:pt x="452538" y="60334"/>
                    <a:pt x="452538" y="82111"/>
                  </a:cubicBezTo>
                  <a:lnTo>
                    <a:pt x="452538" y="82111"/>
                  </a:lnTo>
                  <a:cubicBezTo>
                    <a:pt x="452538" y="103888"/>
                    <a:pt x="443887" y="124773"/>
                    <a:pt x="428488" y="140172"/>
                  </a:cubicBezTo>
                  <a:cubicBezTo>
                    <a:pt x="413090" y="155571"/>
                    <a:pt x="392204" y="164222"/>
                    <a:pt x="370427" y="164222"/>
                  </a:cubicBezTo>
                  <a:lnTo>
                    <a:pt x="82111" y="164222"/>
                  </a:lnTo>
                  <a:cubicBezTo>
                    <a:pt x="60334" y="164222"/>
                    <a:pt x="39449" y="155571"/>
                    <a:pt x="24050" y="140172"/>
                  </a:cubicBezTo>
                  <a:cubicBezTo>
                    <a:pt x="8651" y="124773"/>
                    <a:pt x="0" y="103888"/>
                    <a:pt x="0" y="82111"/>
                  </a:cubicBezTo>
                  <a:lnTo>
                    <a:pt x="0" y="82111"/>
                  </a:lnTo>
                  <a:cubicBezTo>
                    <a:pt x="0" y="60334"/>
                    <a:pt x="8651" y="39449"/>
                    <a:pt x="24050" y="24050"/>
                  </a:cubicBezTo>
                  <a:cubicBezTo>
                    <a:pt x="39449" y="8651"/>
                    <a:pt x="60334" y="0"/>
                    <a:pt x="82111" y="0"/>
                  </a:cubicBezTo>
                  <a:close/>
                </a:path>
              </a:pathLst>
            </a:custGeom>
            <a:solidFill>
              <a:srgbClr val="FFFFFF"/>
            </a:solidFill>
          </p:spPr>
        </p:sp>
        <p:sp>
          <p:nvSpPr>
            <p:cNvPr name="TextBox 31" id="31"/>
            <p:cNvSpPr txBox="true"/>
            <p:nvPr/>
          </p:nvSpPr>
          <p:spPr>
            <a:xfrm>
              <a:off x="0" y="-28575"/>
              <a:ext cx="452538" cy="192797"/>
            </a:xfrm>
            <a:prstGeom prst="rect">
              <a:avLst/>
            </a:prstGeom>
          </p:spPr>
          <p:txBody>
            <a:bodyPr anchor="ctr" rtlCol="false" tIns="50800" lIns="50800" bIns="50800" rIns="50800"/>
            <a:lstStyle/>
            <a:p>
              <a:pPr algn="ctr">
                <a:lnSpc>
                  <a:spcPts val="1977"/>
                </a:lnSpc>
              </a:pPr>
            </a:p>
          </p:txBody>
        </p:sp>
      </p:grpSp>
      <p:grpSp>
        <p:nvGrpSpPr>
          <p:cNvPr name="Group 32" id="32"/>
          <p:cNvGrpSpPr/>
          <p:nvPr/>
        </p:nvGrpSpPr>
        <p:grpSpPr>
          <a:xfrm rot="0">
            <a:off x="8345462" y="7638454"/>
            <a:ext cx="1400921" cy="501294"/>
            <a:chOff x="0" y="0"/>
            <a:chExt cx="452538" cy="161932"/>
          </a:xfrm>
        </p:grpSpPr>
        <p:sp>
          <p:nvSpPr>
            <p:cNvPr name="Freeform 33" id="33"/>
            <p:cNvSpPr/>
            <p:nvPr/>
          </p:nvSpPr>
          <p:spPr>
            <a:xfrm flipH="false" flipV="false" rot="0">
              <a:off x="0" y="0"/>
              <a:ext cx="452538" cy="161932"/>
            </a:xfrm>
            <a:custGeom>
              <a:avLst/>
              <a:gdLst/>
              <a:ahLst/>
              <a:cxnLst/>
              <a:rect r="r" b="b" t="t" l="l"/>
              <a:pathLst>
                <a:path h="161932" w="452538">
                  <a:moveTo>
                    <a:pt x="80966" y="0"/>
                  </a:moveTo>
                  <a:lnTo>
                    <a:pt x="371572" y="0"/>
                  </a:lnTo>
                  <a:cubicBezTo>
                    <a:pt x="416288" y="0"/>
                    <a:pt x="452538" y="36250"/>
                    <a:pt x="452538" y="80966"/>
                  </a:cubicBezTo>
                  <a:lnTo>
                    <a:pt x="452538" y="80966"/>
                  </a:lnTo>
                  <a:cubicBezTo>
                    <a:pt x="452538" y="102440"/>
                    <a:pt x="444008" y="123034"/>
                    <a:pt x="428824" y="138218"/>
                  </a:cubicBezTo>
                  <a:cubicBezTo>
                    <a:pt x="413640" y="153402"/>
                    <a:pt x="393045" y="161932"/>
                    <a:pt x="371572" y="161932"/>
                  </a:cubicBezTo>
                  <a:lnTo>
                    <a:pt x="80966" y="161932"/>
                  </a:lnTo>
                  <a:cubicBezTo>
                    <a:pt x="59493" y="161932"/>
                    <a:pt x="38899" y="153402"/>
                    <a:pt x="23714" y="138218"/>
                  </a:cubicBezTo>
                  <a:cubicBezTo>
                    <a:pt x="8530" y="123034"/>
                    <a:pt x="0" y="102440"/>
                    <a:pt x="0" y="80966"/>
                  </a:cubicBezTo>
                  <a:lnTo>
                    <a:pt x="0" y="80966"/>
                  </a:lnTo>
                  <a:cubicBezTo>
                    <a:pt x="0" y="59493"/>
                    <a:pt x="8530" y="38899"/>
                    <a:pt x="23714" y="23714"/>
                  </a:cubicBezTo>
                  <a:cubicBezTo>
                    <a:pt x="38899" y="8530"/>
                    <a:pt x="59493" y="0"/>
                    <a:pt x="80966" y="0"/>
                  </a:cubicBezTo>
                  <a:close/>
                </a:path>
              </a:pathLst>
            </a:custGeom>
            <a:solidFill>
              <a:srgbClr val="FEFEFE"/>
            </a:solidFill>
          </p:spPr>
        </p:sp>
        <p:sp>
          <p:nvSpPr>
            <p:cNvPr name="TextBox 34" id="34"/>
            <p:cNvSpPr txBox="true"/>
            <p:nvPr/>
          </p:nvSpPr>
          <p:spPr>
            <a:xfrm>
              <a:off x="0" y="-28575"/>
              <a:ext cx="452538" cy="190507"/>
            </a:xfrm>
            <a:prstGeom prst="rect">
              <a:avLst/>
            </a:prstGeom>
          </p:spPr>
          <p:txBody>
            <a:bodyPr anchor="ctr" rtlCol="false" tIns="50800" lIns="50800" bIns="50800" rIns="50800"/>
            <a:lstStyle/>
            <a:p>
              <a:pPr algn="ctr">
                <a:lnSpc>
                  <a:spcPts val="1977"/>
                </a:lnSpc>
              </a:pPr>
            </a:p>
          </p:txBody>
        </p:sp>
      </p:grpSp>
      <p:sp>
        <p:nvSpPr>
          <p:cNvPr name="TextBox 35" id="35"/>
          <p:cNvSpPr txBox="true"/>
          <p:nvPr/>
        </p:nvSpPr>
        <p:spPr>
          <a:xfrm rot="0">
            <a:off x="14228855" y="7253693"/>
            <a:ext cx="3756969" cy="239921"/>
          </a:xfrm>
          <a:prstGeom prst="rect">
            <a:avLst/>
          </a:prstGeom>
        </p:spPr>
        <p:txBody>
          <a:bodyPr anchor="t" rtlCol="false" tIns="0" lIns="0" bIns="0" rIns="0">
            <a:spAutoFit/>
          </a:bodyPr>
          <a:lstStyle/>
          <a:p>
            <a:pPr algn="just">
              <a:lnSpc>
                <a:spcPts val="1811"/>
              </a:lnSpc>
            </a:pPr>
            <a:r>
              <a:rPr lang="en-US" sz="1793" spc="-104">
                <a:solidFill>
                  <a:srgbClr val="000000"/>
                </a:solidFill>
                <a:latin typeface="Open Sauce"/>
                <a:ea typeface="Open Sauce"/>
                <a:cs typeface="Open Sauce"/>
                <a:sym typeface="Open Sauce"/>
              </a:rPr>
              <a:t>Resumo da compra:</a:t>
            </a:r>
          </a:p>
        </p:txBody>
      </p:sp>
      <p:sp>
        <p:nvSpPr>
          <p:cNvPr name="TextBox 36" id="36"/>
          <p:cNvSpPr txBox="true"/>
          <p:nvPr/>
        </p:nvSpPr>
        <p:spPr>
          <a:xfrm rot="0">
            <a:off x="7333760" y="707337"/>
            <a:ext cx="404310" cy="530115"/>
          </a:xfrm>
          <a:prstGeom prst="rect">
            <a:avLst/>
          </a:prstGeom>
        </p:spPr>
        <p:txBody>
          <a:bodyPr anchor="t" rtlCol="false" tIns="0" lIns="0" bIns="0" rIns="0">
            <a:spAutoFit/>
          </a:bodyPr>
          <a:lstStyle/>
          <a:p>
            <a:pPr algn="ctr" marL="0" indent="0" lvl="0">
              <a:lnSpc>
                <a:spcPts val="4383"/>
              </a:lnSpc>
              <a:spcBef>
                <a:spcPct val="0"/>
              </a:spcBef>
            </a:pPr>
            <a:r>
              <a:rPr lang="en-US" sz="3131">
                <a:solidFill>
                  <a:srgbClr val="FFFFFF"/>
                </a:solidFill>
                <a:latin typeface="Montserrat"/>
                <a:ea typeface="Montserrat"/>
                <a:cs typeface="Montserrat"/>
                <a:sym typeface="Montserrat"/>
              </a:rPr>
              <a:t>&gt;</a:t>
            </a:r>
          </a:p>
        </p:txBody>
      </p:sp>
      <p:sp>
        <p:nvSpPr>
          <p:cNvPr name="TextBox 37" id="37"/>
          <p:cNvSpPr txBox="true"/>
          <p:nvPr/>
        </p:nvSpPr>
        <p:spPr>
          <a:xfrm rot="0">
            <a:off x="14228855" y="9092285"/>
            <a:ext cx="3756969" cy="239921"/>
          </a:xfrm>
          <a:prstGeom prst="rect">
            <a:avLst/>
          </a:prstGeom>
        </p:spPr>
        <p:txBody>
          <a:bodyPr anchor="t" rtlCol="false" tIns="0" lIns="0" bIns="0" rIns="0">
            <a:spAutoFit/>
          </a:bodyPr>
          <a:lstStyle/>
          <a:p>
            <a:pPr algn="just">
              <a:lnSpc>
                <a:spcPts val="1811"/>
              </a:lnSpc>
            </a:pPr>
            <a:r>
              <a:rPr lang="en-US" sz="1793" spc="-104">
                <a:solidFill>
                  <a:srgbClr val="FFFFFF"/>
                </a:solidFill>
                <a:latin typeface="Open Sauce"/>
                <a:ea typeface="Open Sauce"/>
                <a:cs typeface="Open Sauce"/>
                <a:sym typeface="Open Sauce"/>
              </a:rPr>
              <a:t>Continuar compra</a:t>
            </a:r>
          </a:p>
        </p:txBody>
      </p:sp>
      <p:sp>
        <p:nvSpPr>
          <p:cNvPr name="TextBox 38" id="38"/>
          <p:cNvSpPr txBox="true"/>
          <p:nvPr/>
        </p:nvSpPr>
        <p:spPr>
          <a:xfrm rot="0">
            <a:off x="12672846" y="8556972"/>
            <a:ext cx="3512746" cy="222468"/>
          </a:xfrm>
          <a:prstGeom prst="rect">
            <a:avLst/>
          </a:prstGeom>
        </p:spPr>
        <p:txBody>
          <a:bodyPr anchor="t" rtlCol="false" tIns="0" lIns="0" bIns="0" rIns="0">
            <a:spAutoFit/>
          </a:bodyPr>
          <a:lstStyle/>
          <a:p>
            <a:pPr algn="just">
              <a:lnSpc>
                <a:spcPts val="1693"/>
              </a:lnSpc>
            </a:pPr>
            <a:r>
              <a:rPr lang="en-US" sz="1677" spc="-97">
                <a:solidFill>
                  <a:srgbClr val="000000"/>
                </a:solidFill>
                <a:latin typeface="Open Sauce"/>
                <a:ea typeface="Open Sauce"/>
                <a:cs typeface="Open Sauce"/>
                <a:sym typeface="Open Sauce"/>
              </a:rPr>
              <a:t>Total :</a:t>
            </a:r>
          </a:p>
        </p:txBody>
      </p:sp>
      <p:sp>
        <p:nvSpPr>
          <p:cNvPr name="TextBox 39" id="39"/>
          <p:cNvSpPr txBox="true"/>
          <p:nvPr/>
        </p:nvSpPr>
        <p:spPr>
          <a:xfrm rot="0">
            <a:off x="8965961" y="665129"/>
            <a:ext cx="404310" cy="530115"/>
          </a:xfrm>
          <a:prstGeom prst="rect">
            <a:avLst/>
          </a:prstGeom>
        </p:spPr>
        <p:txBody>
          <a:bodyPr anchor="t" rtlCol="false" tIns="0" lIns="0" bIns="0" rIns="0">
            <a:spAutoFit/>
          </a:bodyPr>
          <a:lstStyle/>
          <a:p>
            <a:pPr algn="ctr" marL="0" indent="0" lvl="0">
              <a:lnSpc>
                <a:spcPts val="4383"/>
              </a:lnSpc>
              <a:spcBef>
                <a:spcPct val="0"/>
              </a:spcBef>
            </a:pPr>
            <a:r>
              <a:rPr lang="en-US" sz="3131">
                <a:solidFill>
                  <a:srgbClr val="FFFFFF"/>
                </a:solidFill>
                <a:latin typeface="Montserrat"/>
                <a:ea typeface="Montserrat"/>
                <a:cs typeface="Montserrat"/>
                <a:sym typeface="Montserrat"/>
              </a:rPr>
              <a:t>&gt;</a:t>
            </a:r>
          </a:p>
        </p:txBody>
      </p:sp>
      <p:sp>
        <p:nvSpPr>
          <p:cNvPr name="TextBox 40" id="40"/>
          <p:cNvSpPr txBox="true"/>
          <p:nvPr/>
        </p:nvSpPr>
        <p:spPr>
          <a:xfrm rot="0">
            <a:off x="16707768" y="8557673"/>
            <a:ext cx="1099786" cy="221767"/>
          </a:xfrm>
          <a:prstGeom prst="rect">
            <a:avLst/>
          </a:prstGeom>
        </p:spPr>
        <p:txBody>
          <a:bodyPr anchor="t" rtlCol="false" tIns="0" lIns="0" bIns="0" rIns="0">
            <a:spAutoFit/>
          </a:bodyPr>
          <a:lstStyle/>
          <a:p>
            <a:pPr algn="just">
              <a:lnSpc>
                <a:spcPts val="1689"/>
              </a:lnSpc>
            </a:pPr>
            <a:r>
              <a:rPr lang="en-US" sz="1672" spc="-97">
                <a:solidFill>
                  <a:srgbClr val="000000"/>
                </a:solidFill>
                <a:latin typeface="Open Sauce"/>
                <a:ea typeface="Open Sauce"/>
                <a:cs typeface="Open Sauce"/>
                <a:sym typeface="Open Sauce"/>
              </a:rPr>
              <a:t>R$ 205,50</a:t>
            </a:r>
          </a:p>
        </p:txBody>
      </p:sp>
      <p:sp>
        <p:nvSpPr>
          <p:cNvPr name="TextBox 41" id="41"/>
          <p:cNvSpPr txBox="true"/>
          <p:nvPr/>
        </p:nvSpPr>
        <p:spPr>
          <a:xfrm rot="0">
            <a:off x="10587783" y="685243"/>
            <a:ext cx="404310" cy="530115"/>
          </a:xfrm>
          <a:prstGeom prst="rect">
            <a:avLst/>
          </a:prstGeom>
        </p:spPr>
        <p:txBody>
          <a:bodyPr anchor="t" rtlCol="false" tIns="0" lIns="0" bIns="0" rIns="0">
            <a:spAutoFit/>
          </a:bodyPr>
          <a:lstStyle/>
          <a:p>
            <a:pPr algn="ctr" marL="0" indent="0" lvl="0">
              <a:lnSpc>
                <a:spcPts val="4383"/>
              </a:lnSpc>
              <a:spcBef>
                <a:spcPct val="0"/>
              </a:spcBef>
            </a:pPr>
            <a:r>
              <a:rPr lang="en-US" sz="3131">
                <a:solidFill>
                  <a:srgbClr val="FFFFFF"/>
                </a:solidFill>
                <a:latin typeface="Montserrat"/>
                <a:ea typeface="Montserrat"/>
                <a:cs typeface="Montserrat"/>
                <a:sym typeface="Montserrat"/>
              </a:rPr>
              <a:t>&gt;</a:t>
            </a:r>
          </a:p>
        </p:txBody>
      </p:sp>
      <p:sp>
        <p:nvSpPr>
          <p:cNvPr name="TextBox 42" id="42"/>
          <p:cNvSpPr txBox="true"/>
          <p:nvPr/>
        </p:nvSpPr>
        <p:spPr>
          <a:xfrm rot="0">
            <a:off x="3706483" y="2299111"/>
            <a:ext cx="5141279" cy="253485"/>
          </a:xfrm>
          <a:prstGeom prst="rect">
            <a:avLst/>
          </a:prstGeom>
        </p:spPr>
        <p:txBody>
          <a:bodyPr anchor="t" rtlCol="false" tIns="0" lIns="0" bIns="0" rIns="0">
            <a:spAutoFit/>
          </a:bodyPr>
          <a:lstStyle/>
          <a:p>
            <a:pPr algn="just">
              <a:lnSpc>
                <a:spcPts val="1903"/>
              </a:lnSpc>
            </a:pPr>
            <a:r>
              <a:rPr lang="en-US" b="true" sz="1884" spc="-109">
                <a:solidFill>
                  <a:srgbClr val="FFFFFF"/>
                </a:solidFill>
                <a:latin typeface="Open Sauce Bold"/>
                <a:ea typeface="Open Sauce Bold"/>
                <a:cs typeface="Open Sauce Bold"/>
                <a:sym typeface="Open Sauce Bold"/>
              </a:rPr>
              <a:t>Tênis Puma Carina BDP - Feminino</a:t>
            </a:r>
          </a:p>
        </p:txBody>
      </p:sp>
      <p:sp>
        <p:nvSpPr>
          <p:cNvPr name="TextBox 43" id="43"/>
          <p:cNvSpPr txBox="true"/>
          <p:nvPr/>
        </p:nvSpPr>
        <p:spPr>
          <a:xfrm rot="0">
            <a:off x="3694479" y="3923399"/>
            <a:ext cx="3380459"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Vendido e Entregue por: Grená</a:t>
            </a:r>
          </a:p>
        </p:txBody>
      </p:sp>
      <p:sp>
        <p:nvSpPr>
          <p:cNvPr name="TextBox 44" id="44"/>
          <p:cNvSpPr txBox="true"/>
          <p:nvPr/>
        </p:nvSpPr>
        <p:spPr>
          <a:xfrm rot="0">
            <a:off x="11675601" y="3023062"/>
            <a:ext cx="186972" cy="287084"/>
          </a:xfrm>
          <a:prstGeom prst="rect">
            <a:avLst/>
          </a:prstGeom>
        </p:spPr>
        <p:txBody>
          <a:bodyPr anchor="t" rtlCol="false" tIns="0" lIns="0" bIns="0" rIns="0">
            <a:spAutoFit/>
          </a:bodyPr>
          <a:lstStyle/>
          <a:p>
            <a:pPr algn="just">
              <a:lnSpc>
                <a:spcPts val="2258"/>
              </a:lnSpc>
            </a:pPr>
            <a:r>
              <a:rPr lang="en-US" sz="2236" spc="-129">
                <a:solidFill>
                  <a:srgbClr val="FFFFFF"/>
                </a:solidFill>
                <a:latin typeface="Open Sauce"/>
                <a:ea typeface="Open Sauce"/>
                <a:cs typeface="Open Sauce"/>
                <a:sym typeface="Open Sauce"/>
              </a:rPr>
              <a:t>1</a:t>
            </a:r>
          </a:p>
        </p:txBody>
      </p:sp>
      <p:sp>
        <p:nvSpPr>
          <p:cNvPr name="TextBox 45" id="45"/>
          <p:cNvSpPr txBox="true"/>
          <p:nvPr/>
        </p:nvSpPr>
        <p:spPr>
          <a:xfrm rot="0">
            <a:off x="3706483" y="2739302"/>
            <a:ext cx="1461071"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Tamanho: 41</a:t>
            </a:r>
          </a:p>
        </p:txBody>
      </p:sp>
      <p:sp>
        <p:nvSpPr>
          <p:cNvPr name="TextBox 46" id="46"/>
          <p:cNvSpPr txBox="true"/>
          <p:nvPr/>
        </p:nvSpPr>
        <p:spPr>
          <a:xfrm rot="0">
            <a:off x="14777663" y="2948895"/>
            <a:ext cx="2046479" cy="484084"/>
          </a:xfrm>
          <a:prstGeom prst="rect">
            <a:avLst/>
          </a:prstGeom>
        </p:spPr>
        <p:txBody>
          <a:bodyPr anchor="t" rtlCol="false" tIns="0" lIns="0" bIns="0" rIns="0">
            <a:spAutoFit/>
          </a:bodyPr>
          <a:lstStyle/>
          <a:p>
            <a:pPr algn="just">
              <a:lnSpc>
                <a:spcPts val="1922"/>
              </a:lnSpc>
            </a:pPr>
            <a:r>
              <a:rPr lang="en-US" b="true" sz="1903" spc="-110">
                <a:solidFill>
                  <a:srgbClr val="FFFFFF"/>
                </a:solidFill>
                <a:latin typeface="Open Sauce Bold"/>
                <a:ea typeface="Open Sauce Bold"/>
                <a:cs typeface="Open Sauce Bold"/>
                <a:sym typeface="Open Sauce Bold"/>
              </a:rPr>
              <a:t>                R$ 235,99</a:t>
            </a:r>
          </a:p>
          <a:p>
            <a:pPr algn="just">
              <a:lnSpc>
                <a:spcPts val="1922"/>
              </a:lnSpc>
            </a:pPr>
            <a:r>
              <a:rPr lang="en-US" b="true" sz="1903" spc="-110">
                <a:solidFill>
                  <a:srgbClr val="FFFFFF"/>
                </a:solidFill>
                <a:latin typeface="Open Sauce Bold"/>
                <a:ea typeface="Open Sauce Bold"/>
                <a:cs typeface="Open Sauce Bold"/>
                <a:sym typeface="Open Sauce Bold"/>
              </a:rPr>
              <a:t>R$ 205,50 no Pix</a:t>
            </a:r>
          </a:p>
        </p:txBody>
      </p:sp>
      <p:sp>
        <p:nvSpPr>
          <p:cNvPr name="TextBox 47" id="47"/>
          <p:cNvSpPr txBox="true"/>
          <p:nvPr/>
        </p:nvSpPr>
        <p:spPr>
          <a:xfrm rot="0">
            <a:off x="12649538" y="7546974"/>
            <a:ext cx="3359776" cy="211535"/>
          </a:xfrm>
          <a:prstGeom prst="rect">
            <a:avLst/>
          </a:prstGeom>
        </p:spPr>
        <p:txBody>
          <a:bodyPr anchor="t" rtlCol="false" tIns="0" lIns="0" bIns="0" rIns="0">
            <a:spAutoFit/>
          </a:bodyPr>
          <a:lstStyle/>
          <a:p>
            <a:pPr algn="just">
              <a:lnSpc>
                <a:spcPts val="1620"/>
              </a:lnSpc>
            </a:pPr>
            <a:r>
              <a:rPr lang="en-US" sz="1604" spc="-93">
                <a:solidFill>
                  <a:srgbClr val="000000"/>
                </a:solidFill>
                <a:latin typeface="Open Sauce"/>
                <a:ea typeface="Open Sauce"/>
                <a:cs typeface="Open Sauce"/>
                <a:sym typeface="Open Sauce"/>
              </a:rPr>
              <a:t>Produtos :</a:t>
            </a:r>
          </a:p>
        </p:txBody>
      </p:sp>
      <p:sp>
        <p:nvSpPr>
          <p:cNvPr name="TextBox 48" id="48"/>
          <p:cNvSpPr txBox="true"/>
          <p:nvPr/>
        </p:nvSpPr>
        <p:spPr>
          <a:xfrm rot="0">
            <a:off x="12672846" y="8046100"/>
            <a:ext cx="3359776" cy="211535"/>
          </a:xfrm>
          <a:prstGeom prst="rect">
            <a:avLst/>
          </a:prstGeom>
        </p:spPr>
        <p:txBody>
          <a:bodyPr anchor="t" rtlCol="false" tIns="0" lIns="0" bIns="0" rIns="0">
            <a:spAutoFit/>
          </a:bodyPr>
          <a:lstStyle/>
          <a:p>
            <a:pPr algn="just">
              <a:lnSpc>
                <a:spcPts val="1620"/>
              </a:lnSpc>
            </a:pPr>
            <a:r>
              <a:rPr lang="en-US" sz="1604" spc="-93">
                <a:solidFill>
                  <a:srgbClr val="000000"/>
                </a:solidFill>
                <a:latin typeface="Open Sauce"/>
                <a:ea typeface="Open Sauce"/>
                <a:cs typeface="Open Sauce"/>
                <a:sym typeface="Open Sauce"/>
              </a:rPr>
              <a:t>Desconto no Pix :</a:t>
            </a:r>
          </a:p>
        </p:txBody>
      </p:sp>
      <p:sp>
        <p:nvSpPr>
          <p:cNvPr name="TextBox 49" id="49"/>
          <p:cNvSpPr txBox="true"/>
          <p:nvPr/>
        </p:nvSpPr>
        <p:spPr>
          <a:xfrm rot="0">
            <a:off x="16707768" y="7507377"/>
            <a:ext cx="1099786" cy="221767"/>
          </a:xfrm>
          <a:prstGeom prst="rect">
            <a:avLst/>
          </a:prstGeom>
        </p:spPr>
        <p:txBody>
          <a:bodyPr anchor="t" rtlCol="false" tIns="0" lIns="0" bIns="0" rIns="0">
            <a:spAutoFit/>
          </a:bodyPr>
          <a:lstStyle/>
          <a:p>
            <a:pPr algn="just">
              <a:lnSpc>
                <a:spcPts val="1689"/>
              </a:lnSpc>
            </a:pPr>
            <a:r>
              <a:rPr lang="en-US" sz="1672" spc="-97">
                <a:solidFill>
                  <a:srgbClr val="000000"/>
                </a:solidFill>
                <a:latin typeface="Open Sauce"/>
                <a:ea typeface="Open Sauce"/>
                <a:cs typeface="Open Sauce"/>
                <a:sym typeface="Open Sauce"/>
              </a:rPr>
              <a:t>R$ 235.99</a:t>
            </a:r>
          </a:p>
        </p:txBody>
      </p:sp>
      <p:sp>
        <p:nvSpPr>
          <p:cNvPr name="TextBox 50" id="50"/>
          <p:cNvSpPr txBox="true"/>
          <p:nvPr/>
        </p:nvSpPr>
        <p:spPr>
          <a:xfrm rot="0">
            <a:off x="16709407" y="8014330"/>
            <a:ext cx="1099786" cy="221331"/>
          </a:xfrm>
          <a:prstGeom prst="rect">
            <a:avLst/>
          </a:prstGeom>
        </p:spPr>
        <p:txBody>
          <a:bodyPr anchor="t" rtlCol="false" tIns="0" lIns="0" bIns="0" rIns="0">
            <a:spAutoFit/>
          </a:bodyPr>
          <a:lstStyle/>
          <a:p>
            <a:pPr algn="just">
              <a:lnSpc>
                <a:spcPts val="1689"/>
              </a:lnSpc>
            </a:pPr>
            <a:r>
              <a:rPr lang="en-US" sz="1672" spc="-97">
                <a:solidFill>
                  <a:srgbClr val="000000"/>
                </a:solidFill>
                <a:latin typeface="Open Sauce"/>
                <a:ea typeface="Open Sauce"/>
                <a:cs typeface="Open Sauce"/>
                <a:sym typeface="Open Sauce"/>
              </a:rPr>
              <a:t> R$ 30, 49</a:t>
            </a:r>
          </a:p>
        </p:txBody>
      </p:sp>
      <p:sp>
        <p:nvSpPr>
          <p:cNvPr name="TextBox 51" id="51"/>
          <p:cNvSpPr txBox="true"/>
          <p:nvPr/>
        </p:nvSpPr>
        <p:spPr>
          <a:xfrm rot="0">
            <a:off x="14880643" y="2219160"/>
            <a:ext cx="5141279"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VALOR TOTAL</a:t>
            </a:r>
          </a:p>
        </p:txBody>
      </p:sp>
      <p:sp>
        <p:nvSpPr>
          <p:cNvPr name="TextBox 52" id="52"/>
          <p:cNvSpPr txBox="true"/>
          <p:nvPr/>
        </p:nvSpPr>
        <p:spPr>
          <a:xfrm rot="0">
            <a:off x="10983633" y="2219160"/>
            <a:ext cx="1594026"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QUANTIDADE</a:t>
            </a:r>
          </a:p>
        </p:txBody>
      </p:sp>
      <p:sp>
        <p:nvSpPr>
          <p:cNvPr name="TextBox 53" id="53"/>
          <p:cNvSpPr txBox="true"/>
          <p:nvPr/>
        </p:nvSpPr>
        <p:spPr>
          <a:xfrm rot="0">
            <a:off x="1056133" y="7131686"/>
            <a:ext cx="2265475" cy="291197"/>
          </a:xfrm>
          <a:prstGeom prst="rect">
            <a:avLst/>
          </a:prstGeom>
        </p:spPr>
        <p:txBody>
          <a:bodyPr anchor="t" rtlCol="false" tIns="0" lIns="0" bIns="0" rIns="0">
            <a:spAutoFit/>
          </a:bodyPr>
          <a:lstStyle/>
          <a:p>
            <a:pPr algn="just">
              <a:lnSpc>
                <a:spcPts val="2286"/>
              </a:lnSpc>
            </a:pPr>
            <a:r>
              <a:rPr lang="en-US" sz="2263" spc="-131">
                <a:solidFill>
                  <a:srgbClr val="FFFFFF"/>
                </a:solidFill>
                <a:latin typeface="Open Sauce"/>
                <a:ea typeface="Open Sauce"/>
                <a:cs typeface="Open Sauce"/>
                <a:sym typeface="Open Sauce"/>
              </a:rPr>
              <a:t>Calcular frete:</a:t>
            </a:r>
          </a:p>
        </p:txBody>
      </p:sp>
      <p:sp>
        <p:nvSpPr>
          <p:cNvPr name="TextBox 54" id="54"/>
          <p:cNvSpPr txBox="true"/>
          <p:nvPr/>
        </p:nvSpPr>
        <p:spPr>
          <a:xfrm rot="0">
            <a:off x="1028700" y="7806134"/>
            <a:ext cx="3111296" cy="291197"/>
          </a:xfrm>
          <a:prstGeom prst="rect">
            <a:avLst/>
          </a:prstGeom>
        </p:spPr>
        <p:txBody>
          <a:bodyPr anchor="t" rtlCol="false" tIns="0" lIns="0" bIns="0" rIns="0">
            <a:spAutoFit/>
          </a:bodyPr>
          <a:lstStyle/>
          <a:p>
            <a:pPr algn="just">
              <a:lnSpc>
                <a:spcPts val="2286"/>
              </a:lnSpc>
            </a:pPr>
            <a:r>
              <a:rPr lang="en-US" sz="2263" spc="-131">
                <a:solidFill>
                  <a:srgbClr val="FFFFFF"/>
                </a:solidFill>
                <a:latin typeface="Open Sauce"/>
                <a:ea typeface="Open Sauce"/>
                <a:cs typeface="Open Sauce"/>
                <a:sym typeface="Open Sauce"/>
              </a:rPr>
              <a:t>Cupom de Desconto:</a:t>
            </a:r>
          </a:p>
        </p:txBody>
      </p:sp>
      <p:sp>
        <p:nvSpPr>
          <p:cNvPr name="TextBox 55" id="55"/>
          <p:cNvSpPr txBox="true"/>
          <p:nvPr/>
        </p:nvSpPr>
        <p:spPr>
          <a:xfrm rot="0">
            <a:off x="8544374" y="7103332"/>
            <a:ext cx="1156534" cy="291197"/>
          </a:xfrm>
          <a:prstGeom prst="rect">
            <a:avLst/>
          </a:prstGeom>
        </p:spPr>
        <p:txBody>
          <a:bodyPr anchor="t" rtlCol="false" tIns="0" lIns="0" bIns="0" rIns="0">
            <a:spAutoFit/>
          </a:bodyPr>
          <a:lstStyle/>
          <a:p>
            <a:pPr algn="just">
              <a:lnSpc>
                <a:spcPts val="2286"/>
              </a:lnSpc>
            </a:pPr>
            <a:r>
              <a:rPr lang="en-US" sz="2263" spc="-131">
                <a:solidFill>
                  <a:srgbClr val="000000"/>
                </a:solidFill>
                <a:latin typeface="Open Sauce"/>
                <a:ea typeface="Open Sauce"/>
                <a:cs typeface="Open Sauce"/>
                <a:sym typeface="Open Sauce"/>
              </a:rPr>
              <a:t>Calcular </a:t>
            </a:r>
          </a:p>
        </p:txBody>
      </p:sp>
      <p:sp>
        <p:nvSpPr>
          <p:cNvPr name="TextBox 56" id="56"/>
          <p:cNvSpPr txBox="true"/>
          <p:nvPr/>
        </p:nvSpPr>
        <p:spPr>
          <a:xfrm rot="0">
            <a:off x="8589849" y="7760314"/>
            <a:ext cx="1156534" cy="291197"/>
          </a:xfrm>
          <a:prstGeom prst="rect">
            <a:avLst/>
          </a:prstGeom>
        </p:spPr>
        <p:txBody>
          <a:bodyPr anchor="t" rtlCol="false" tIns="0" lIns="0" bIns="0" rIns="0">
            <a:spAutoFit/>
          </a:bodyPr>
          <a:lstStyle/>
          <a:p>
            <a:pPr algn="just">
              <a:lnSpc>
                <a:spcPts val="2286"/>
              </a:lnSpc>
            </a:pPr>
            <a:r>
              <a:rPr lang="en-US" sz="2263" spc="-131">
                <a:solidFill>
                  <a:srgbClr val="000000"/>
                </a:solidFill>
                <a:latin typeface="Open Sauce"/>
                <a:ea typeface="Open Sauce"/>
                <a:cs typeface="Open Sauce"/>
                <a:sym typeface="Open Sauce"/>
              </a:rPr>
              <a:t>Aplicar</a:t>
            </a:r>
          </a:p>
        </p:txBody>
      </p:sp>
      <p:sp>
        <p:nvSpPr>
          <p:cNvPr name="TextBox 57" id="57"/>
          <p:cNvSpPr txBox="true"/>
          <p:nvPr/>
        </p:nvSpPr>
        <p:spPr>
          <a:xfrm rot="0">
            <a:off x="2890075" y="7131686"/>
            <a:ext cx="2265475" cy="291197"/>
          </a:xfrm>
          <a:prstGeom prst="rect">
            <a:avLst/>
          </a:prstGeom>
        </p:spPr>
        <p:txBody>
          <a:bodyPr anchor="t" rtlCol="false" tIns="0" lIns="0" bIns="0" rIns="0">
            <a:spAutoFit/>
          </a:bodyPr>
          <a:lstStyle/>
          <a:p>
            <a:pPr algn="just">
              <a:lnSpc>
                <a:spcPts val="2286"/>
              </a:lnSpc>
            </a:pPr>
            <a:r>
              <a:rPr lang="en-US" sz="2263" spc="-131">
                <a:solidFill>
                  <a:srgbClr val="FFFFFF"/>
                </a:solidFill>
                <a:latin typeface="Open Sauce"/>
                <a:ea typeface="Open Sauce"/>
                <a:cs typeface="Open Sauce"/>
                <a:sym typeface="Open Sauce"/>
              </a:rPr>
              <a:t>00000-000</a:t>
            </a:r>
          </a:p>
        </p:txBody>
      </p:sp>
      <p:sp>
        <p:nvSpPr>
          <p:cNvPr name="TextBox 58" id="58"/>
          <p:cNvSpPr txBox="true"/>
          <p:nvPr/>
        </p:nvSpPr>
        <p:spPr>
          <a:xfrm rot="0">
            <a:off x="3839226" y="7803883"/>
            <a:ext cx="2265475" cy="291197"/>
          </a:xfrm>
          <a:prstGeom prst="rect">
            <a:avLst/>
          </a:prstGeom>
        </p:spPr>
        <p:txBody>
          <a:bodyPr anchor="t" rtlCol="false" tIns="0" lIns="0" bIns="0" rIns="0">
            <a:spAutoFit/>
          </a:bodyPr>
          <a:lstStyle/>
          <a:p>
            <a:pPr algn="just">
              <a:lnSpc>
                <a:spcPts val="2286"/>
              </a:lnSpc>
            </a:pPr>
            <a:r>
              <a:rPr lang="en-US" sz="2263" spc="-131">
                <a:solidFill>
                  <a:srgbClr val="FFFFFF"/>
                </a:solidFill>
                <a:latin typeface="Open Sauce"/>
                <a:ea typeface="Open Sauce"/>
                <a:cs typeface="Open Sauce"/>
                <a:sym typeface="Open Sauce"/>
              </a:rPr>
              <a:t>GRENA10</a:t>
            </a:r>
          </a:p>
        </p:txBody>
      </p:sp>
      <p:sp>
        <p:nvSpPr>
          <p:cNvPr name="Freeform 59" id="59"/>
          <p:cNvSpPr/>
          <p:nvPr/>
        </p:nvSpPr>
        <p:spPr>
          <a:xfrm flipH="false" flipV="false" rot="0">
            <a:off x="1507878" y="2178079"/>
            <a:ext cx="1929425" cy="1929425"/>
          </a:xfrm>
          <a:custGeom>
            <a:avLst/>
            <a:gdLst/>
            <a:ahLst/>
            <a:cxnLst/>
            <a:rect r="r" b="b" t="t" l="l"/>
            <a:pathLst>
              <a:path h="1929425" w="1929425">
                <a:moveTo>
                  <a:pt x="0" y="0"/>
                </a:moveTo>
                <a:lnTo>
                  <a:pt x="1929426" y="0"/>
                </a:lnTo>
                <a:lnTo>
                  <a:pt x="1929426" y="1929425"/>
                </a:lnTo>
                <a:lnTo>
                  <a:pt x="0" y="1929425"/>
                </a:lnTo>
                <a:lnTo>
                  <a:pt x="0" y="0"/>
                </a:lnTo>
                <a:close/>
              </a:path>
            </a:pathLst>
          </a:custGeom>
          <a:blipFill>
            <a:blip r:embed="rId19"/>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768684" y="1976729"/>
            <a:ext cx="19393406"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86356" y="211531"/>
            <a:ext cx="3045880" cy="913192"/>
          </a:xfrm>
          <a:custGeom>
            <a:avLst/>
            <a:gdLst/>
            <a:ahLst/>
            <a:cxnLst/>
            <a:rect r="r" b="b" t="t" l="l"/>
            <a:pathLst>
              <a:path h="913192" w="3045880">
                <a:moveTo>
                  <a:pt x="0" y="0"/>
                </a:moveTo>
                <a:lnTo>
                  <a:pt x="3045880" y="0"/>
                </a:lnTo>
                <a:lnTo>
                  <a:pt x="3045880" y="913193"/>
                </a:lnTo>
                <a:lnTo>
                  <a:pt x="0" y="913193"/>
                </a:lnTo>
                <a:lnTo>
                  <a:pt x="0" y="0"/>
                </a:lnTo>
                <a:close/>
              </a:path>
            </a:pathLst>
          </a:custGeom>
          <a:blipFill>
            <a:blip r:embed="rId2"/>
            <a:stretch>
              <a:fillRect l="0" t="-110584" r="0" b="-122957"/>
            </a:stretch>
          </a:blipFill>
        </p:spPr>
      </p:sp>
      <p:sp>
        <p:nvSpPr>
          <p:cNvPr name="Freeform 4" id="4"/>
          <p:cNvSpPr/>
          <p:nvPr/>
        </p:nvSpPr>
        <p:spPr>
          <a:xfrm flipH="false" flipV="false" rot="0">
            <a:off x="3197266" y="294439"/>
            <a:ext cx="4599245" cy="747377"/>
          </a:xfrm>
          <a:custGeom>
            <a:avLst/>
            <a:gdLst/>
            <a:ahLst/>
            <a:cxnLst/>
            <a:rect r="r" b="b" t="t" l="l"/>
            <a:pathLst>
              <a:path h="747377" w="4599245">
                <a:moveTo>
                  <a:pt x="0" y="0"/>
                </a:moveTo>
                <a:lnTo>
                  <a:pt x="4599245" y="0"/>
                </a:lnTo>
                <a:lnTo>
                  <a:pt x="4599245" y="747377"/>
                </a:lnTo>
                <a:lnTo>
                  <a:pt x="0" y="747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748692" y="345275"/>
            <a:ext cx="619000" cy="722920"/>
          </a:xfrm>
          <a:custGeom>
            <a:avLst/>
            <a:gdLst/>
            <a:ahLst/>
            <a:cxnLst/>
            <a:rect r="r" b="b" t="t" l="l"/>
            <a:pathLst>
              <a:path h="722920" w="619000">
                <a:moveTo>
                  <a:pt x="0" y="0"/>
                </a:moveTo>
                <a:lnTo>
                  <a:pt x="619000" y="0"/>
                </a:lnTo>
                <a:lnTo>
                  <a:pt x="619000" y="722919"/>
                </a:lnTo>
                <a:lnTo>
                  <a:pt x="0" y="7229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328293" y="345275"/>
            <a:ext cx="737863" cy="775677"/>
          </a:xfrm>
          <a:custGeom>
            <a:avLst/>
            <a:gdLst/>
            <a:ahLst/>
            <a:cxnLst/>
            <a:rect r="r" b="b" t="t" l="l"/>
            <a:pathLst>
              <a:path h="775677" w="737863">
                <a:moveTo>
                  <a:pt x="0" y="0"/>
                </a:moveTo>
                <a:lnTo>
                  <a:pt x="737863" y="0"/>
                </a:lnTo>
                <a:lnTo>
                  <a:pt x="737863" y="775676"/>
                </a:lnTo>
                <a:lnTo>
                  <a:pt x="0" y="775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782388" y="542339"/>
            <a:ext cx="645913" cy="607966"/>
          </a:xfrm>
          <a:custGeom>
            <a:avLst/>
            <a:gdLst/>
            <a:ahLst/>
            <a:cxnLst/>
            <a:rect r="r" b="b" t="t" l="l"/>
            <a:pathLst>
              <a:path h="607966" w="645913">
                <a:moveTo>
                  <a:pt x="0" y="0"/>
                </a:moveTo>
                <a:lnTo>
                  <a:pt x="645913" y="0"/>
                </a:lnTo>
                <a:lnTo>
                  <a:pt x="645913" y="607966"/>
                </a:lnTo>
                <a:lnTo>
                  <a:pt x="0" y="6079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732612" y="571692"/>
            <a:ext cx="580947" cy="549259"/>
          </a:xfrm>
          <a:custGeom>
            <a:avLst/>
            <a:gdLst/>
            <a:ahLst/>
            <a:cxnLst/>
            <a:rect r="r" b="b" t="t" l="l"/>
            <a:pathLst>
              <a:path h="549259" w="580947">
                <a:moveTo>
                  <a:pt x="0" y="0"/>
                </a:moveTo>
                <a:lnTo>
                  <a:pt x="580948" y="0"/>
                </a:lnTo>
                <a:lnTo>
                  <a:pt x="580948" y="549259"/>
                </a:lnTo>
                <a:lnTo>
                  <a:pt x="0" y="549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7878828" y="2232539"/>
            <a:ext cx="318549" cy="7722400"/>
          </a:xfrm>
          <a:custGeom>
            <a:avLst/>
            <a:gdLst/>
            <a:ahLst/>
            <a:cxnLst/>
            <a:rect r="r" b="b" t="t" l="l"/>
            <a:pathLst>
              <a:path h="7722400" w="318549">
                <a:moveTo>
                  <a:pt x="0" y="0"/>
                </a:moveTo>
                <a:lnTo>
                  <a:pt x="318549" y="0"/>
                </a:lnTo>
                <a:lnTo>
                  <a:pt x="318549" y="7722400"/>
                </a:lnTo>
                <a:lnTo>
                  <a:pt x="0" y="77224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7072373" y="598790"/>
            <a:ext cx="373855" cy="373855"/>
          </a:xfrm>
          <a:custGeom>
            <a:avLst/>
            <a:gdLst/>
            <a:ahLst/>
            <a:cxnLst/>
            <a:rect r="r" b="b" t="t" l="l"/>
            <a:pathLst>
              <a:path h="373855" w="373855">
                <a:moveTo>
                  <a:pt x="0" y="0"/>
                </a:moveTo>
                <a:lnTo>
                  <a:pt x="373854" y="0"/>
                </a:lnTo>
                <a:lnTo>
                  <a:pt x="373854" y="373855"/>
                </a:lnTo>
                <a:lnTo>
                  <a:pt x="0" y="3738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1" id="11"/>
          <p:cNvGrpSpPr/>
          <p:nvPr/>
        </p:nvGrpSpPr>
        <p:grpSpPr>
          <a:xfrm rot="0">
            <a:off x="17882235" y="5939790"/>
            <a:ext cx="326708" cy="1291590"/>
            <a:chOff x="0" y="0"/>
            <a:chExt cx="435610" cy="1722120"/>
          </a:xfrm>
        </p:grpSpPr>
        <p:sp>
          <p:nvSpPr>
            <p:cNvPr name="Freeform 12" id="12"/>
            <p:cNvSpPr/>
            <p:nvPr/>
          </p:nvSpPr>
          <p:spPr>
            <a:xfrm flipH="false" flipV="false" rot="0">
              <a:off x="47001" y="45993"/>
              <a:ext cx="340067" cy="1625327"/>
            </a:xfrm>
            <a:custGeom>
              <a:avLst/>
              <a:gdLst/>
              <a:ahLst/>
              <a:cxnLst/>
              <a:rect r="r" b="b" t="t" l="l"/>
              <a:pathLst>
                <a:path h="1625327" w="340067">
                  <a:moveTo>
                    <a:pt x="3799" y="281667"/>
                  </a:moveTo>
                  <a:cubicBezTo>
                    <a:pt x="5069" y="201657"/>
                    <a:pt x="5069" y="201657"/>
                    <a:pt x="5069" y="201657"/>
                  </a:cubicBezTo>
                  <a:cubicBezTo>
                    <a:pt x="5069" y="201657"/>
                    <a:pt x="5069" y="194037"/>
                    <a:pt x="5069" y="191497"/>
                  </a:cubicBezTo>
                  <a:cubicBezTo>
                    <a:pt x="6339" y="187687"/>
                    <a:pt x="6339" y="180067"/>
                    <a:pt x="6339" y="180067"/>
                  </a:cubicBezTo>
                  <a:cubicBezTo>
                    <a:pt x="6339" y="180067"/>
                    <a:pt x="8879" y="173717"/>
                    <a:pt x="8879" y="169907"/>
                  </a:cubicBezTo>
                  <a:cubicBezTo>
                    <a:pt x="10149" y="166097"/>
                    <a:pt x="12689" y="159747"/>
                    <a:pt x="12689" y="159747"/>
                  </a:cubicBezTo>
                  <a:cubicBezTo>
                    <a:pt x="12689" y="159747"/>
                    <a:pt x="16499" y="153397"/>
                    <a:pt x="17769" y="150857"/>
                  </a:cubicBezTo>
                  <a:cubicBezTo>
                    <a:pt x="20309" y="147047"/>
                    <a:pt x="22849" y="141967"/>
                    <a:pt x="22849" y="140697"/>
                  </a:cubicBezTo>
                  <a:cubicBezTo>
                    <a:pt x="24119" y="140697"/>
                    <a:pt x="27929" y="135617"/>
                    <a:pt x="30469" y="133077"/>
                  </a:cubicBezTo>
                  <a:cubicBezTo>
                    <a:pt x="33009" y="130537"/>
                    <a:pt x="38089" y="126727"/>
                    <a:pt x="38089" y="125457"/>
                  </a:cubicBezTo>
                  <a:cubicBezTo>
                    <a:pt x="38089" y="125457"/>
                    <a:pt x="44439" y="122917"/>
                    <a:pt x="48249" y="120377"/>
                  </a:cubicBezTo>
                  <a:cubicBezTo>
                    <a:pt x="50789" y="119107"/>
                    <a:pt x="57139" y="115297"/>
                    <a:pt x="57139" y="115297"/>
                  </a:cubicBezTo>
                  <a:cubicBezTo>
                    <a:pt x="57139" y="115297"/>
                    <a:pt x="57139" y="115297"/>
                    <a:pt x="58409" y="114027"/>
                  </a:cubicBezTo>
                  <a:cubicBezTo>
                    <a:pt x="59679" y="112757"/>
                    <a:pt x="49519" y="92437"/>
                    <a:pt x="53329" y="78467"/>
                  </a:cubicBezTo>
                  <a:cubicBezTo>
                    <a:pt x="59679" y="56877"/>
                    <a:pt x="88889" y="16237"/>
                    <a:pt x="116829" y="4807"/>
                  </a:cubicBezTo>
                  <a:cubicBezTo>
                    <a:pt x="147309" y="-6623"/>
                    <a:pt x="209539" y="3537"/>
                    <a:pt x="236209" y="22587"/>
                  </a:cubicBezTo>
                  <a:cubicBezTo>
                    <a:pt x="259069" y="37827"/>
                    <a:pt x="269229" y="72117"/>
                    <a:pt x="278119" y="96247"/>
                  </a:cubicBezTo>
                  <a:cubicBezTo>
                    <a:pt x="284469" y="117837"/>
                    <a:pt x="283199" y="155937"/>
                    <a:pt x="287009" y="162287"/>
                  </a:cubicBezTo>
                  <a:cubicBezTo>
                    <a:pt x="288279" y="163557"/>
                    <a:pt x="289549" y="163557"/>
                    <a:pt x="290819" y="164827"/>
                  </a:cubicBezTo>
                  <a:cubicBezTo>
                    <a:pt x="293359" y="166097"/>
                    <a:pt x="297169" y="167367"/>
                    <a:pt x="299709" y="168637"/>
                  </a:cubicBezTo>
                  <a:cubicBezTo>
                    <a:pt x="300979" y="169907"/>
                    <a:pt x="302249" y="171177"/>
                    <a:pt x="303519" y="172447"/>
                  </a:cubicBezTo>
                  <a:cubicBezTo>
                    <a:pt x="304789" y="172447"/>
                    <a:pt x="306059" y="173717"/>
                    <a:pt x="307329" y="174987"/>
                  </a:cubicBezTo>
                  <a:cubicBezTo>
                    <a:pt x="309869" y="176257"/>
                    <a:pt x="311139" y="180067"/>
                    <a:pt x="313679" y="182607"/>
                  </a:cubicBezTo>
                  <a:cubicBezTo>
                    <a:pt x="316219" y="183877"/>
                    <a:pt x="318759" y="186417"/>
                    <a:pt x="320029" y="188957"/>
                  </a:cubicBezTo>
                  <a:cubicBezTo>
                    <a:pt x="321299" y="190227"/>
                    <a:pt x="321299" y="191497"/>
                    <a:pt x="322569" y="192767"/>
                  </a:cubicBezTo>
                  <a:cubicBezTo>
                    <a:pt x="323839" y="194037"/>
                    <a:pt x="325109" y="195307"/>
                    <a:pt x="325109" y="196577"/>
                  </a:cubicBezTo>
                  <a:cubicBezTo>
                    <a:pt x="326379" y="199117"/>
                    <a:pt x="327649" y="202927"/>
                    <a:pt x="328919" y="206737"/>
                  </a:cubicBezTo>
                  <a:cubicBezTo>
                    <a:pt x="330189" y="209277"/>
                    <a:pt x="332729" y="211817"/>
                    <a:pt x="333999" y="214357"/>
                  </a:cubicBezTo>
                  <a:cubicBezTo>
                    <a:pt x="333999" y="216897"/>
                    <a:pt x="333999" y="218167"/>
                    <a:pt x="333999" y="219437"/>
                  </a:cubicBezTo>
                  <a:cubicBezTo>
                    <a:pt x="333999" y="220707"/>
                    <a:pt x="335269" y="221977"/>
                    <a:pt x="336539" y="224517"/>
                  </a:cubicBezTo>
                  <a:cubicBezTo>
                    <a:pt x="336539" y="227057"/>
                    <a:pt x="336539" y="230867"/>
                    <a:pt x="336539" y="233407"/>
                  </a:cubicBezTo>
                  <a:cubicBezTo>
                    <a:pt x="336539" y="237217"/>
                    <a:pt x="337809" y="241027"/>
                    <a:pt x="337809" y="243567"/>
                  </a:cubicBezTo>
                  <a:cubicBezTo>
                    <a:pt x="337809" y="244837"/>
                    <a:pt x="336539" y="247377"/>
                    <a:pt x="336539" y="248647"/>
                  </a:cubicBezTo>
                  <a:cubicBezTo>
                    <a:pt x="336539" y="249917"/>
                    <a:pt x="336539" y="251187"/>
                    <a:pt x="336539" y="253727"/>
                  </a:cubicBezTo>
                  <a:cubicBezTo>
                    <a:pt x="336539" y="254997"/>
                    <a:pt x="335269" y="257537"/>
                    <a:pt x="333999" y="261347"/>
                  </a:cubicBezTo>
                  <a:cubicBezTo>
                    <a:pt x="330189" y="276587"/>
                    <a:pt x="318759" y="335007"/>
                    <a:pt x="314949" y="369297"/>
                  </a:cubicBezTo>
                  <a:cubicBezTo>
                    <a:pt x="312409" y="399777"/>
                    <a:pt x="314949" y="427717"/>
                    <a:pt x="314949" y="456927"/>
                  </a:cubicBezTo>
                  <a:cubicBezTo>
                    <a:pt x="314949" y="487407"/>
                    <a:pt x="314949" y="515347"/>
                    <a:pt x="314949" y="545827"/>
                  </a:cubicBezTo>
                  <a:cubicBezTo>
                    <a:pt x="314949" y="577577"/>
                    <a:pt x="314949" y="613137"/>
                    <a:pt x="314949" y="643617"/>
                  </a:cubicBezTo>
                  <a:cubicBezTo>
                    <a:pt x="314949" y="671557"/>
                    <a:pt x="318759" y="695687"/>
                    <a:pt x="314949" y="722357"/>
                  </a:cubicBezTo>
                  <a:cubicBezTo>
                    <a:pt x="312409" y="750297"/>
                    <a:pt x="293359" y="774427"/>
                    <a:pt x="294629" y="804907"/>
                  </a:cubicBezTo>
                  <a:cubicBezTo>
                    <a:pt x="295899" y="840467"/>
                    <a:pt x="331459" y="884917"/>
                    <a:pt x="337809" y="921747"/>
                  </a:cubicBezTo>
                  <a:cubicBezTo>
                    <a:pt x="342889" y="952227"/>
                    <a:pt x="337809" y="980167"/>
                    <a:pt x="337809" y="1010647"/>
                  </a:cubicBezTo>
                  <a:cubicBezTo>
                    <a:pt x="337809" y="1039857"/>
                    <a:pt x="337809" y="1069067"/>
                    <a:pt x="337809" y="1098277"/>
                  </a:cubicBezTo>
                  <a:cubicBezTo>
                    <a:pt x="337809" y="1128757"/>
                    <a:pt x="337809" y="1157967"/>
                    <a:pt x="337809" y="1187177"/>
                  </a:cubicBezTo>
                  <a:cubicBezTo>
                    <a:pt x="337809" y="1217657"/>
                    <a:pt x="337809" y="1248137"/>
                    <a:pt x="336539" y="1277347"/>
                  </a:cubicBezTo>
                  <a:cubicBezTo>
                    <a:pt x="336539" y="1305287"/>
                    <a:pt x="340349" y="1331957"/>
                    <a:pt x="332729" y="1358627"/>
                  </a:cubicBezTo>
                  <a:cubicBezTo>
                    <a:pt x="325109" y="1386567"/>
                    <a:pt x="308599" y="1425937"/>
                    <a:pt x="287009" y="1442447"/>
                  </a:cubicBezTo>
                  <a:cubicBezTo>
                    <a:pt x="267959" y="1457687"/>
                    <a:pt x="218429" y="1455147"/>
                    <a:pt x="217159" y="1462767"/>
                  </a:cubicBezTo>
                  <a:cubicBezTo>
                    <a:pt x="215889" y="1469117"/>
                    <a:pt x="238749" y="1475467"/>
                    <a:pt x="247639" y="1481817"/>
                  </a:cubicBezTo>
                  <a:cubicBezTo>
                    <a:pt x="252719" y="1485627"/>
                    <a:pt x="257799" y="1489437"/>
                    <a:pt x="261609" y="1494517"/>
                  </a:cubicBezTo>
                  <a:cubicBezTo>
                    <a:pt x="265419" y="1498327"/>
                    <a:pt x="269229" y="1503407"/>
                    <a:pt x="273039" y="1509757"/>
                  </a:cubicBezTo>
                  <a:cubicBezTo>
                    <a:pt x="275579" y="1514837"/>
                    <a:pt x="278119" y="1521187"/>
                    <a:pt x="279389" y="1527537"/>
                  </a:cubicBezTo>
                  <a:cubicBezTo>
                    <a:pt x="280659" y="1532617"/>
                    <a:pt x="281929" y="1538967"/>
                    <a:pt x="281929" y="1545317"/>
                  </a:cubicBezTo>
                  <a:cubicBezTo>
                    <a:pt x="281929" y="1551667"/>
                    <a:pt x="281929" y="1558017"/>
                    <a:pt x="280659" y="1564367"/>
                  </a:cubicBezTo>
                  <a:cubicBezTo>
                    <a:pt x="278119" y="1570717"/>
                    <a:pt x="276849" y="1577067"/>
                    <a:pt x="273039" y="1582147"/>
                  </a:cubicBezTo>
                  <a:cubicBezTo>
                    <a:pt x="270499" y="1587227"/>
                    <a:pt x="266689" y="1593577"/>
                    <a:pt x="262879" y="1597387"/>
                  </a:cubicBezTo>
                  <a:cubicBezTo>
                    <a:pt x="259069" y="1602467"/>
                    <a:pt x="253989" y="1607547"/>
                    <a:pt x="248909" y="1610087"/>
                  </a:cubicBezTo>
                  <a:cubicBezTo>
                    <a:pt x="243829" y="1613897"/>
                    <a:pt x="238749" y="1617707"/>
                    <a:pt x="232399" y="1620247"/>
                  </a:cubicBezTo>
                  <a:cubicBezTo>
                    <a:pt x="227319" y="1621517"/>
                    <a:pt x="220969" y="1624057"/>
                    <a:pt x="214619" y="1624057"/>
                  </a:cubicBezTo>
                  <a:cubicBezTo>
                    <a:pt x="208269" y="1625327"/>
                    <a:pt x="201919" y="1625327"/>
                    <a:pt x="195569" y="1625327"/>
                  </a:cubicBezTo>
                  <a:cubicBezTo>
                    <a:pt x="189219" y="1624057"/>
                    <a:pt x="182869" y="1622787"/>
                    <a:pt x="176519" y="1620247"/>
                  </a:cubicBezTo>
                  <a:cubicBezTo>
                    <a:pt x="171439" y="1618977"/>
                    <a:pt x="167629" y="1616437"/>
                    <a:pt x="160009" y="1612627"/>
                  </a:cubicBezTo>
                  <a:cubicBezTo>
                    <a:pt x="148579" y="1605007"/>
                    <a:pt x="129529" y="1596117"/>
                    <a:pt x="118099" y="1582147"/>
                  </a:cubicBezTo>
                  <a:cubicBezTo>
                    <a:pt x="100319" y="1563097"/>
                    <a:pt x="79999" y="1522457"/>
                    <a:pt x="76189" y="1499597"/>
                  </a:cubicBezTo>
                  <a:cubicBezTo>
                    <a:pt x="74919" y="1485627"/>
                    <a:pt x="86349" y="1479277"/>
                    <a:pt x="83809" y="1464037"/>
                  </a:cubicBezTo>
                  <a:cubicBezTo>
                    <a:pt x="77459" y="1437367"/>
                    <a:pt x="17769" y="1396727"/>
                    <a:pt x="5069" y="1359897"/>
                  </a:cubicBezTo>
                  <a:cubicBezTo>
                    <a:pt x="-5091" y="1326877"/>
                    <a:pt x="2529" y="1290047"/>
                    <a:pt x="6339" y="1255757"/>
                  </a:cubicBezTo>
                  <a:cubicBezTo>
                    <a:pt x="10149" y="1221467"/>
                    <a:pt x="21579" y="1185907"/>
                    <a:pt x="26659" y="1152887"/>
                  </a:cubicBezTo>
                  <a:cubicBezTo>
                    <a:pt x="30469" y="1122407"/>
                    <a:pt x="27929" y="1095737"/>
                    <a:pt x="31739" y="1066527"/>
                  </a:cubicBezTo>
                  <a:cubicBezTo>
                    <a:pt x="35549" y="1037317"/>
                    <a:pt x="44439" y="1008107"/>
                    <a:pt x="48249" y="977627"/>
                  </a:cubicBezTo>
                  <a:cubicBezTo>
                    <a:pt x="50789" y="948417"/>
                    <a:pt x="54599" y="917937"/>
                    <a:pt x="50789" y="888727"/>
                  </a:cubicBezTo>
                  <a:cubicBezTo>
                    <a:pt x="46979" y="858247"/>
                    <a:pt x="30469" y="830307"/>
                    <a:pt x="26659" y="801097"/>
                  </a:cubicBezTo>
                  <a:cubicBezTo>
                    <a:pt x="22849" y="771887"/>
                    <a:pt x="26659" y="742677"/>
                    <a:pt x="26659" y="712197"/>
                  </a:cubicBezTo>
                  <a:cubicBezTo>
                    <a:pt x="26659" y="680447"/>
                    <a:pt x="26659" y="644887"/>
                    <a:pt x="26659" y="614407"/>
                  </a:cubicBezTo>
                  <a:cubicBezTo>
                    <a:pt x="26659" y="586467"/>
                    <a:pt x="26659" y="562337"/>
                    <a:pt x="26659" y="535667"/>
                  </a:cubicBezTo>
                  <a:cubicBezTo>
                    <a:pt x="26659" y="505187"/>
                    <a:pt x="29199" y="472167"/>
                    <a:pt x="25389" y="442957"/>
                  </a:cubicBezTo>
                  <a:cubicBezTo>
                    <a:pt x="21579" y="415017"/>
                    <a:pt x="8879" y="389617"/>
                    <a:pt x="5069" y="362947"/>
                  </a:cubicBezTo>
                  <a:cubicBezTo>
                    <a:pt x="2529" y="336277"/>
                    <a:pt x="3799" y="281667"/>
                    <a:pt x="3799" y="281667"/>
                  </a:cubicBezTo>
                </a:path>
              </a:pathLst>
            </a:custGeom>
            <a:solidFill>
              <a:srgbClr val="1E1E1E"/>
            </a:solidFill>
            <a:ln cap="sq">
              <a:noFill/>
              <a:prstDash val="solid"/>
              <a:miter/>
            </a:ln>
          </p:spPr>
        </p:sp>
      </p:grpSp>
      <p:grpSp>
        <p:nvGrpSpPr>
          <p:cNvPr name="Group 13" id="13"/>
          <p:cNvGrpSpPr/>
          <p:nvPr/>
        </p:nvGrpSpPr>
        <p:grpSpPr>
          <a:xfrm rot="0">
            <a:off x="17916525" y="2520315"/>
            <a:ext cx="240983" cy="670560"/>
            <a:chOff x="0" y="0"/>
            <a:chExt cx="321310" cy="894080"/>
          </a:xfrm>
        </p:grpSpPr>
        <p:sp>
          <p:nvSpPr>
            <p:cNvPr name="Freeform 14" id="14"/>
            <p:cNvSpPr/>
            <p:nvPr/>
          </p:nvSpPr>
          <p:spPr>
            <a:xfrm flipH="false" flipV="false" rot="0">
              <a:off x="48084" y="48743"/>
              <a:ext cx="244733" cy="795029"/>
            </a:xfrm>
            <a:custGeom>
              <a:avLst/>
              <a:gdLst/>
              <a:ahLst/>
              <a:cxnLst/>
              <a:rect r="r" b="b" t="t" l="l"/>
              <a:pathLst>
                <a:path h="795029" w="244733">
                  <a:moveTo>
                    <a:pt x="213536" y="85877"/>
                  </a:moveTo>
                  <a:cubicBezTo>
                    <a:pt x="189406" y="323367"/>
                    <a:pt x="212266" y="499897"/>
                    <a:pt x="197026" y="577367"/>
                  </a:cubicBezTo>
                  <a:cubicBezTo>
                    <a:pt x="188136" y="619277"/>
                    <a:pt x="152576" y="648487"/>
                    <a:pt x="156386" y="670077"/>
                  </a:cubicBezTo>
                  <a:cubicBezTo>
                    <a:pt x="160196" y="684047"/>
                    <a:pt x="185596" y="687857"/>
                    <a:pt x="189406" y="700557"/>
                  </a:cubicBezTo>
                  <a:cubicBezTo>
                    <a:pt x="191946" y="715797"/>
                    <a:pt x="176706" y="743737"/>
                    <a:pt x="166546" y="756437"/>
                  </a:cubicBezTo>
                  <a:cubicBezTo>
                    <a:pt x="157656" y="767867"/>
                    <a:pt x="144956" y="775487"/>
                    <a:pt x="132256" y="779297"/>
                  </a:cubicBezTo>
                  <a:cubicBezTo>
                    <a:pt x="119556" y="784377"/>
                    <a:pt x="104316" y="785647"/>
                    <a:pt x="91616" y="783107"/>
                  </a:cubicBezTo>
                  <a:cubicBezTo>
                    <a:pt x="78916" y="781837"/>
                    <a:pt x="64946" y="776757"/>
                    <a:pt x="53516" y="767867"/>
                  </a:cubicBezTo>
                  <a:cubicBezTo>
                    <a:pt x="39546" y="757707"/>
                    <a:pt x="25576" y="738657"/>
                    <a:pt x="20496" y="717067"/>
                  </a:cubicBezTo>
                  <a:cubicBezTo>
                    <a:pt x="12876" y="689127"/>
                    <a:pt x="28116" y="649757"/>
                    <a:pt x="26846" y="610387"/>
                  </a:cubicBezTo>
                  <a:cubicBezTo>
                    <a:pt x="24306" y="559587"/>
                    <a:pt x="7796" y="499897"/>
                    <a:pt x="3986" y="436397"/>
                  </a:cubicBezTo>
                  <a:cubicBezTo>
                    <a:pt x="-1094" y="356387"/>
                    <a:pt x="-1094" y="239547"/>
                    <a:pt x="2716" y="168427"/>
                  </a:cubicBezTo>
                  <a:cubicBezTo>
                    <a:pt x="5256" y="121437"/>
                    <a:pt x="-4904" y="79527"/>
                    <a:pt x="16686" y="51587"/>
                  </a:cubicBezTo>
                  <a:cubicBezTo>
                    <a:pt x="42086" y="21107"/>
                    <a:pt x="123366" y="-8103"/>
                    <a:pt x="158926" y="2057"/>
                  </a:cubicBezTo>
                  <a:cubicBezTo>
                    <a:pt x="186866" y="10947"/>
                    <a:pt x="204646" y="37617"/>
                    <a:pt x="219886" y="79527"/>
                  </a:cubicBezTo>
                  <a:cubicBezTo>
                    <a:pt x="256716" y="187477"/>
                    <a:pt x="249096" y="644677"/>
                    <a:pt x="219886" y="733577"/>
                  </a:cubicBezTo>
                  <a:cubicBezTo>
                    <a:pt x="210996" y="760247"/>
                    <a:pt x="199566" y="769137"/>
                    <a:pt x="185596" y="779297"/>
                  </a:cubicBezTo>
                  <a:cubicBezTo>
                    <a:pt x="170356" y="789457"/>
                    <a:pt x="148766" y="797077"/>
                    <a:pt x="129716" y="794537"/>
                  </a:cubicBezTo>
                  <a:cubicBezTo>
                    <a:pt x="106856" y="791997"/>
                    <a:pt x="71296" y="770407"/>
                    <a:pt x="58596" y="751357"/>
                  </a:cubicBezTo>
                  <a:cubicBezTo>
                    <a:pt x="47166" y="736117"/>
                    <a:pt x="42086" y="714527"/>
                    <a:pt x="45896" y="695477"/>
                  </a:cubicBezTo>
                  <a:cubicBezTo>
                    <a:pt x="49706" y="672617"/>
                    <a:pt x="73836" y="639597"/>
                    <a:pt x="92886" y="626897"/>
                  </a:cubicBezTo>
                  <a:cubicBezTo>
                    <a:pt x="109396" y="616737"/>
                    <a:pt x="130986" y="614197"/>
                    <a:pt x="148766" y="618007"/>
                  </a:cubicBezTo>
                  <a:cubicBezTo>
                    <a:pt x="166546" y="620547"/>
                    <a:pt x="188136" y="629437"/>
                    <a:pt x="199566" y="644677"/>
                  </a:cubicBezTo>
                  <a:cubicBezTo>
                    <a:pt x="214806" y="662457"/>
                    <a:pt x="227506" y="700557"/>
                    <a:pt x="222426" y="724687"/>
                  </a:cubicBezTo>
                  <a:cubicBezTo>
                    <a:pt x="217346" y="748817"/>
                    <a:pt x="190676" y="779297"/>
                    <a:pt x="167816" y="788187"/>
                  </a:cubicBezTo>
                  <a:cubicBezTo>
                    <a:pt x="144956" y="798347"/>
                    <a:pt x="104316" y="790727"/>
                    <a:pt x="83996" y="779297"/>
                  </a:cubicBezTo>
                  <a:cubicBezTo>
                    <a:pt x="67486" y="770407"/>
                    <a:pt x="58596" y="760247"/>
                    <a:pt x="49706" y="733577"/>
                  </a:cubicBezTo>
                  <a:cubicBezTo>
                    <a:pt x="23036" y="656107"/>
                    <a:pt x="23036" y="296697"/>
                    <a:pt x="45896" y="202717"/>
                  </a:cubicBezTo>
                  <a:cubicBezTo>
                    <a:pt x="54786" y="165887"/>
                    <a:pt x="63676" y="144297"/>
                    <a:pt x="83996" y="131597"/>
                  </a:cubicBezTo>
                  <a:cubicBezTo>
                    <a:pt x="106856" y="116357"/>
                    <a:pt x="157656" y="104927"/>
                    <a:pt x="179246" y="125247"/>
                  </a:cubicBezTo>
                  <a:cubicBezTo>
                    <a:pt x="218616" y="162077"/>
                    <a:pt x="167816" y="390677"/>
                    <a:pt x="175436" y="480847"/>
                  </a:cubicBezTo>
                  <a:cubicBezTo>
                    <a:pt x="180516" y="535457"/>
                    <a:pt x="197026" y="569747"/>
                    <a:pt x="198296" y="611657"/>
                  </a:cubicBezTo>
                  <a:cubicBezTo>
                    <a:pt x="199566" y="649757"/>
                    <a:pt x="197026" y="692937"/>
                    <a:pt x="185596" y="720877"/>
                  </a:cubicBezTo>
                  <a:cubicBezTo>
                    <a:pt x="177976" y="741197"/>
                    <a:pt x="164006" y="760247"/>
                    <a:pt x="150036" y="770407"/>
                  </a:cubicBezTo>
                  <a:cubicBezTo>
                    <a:pt x="138606" y="779297"/>
                    <a:pt x="124636" y="783107"/>
                    <a:pt x="111936" y="784377"/>
                  </a:cubicBezTo>
                  <a:cubicBezTo>
                    <a:pt x="99236" y="785647"/>
                    <a:pt x="83996" y="783107"/>
                    <a:pt x="71296" y="778027"/>
                  </a:cubicBezTo>
                  <a:cubicBezTo>
                    <a:pt x="59866" y="772947"/>
                    <a:pt x="47166" y="764057"/>
                    <a:pt x="38276" y="753897"/>
                  </a:cubicBezTo>
                  <a:cubicBezTo>
                    <a:pt x="29386" y="743737"/>
                    <a:pt x="24306" y="733577"/>
                    <a:pt x="20496" y="717067"/>
                  </a:cubicBezTo>
                  <a:cubicBezTo>
                    <a:pt x="12876" y="690397"/>
                    <a:pt x="11606" y="635787"/>
                    <a:pt x="14146" y="601497"/>
                  </a:cubicBezTo>
                  <a:cubicBezTo>
                    <a:pt x="15416" y="573557"/>
                    <a:pt x="25576" y="558317"/>
                    <a:pt x="29386" y="525297"/>
                  </a:cubicBezTo>
                  <a:cubicBezTo>
                    <a:pt x="35736" y="460527"/>
                    <a:pt x="28116" y="320827"/>
                    <a:pt x="34466" y="237007"/>
                  </a:cubicBezTo>
                  <a:cubicBezTo>
                    <a:pt x="39546" y="173507"/>
                    <a:pt x="43356" y="104927"/>
                    <a:pt x="58596" y="66827"/>
                  </a:cubicBezTo>
                  <a:cubicBezTo>
                    <a:pt x="67486" y="46507"/>
                    <a:pt x="76376" y="31267"/>
                    <a:pt x="90346" y="21107"/>
                  </a:cubicBezTo>
                  <a:cubicBezTo>
                    <a:pt x="104316" y="12217"/>
                    <a:pt x="128446" y="7137"/>
                    <a:pt x="143686" y="8407"/>
                  </a:cubicBezTo>
                  <a:cubicBezTo>
                    <a:pt x="157656" y="9677"/>
                    <a:pt x="169086" y="12217"/>
                    <a:pt x="179246" y="21107"/>
                  </a:cubicBezTo>
                  <a:cubicBezTo>
                    <a:pt x="193216" y="33807"/>
                    <a:pt x="213536" y="85877"/>
                    <a:pt x="213536" y="85877"/>
                  </a:cubicBezTo>
                </a:path>
              </a:pathLst>
            </a:custGeom>
            <a:solidFill>
              <a:srgbClr val="FFFFFF"/>
            </a:solidFill>
            <a:ln cap="sq">
              <a:noFill/>
              <a:prstDash val="solid"/>
              <a:miter/>
            </a:ln>
          </p:spPr>
        </p:sp>
      </p:grpSp>
      <p:sp>
        <p:nvSpPr>
          <p:cNvPr name="Freeform 15" id="15"/>
          <p:cNvSpPr/>
          <p:nvPr/>
        </p:nvSpPr>
        <p:spPr>
          <a:xfrm flipH="false" flipV="false" rot="0">
            <a:off x="4088791" y="2124366"/>
            <a:ext cx="9452957" cy="7775057"/>
          </a:xfrm>
          <a:custGeom>
            <a:avLst/>
            <a:gdLst/>
            <a:ahLst/>
            <a:cxnLst/>
            <a:rect r="r" b="b" t="t" l="l"/>
            <a:pathLst>
              <a:path h="7775057" w="9452957">
                <a:moveTo>
                  <a:pt x="0" y="0"/>
                </a:moveTo>
                <a:lnTo>
                  <a:pt x="9452957" y="0"/>
                </a:lnTo>
                <a:lnTo>
                  <a:pt x="9452957" y="7775058"/>
                </a:lnTo>
                <a:lnTo>
                  <a:pt x="0" y="7775058"/>
                </a:lnTo>
                <a:lnTo>
                  <a:pt x="0" y="0"/>
                </a:lnTo>
                <a:close/>
              </a:path>
            </a:pathLst>
          </a:custGeom>
          <a:blipFill>
            <a:blip r:embed="rId17"/>
            <a:stretch>
              <a:fillRect l="0" t="0" r="0" b="0"/>
            </a:stretch>
          </a:blipFill>
        </p:spPr>
      </p:sp>
      <p:sp>
        <p:nvSpPr>
          <p:cNvPr name="TextBox 16" id="16"/>
          <p:cNvSpPr txBox="true"/>
          <p:nvPr/>
        </p:nvSpPr>
        <p:spPr>
          <a:xfrm rot="0">
            <a:off x="15801838" y="639552"/>
            <a:ext cx="1644389" cy="26375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MAIS...</a:t>
            </a:r>
          </a:p>
        </p:txBody>
      </p:sp>
      <p:sp>
        <p:nvSpPr>
          <p:cNvPr name="TextBox 17" id="17"/>
          <p:cNvSpPr txBox="true"/>
          <p:nvPr/>
        </p:nvSpPr>
        <p:spPr>
          <a:xfrm rot="0">
            <a:off x="665736" y="1560214"/>
            <a:ext cx="1662550"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INICIO</a:t>
            </a:r>
          </a:p>
        </p:txBody>
      </p:sp>
      <p:sp>
        <p:nvSpPr>
          <p:cNvPr name="TextBox 18" id="18"/>
          <p:cNvSpPr txBox="true"/>
          <p:nvPr/>
        </p:nvSpPr>
        <p:spPr>
          <a:xfrm rot="0">
            <a:off x="2966444" y="161931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ESPORTE</a:t>
            </a:r>
          </a:p>
        </p:txBody>
      </p:sp>
      <p:sp>
        <p:nvSpPr>
          <p:cNvPr name="TextBox 19" id="19"/>
          <p:cNvSpPr txBox="true"/>
          <p:nvPr/>
        </p:nvSpPr>
        <p:spPr>
          <a:xfrm rot="0">
            <a:off x="-3498585" y="6582886"/>
            <a:ext cx="3946767" cy="253485"/>
          </a:xfrm>
          <a:prstGeom prst="rect">
            <a:avLst/>
          </a:prstGeom>
        </p:spPr>
        <p:txBody>
          <a:bodyPr anchor="t" rtlCol="false" tIns="0" lIns="0" bIns="0" rIns="0">
            <a:spAutoFit/>
          </a:bodyPr>
          <a:lstStyle/>
          <a:p>
            <a:pPr algn="just">
              <a:lnSpc>
                <a:spcPts val="1903"/>
              </a:lnSpc>
            </a:pPr>
            <a:r>
              <a:rPr lang="en-US" sz="1884" spc="-109">
                <a:solidFill>
                  <a:srgbClr val="FFFFFF"/>
                </a:solidFill>
                <a:latin typeface="Open Sauce"/>
                <a:ea typeface="Open Sauce"/>
                <a:cs typeface="Open Sauce"/>
                <a:sym typeface="Open Sauce"/>
              </a:rPr>
              <a:t>Creatina MAX 300g</a:t>
            </a:r>
          </a:p>
        </p:txBody>
      </p:sp>
      <p:sp>
        <p:nvSpPr>
          <p:cNvPr name="TextBox 20" id="20"/>
          <p:cNvSpPr txBox="true"/>
          <p:nvPr/>
        </p:nvSpPr>
        <p:spPr>
          <a:xfrm rot="0">
            <a:off x="8617067" y="423204"/>
            <a:ext cx="1053866"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INFORME SEU CEP</a:t>
            </a:r>
          </a:p>
        </p:txBody>
      </p:sp>
      <p:sp>
        <p:nvSpPr>
          <p:cNvPr name="TextBox 21" id="21"/>
          <p:cNvSpPr txBox="true"/>
          <p:nvPr/>
        </p:nvSpPr>
        <p:spPr>
          <a:xfrm rot="0">
            <a:off x="10585217" y="480898"/>
            <a:ext cx="1644389" cy="538486"/>
          </a:xfrm>
          <a:prstGeom prst="rect">
            <a:avLst/>
          </a:prstGeom>
        </p:spPr>
        <p:txBody>
          <a:bodyPr anchor="t" rtlCol="false" tIns="0" lIns="0" bIns="0" rIns="0">
            <a:spAutoFit/>
          </a:bodyPr>
          <a:lstStyle/>
          <a:p>
            <a:pPr algn="ctr" marL="0" indent="0" lvl="0">
              <a:lnSpc>
                <a:spcPts val="2179"/>
              </a:lnSpc>
              <a:spcBef>
                <a:spcPct val="0"/>
              </a:spcBef>
            </a:pPr>
            <a:r>
              <a:rPr lang="en-US" sz="1557">
                <a:solidFill>
                  <a:srgbClr val="FFFFFF"/>
                </a:solidFill>
                <a:latin typeface="Montserrat"/>
                <a:ea typeface="Montserrat"/>
                <a:cs typeface="Montserrat"/>
                <a:sym typeface="Montserrat"/>
              </a:rPr>
              <a:t>ENTRE OU CADASTRE-SE</a:t>
            </a:r>
          </a:p>
        </p:txBody>
      </p:sp>
      <p:sp>
        <p:nvSpPr>
          <p:cNvPr name="TextBox 22" id="22"/>
          <p:cNvSpPr txBox="true"/>
          <p:nvPr/>
        </p:nvSpPr>
        <p:spPr>
          <a:xfrm rot="0">
            <a:off x="408879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HOMENS</a:t>
            </a:r>
          </a:p>
        </p:txBody>
      </p:sp>
      <p:sp>
        <p:nvSpPr>
          <p:cNvPr name="TextBox 23" id="23"/>
          <p:cNvSpPr txBox="true"/>
          <p:nvPr/>
        </p:nvSpPr>
        <p:spPr>
          <a:xfrm rot="0">
            <a:off x="5402001" y="1617982"/>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MULHERES</a:t>
            </a:r>
          </a:p>
        </p:txBody>
      </p:sp>
      <p:sp>
        <p:nvSpPr>
          <p:cNvPr name="TextBox 24" id="24"/>
          <p:cNvSpPr txBox="true"/>
          <p:nvPr/>
        </p:nvSpPr>
        <p:spPr>
          <a:xfrm rot="0">
            <a:off x="6887544"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CRIANÇAS</a:t>
            </a:r>
          </a:p>
        </p:txBody>
      </p:sp>
      <p:sp>
        <p:nvSpPr>
          <p:cNvPr name="TextBox 25" id="25"/>
          <p:cNvSpPr txBox="true"/>
          <p:nvPr/>
        </p:nvSpPr>
        <p:spPr>
          <a:xfrm rot="0">
            <a:off x="8271413"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CALÇADOS</a:t>
            </a:r>
          </a:p>
        </p:txBody>
      </p:sp>
      <p:sp>
        <p:nvSpPr>
          <p:cNvPr name="TextBox 26" id="26"/>
          <p:cNvSpPr txBox="true"/>
          <p:nvPr/>
        </p:nvSpPr>
        <p:spPr>
          <a:xfrm rot="0">
            <a:off x="9540577" y="1591048"/>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ROUPAS</a:t>
            </a:r>
          </a:p>
        </p:txBody>
      </p:sp>
      <p:sp>
        <p:nvSpPr>
          <p:cNvPr name="TextBox 27" id="27"/>
          <p:cNvSpPr txBox="true"/>
          <p:nvPr/>
        </p:nvSpPr>
        <p:spPr>
          <a:xfrm rot="0">
            <a:off x="10750807"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CORRIDA</a:t>
            </a:r>
          </a:p>
        </p:txBody>
      </p:sp>
      <p:sp>
        <p:nvSpPr>
          <p:cNvPr name="TextBox 28" id="28"/>
          <p:cNvSpPr txBox="true"/>
          <p:nvPr/>
        </p:nvSpPr>
        <p:spPr>
          <a:xfrm rot="0">
            <a:off x="12040619" y="1570976"/>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FUTEBOL</a:t>
            </a:r>
          </a:p>
        </p:txBody>
      </p:sp>
      <p:sp>
        <p:nvSpPr>
          <p:cNvPr name="TextBox 29" id="29"/>
          <p:cNvSpPr txBox="true"/>
          <p:nvPr/>
        </p:nvSpPr>
        <p:spPr>
          <a:xfrm rot="0">
            <a:off x="13366481" y="1562309"/>
            <a:ext cx="1313211"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BASQUETE</a:t>
            </a:r>
          </a:p>
        </p:txBody>
      </p:sp>
      <p:sp>
        <p:nvSpPr>
          <p:cNvPr name="TextBox 30" id="30"/>
          <p:cNvSpPr txBox="true"/>
          <p:nvPr/>
        </p:nvSpPr>
        <p:spPr>
          <a:xfrm rot="0">
            <a:off x="14708304" y="156230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SUPLEMENTOS</a:t>
            </a:r>
          </a:p>
        </p:txBody>
      </p:sp>
      <p:sp>
        <p:nvSpPr>
          <p:cNvPr name="TextBox 31" id="31"/>
          <p:cNvSpPr txBox="true"/>
          <p:nvPr/>
        </p:nvSpPr>
        <p:spPr>
          <a:xfrm rot="0">
            <a:off x="16221859" y="1569739"/>
            <a:ext cx="1832866" cy="241934"/>
          </a:xfrm>
          <a:prstGeom prst="rect">
            <a:avLst/>
          </a:prstGeom>
        </p:spPr>
        <p:txBody>
          <a:bodyPr anchor="t" rtlCol="false" tIns="0" lIns="0" bIns="0" rIns="0">
            <a:spAutoFit/>
          </a:bodyPr>
          <a:lstStyle/>
          <a:p>
            <a:pPr algn="ctr" marL="0" indent="0" lvl="0">
              <a:lnSpc>
                <a:spcPts val="1977"/>
              </a:lnSpc>
              <a:spcBef>
                <a:spcPct val="0"/>
              </a:spcBef>
            </a:pPr>
            <a:r>
              <a:rPr lang="en-US" sz="1412">
                <a:solidFill>
                  <a:srgbClr val="FFFFFF"/>
                </a:solidFill>
                <a:latin typeface="Montserrat"/>
                <a:ea typeface="Montserrat"/>
                <a:cs typeface="Montserrat"/>
                <a:sym typeface="Montserrat"/>
              </a:rPr>
              <a:t>MARCAS</a:t>
            </a:r>
          </a:p>
        </p:txBody>
      </p:sp>
      <p:sp>
        <p:nvSpPr>
          <p:cNvPr name="TextBox 32" id="3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548534" y="-1897234"/>
            <a:ext cx="21385068" cy="13512898"/>
          </a:xfrm>
          <a:prstGeom prst="rect">
            <a:avLst/>
          </a:prstGeom>
        </p:spPr>
      </p:pic>
      <p:sp>
        <p:nvSpPr>
          <p:cNvPr name="TextBox 3" id="3"/>
          <p:cNvSpPr txBox="true"/>
          <p:nvPr/>
        </p:nvSpPr>
        <p:spPr>
          <a:xfrm rot="0">
            <a:off x="16968788" y="2720011"/>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flipV="true">
            <a:off x="-437923" y="1643817"/>
            <a:ext cx="20618355" cy="0"/>
          </a:xfrm>
          <a:prstGeom prst="line">
            <a:avLst/>
          </a:prstGeom>
          <a:ln cap="flat" w="28575">
            <a:solidFill>
              <a:srgbClr val="FFFFFF"/>
            </a:solidFill>
            <a:prstDash val="solid"/>
            <a:headEnd type="none" len="sm" w="sm"/>
            <a:tailEnd type="none" len="sm" w="sm"/>
          </a:ln>
        </p:spPr>
      </p:sp>
      <p:grpSp>
        <p:nvGrpSpPr>
          <p:cNvPr name="Group 3" id="3"/>
          <p:cNvGrpSpPr/>
          <p:nvPr/>
        </p:nvGrpSpPr>
        <p:grpSpPr>
          <a:xfrm rot="0">
            <a:off x="-173980" y="9200519"/>
            <a:ext cx="18635960" cy="1365570"/>
            <a:chOff x="0" y="0"/>
            <a:chExt cx="4908236" cy="359656"/>
          </a:xfrm>
        </p:grpSpPr>
        <p:sp>
          <p:nvSpPr>
            <p:cNvPr name="Freeform 4" id="4"/>
            <p:cNvSpPr/>
            <p:nvPr/>
          </p:nvSpPr>
          <p:spPr>
            <a:xfrm flipH="false" flipV="false" rot="0">
              <a:off x="0" y="0"/>
              <a:ext cx="4908236" cy="359656"/>
            </a:xfrm>
            <a:custGeom>
              <a:avLst/>
              <a:gdLst/>
              <a:ahLst/>
              <a:cxnLst/>
              <a:rect r="r" b="b" t="t" l="l"/>
              <a:pathLst>
                <a:path h="359656" w="4908236">
                  <a:moveTo>
                    <a:pt x="0" y="0"/>
                  </a:moveTo>
                  <a:lnTo>
                    <a:pt x="4908236" y="0"/>
                  </a:lnTo>
                  <a:lnTo>
                    <a:pt x="4908236" y="359656"/>
                  </a:lnTo>
                  <a:lnTo>
                    <a:pt x="0" y="359656"/>
                  </a:lnTo>
                  <a:close/>
                </a:path>
              </a:pathLst>
            </a:custGeom>
            <a:solidFill>
              <a:srgbClr val="000000"/>
            </a:solidFill>
          </p:spPr>
        </p:sp>
        <p:sp>
          <p:nvSpPr>
            <p:cNvPr name="TextBox 5" id="5"/>
            <p:cNvSpPr txBox="true"/>
            <p:nvPr/>
          </p:nvSpPr>
          <p:spPr>
            <a:xfrm>
              <a:off x="0" y="-38100"/>
              <a:ext cx="4908236" cy="397756"/>
            </a:xfrm>
            <a:prstGeom prst="rect">
              <a:avLst/>
            </a:prstGeom>
          </p:spPr>
          <p:txBody>
            <a:bodyPr anchor="ctr" rtlCol="false" tIns="50800" lIns="50800" bIns="50800" rIns="50800"/>
            <a:lstStyle/>
            <a:p>
              <a:pPr algn="ctr">
                <a:lnSpc>
                  <a:spcPts val="2871"/>
                </a:lnSpc>
              </a:pPr>
            </a:p>
          </p:txBody>
        </p:sp>
      </p:grpSp>
      <p:grpSp>
        <p:nvGrpSpPr>
          <p:cNvPr name="Group 6" id="6"/>
          <p:cNvGrpSpPr/>
          <p:nvPr/>
        </p:nvGrpSpPr>
        <p:grpSpPr>
          <a:xfrm rot="0">
            <a:off x="-173980" y="9826154"/>
            <a:ext cx="18635960" cy="1378946"/>
            <a:chOff x="0" y="0"/>
            <a:chExt cx="4908236" cy="363179"/>
          </a:xfrm>
        </p:grpSpPr>
        <p:sp>
          <p:nvSpPr>
            <p:cNvPr name="Freeform 7" id="7"/>
            <p:cNvSpPr/>
            <p:nvPr/>
          </p:nvSpPr>
          <p:spPr>
            <a:xfrm flipH="false" flipV="false" rot="0">
              <a:off x="0" y="0"/>
              <a:ext cx="4908236" cy="363179"/>
            </a:xfrm>
            <a:custGeom>
              <a:avLst/>
              <a:gdLst/>
              <a:ahLst/>
              <a:cxnLst/>
              <a:rect r="r" b="b" t="t" l="l"/>
              <a:pathLst>
                <a:path h="363179" w="4908236">
                  <a:moveTo>
                    <a:pt x="0" y="0"/>
                  </a:moveTo>
                  <a:lnTo>
                    <a:pt x="4908236" y="0"/>
                  </a:lnTo>
                  <a:lnTo>
                    <a:pt x="4908236" y="363179"/>
                  </a:lnTo>
                  <a:lnTo>
                    <a:pt x="0" y="363179"/>
                  </a:lnTo>
                  <a:close/>
                </a:path>
              </a:pathLst>
            </a:custGeom>
            <a:solidFill>
              <a:srgbClr val="85131E"/>
            </a:solidFill>
          </p:spPr>
        </p:sp>
        <p:sp>
          <p:nvSpPr>
            <p:cNvPr name="TextBox 8" id="8"/>
            <p:cNvSpPr txBox="true"/>
            <p:nvPr/>
          </p:nvSpPr>
          <p:spPr>
            <a:xfrm>
              <a:off x="0" y="-38100"/>
              <a:ext cx="4908236" cy="401279"/>
            </a:xfrm>
            <a:prstGeom prst="rect">
              <a:avLst/>
            </a:prstGeom>
          </p:spPr>
          <p:txBody>
            <a:bodyPr anchor="ctr" rtlCol="false" tIns="50800" lIns="50800" bIns="50800" rIns="50800"/>
            <a:lstStyle/>
            <a:p>
              <a:pPr algn="ctr">
                <a:lnSpc>
                  <a:spcPts val="2871"/>
                </a:lnSpc>
              </a:pPr>
            </a:p>
          </p:txBody>
        </p:sp>
      </p:grpSp>
      <p:grpSp>
        <p:nvGrpSpPr>
          <p:cNvPr name="Group 9" id="9"/>
          <p:cNvGrpSpPr/>
          <p:nvPr/>
        </p:nvGrpSpPr>
        <p:grpSpPr>
          <a:xfrm rot="0">
            <a:off x="17010231" y="9200519"/>
            <a:ext cx="1451749" cy="1251270"/>
            <a:chOff x="0" y="0"/>
            <a:chExt cx="382354" cy="329553"/>
          </a:xfrm>
        </p:grpSpPr>
        <p:sp>
          <p:nvSpPr>
            <p:cNvPr name="Freeform 10" id="10"/>
            <p:cNvSpPr/>
            <p:nvPr/>
          </p:nvSpPr>
          <p:spPr>
            <a:xfrm flipH="false" flipV="false" rot="0">
              <a:off x="0" y="0"/>
              <a:ext cx="382354" cy="329553"/>
            </a:xfrm>
            <a:custGeom>
              <a:avLst/>
              <a:gdLst/>
              <a:ahLst/>
              <a:cxnLst/>
              <a:rect r="r" b="b" t="t" l="l"/>
              <a:pathLst>
                <a:path h="329553" w="382354">
                  <a:moveTo>
                    <a:pt x="0" y="0"/>
                  </a:moveTo>
                  <a:lnTo>
                    <a:pt x="382354" y="0"/>
                  </a:lnTo>
                  <a:lnTo>
                    <a:pt x="382354" y="329553"/>
                  </a:lnTo>
                  <a:lnTo>
                    <a:pt x="0" y="329553"/>
                  </a:lnTo>
                  <a:close/>
                </a:path>
              </a:pathLst>
            </a:custGeom>
            <a:solidFill>
              <a:srgbClr val="FFFFFF"/>
            </a:solidFill>
          </p:spPr>
        </p:sp>
        <p:sp>
          <p:nvSpPr>
            <p:cNvPr name="TextBox 11" id="11"/>
            <p:cNvSpPr txBox="true"/>
            <p:nvPr/>
          </p:nvSpPr>
          <p:spPr>
            <a:xfrm>
              <a:off x="0" y="-38100"/>
              <a:ext cx="382354" cy="367653"/>
            </a:xfrm>
            <a:prstGeom prst="rect">
              <a:avLst/>
            </a:prstGeom>
          </p:spPr>
          <p:txBody>
            <a:bodyPr anchor="ctr" rtlCol="false" tIns="50800" lIns="50800" bIns="50800" rIns="50800"/>
            <a:lstStyle/>
            <a:p>
              <a:pPr algn="ctr">
                <a:lnSpc>
                  <a:spcPts val="2871"/>
                </a:lnSpc>
              </a:pPr>
            </a:p>
          </p:txBody>
        </p:sp>
      </p:grpSp>
      <p:grpSp>
        <p:nvGrpSpPr>
          <p:cNvPr name="Group 12" id="12"/>
          <p:cNvGrpSpPr/>
          <p:nvPr/>
        </p:nvGrpSpPr>
        <p:grpSpPr>
          <a:xfrm rot="0">
            <a:off x="16679665" y="3097546"/>
            <a:ext cx="579635" cy="551160"/>
            <a:chOff x="0" y="0"/>
            <a:chExt cx="152661" cy="145162"/>
          </a:xfrm>
        </p:grpSpPr>
        <p:sp>
          <p:nvSpPr>
            <p:cNvPr name="Freeform 13" id="13"/>
            <p:cNvSpPr/>
            <p:nvPr/>
          </p:nvSpPr>
          <p:spPr>
            <a:xfrm flipH="false" flipV="false" rot="0">
              <a:off x="0" y="0"/>
              <a:ext cx="152661" cy="145162"/>
            </a:xfrm>
            <a:custGeom>
              <a:avLst/>
              <a:gdLst/>
              <a:ahLst/>
              <a:cxnLst/>
              <a:rect r="r" b="b" t="t" l="l"/>
              <a:pathLst>
                <a:path h="145162" w="152661">
                  <a:moveTo>
                    <a:pt x="0" y="0"/>
                  </a:moveTo>
                  <a:lnTo>
                    <a:pt x="152661" y="0"/>
                  </a:lnTo>
                  <a:lnTo>
                    <a:pt x="152661" y="145162"/>
                  </a:lnTo>
                  <a:lnTo>
                    <a:pt x="0" y="145162"/>
                  </a:lnTo>
                  <a:close/>
                </a:path>
              </a:pathLst>
            </a:custGeom>
            <a:solidFill>
              <a:srgbClr val="000000"/>
            </a:solidFill>
          </p:spPr>
        </p:sp>
        <p:sp>
          <p:nvSpPr>
            <p:cNvPr name="TextBox 14" id="14"/>
            <p:cNvSpPr txBox="true"/>
            <p:nvPr/>
          </p:nvSpPr>
          <p:spPr>
            <a:xfrm>
              <a:off x="0" y="-38100"/>
              <a:ext cx="152661" cy="183262"/>
            </a:xfrm>
            <a:prstGeom prst="rect">
              <a:avLst/>
            </a:prstGeom>
          </p:spPr>
          <p:txBody>
            <a:bodyPr anchor="ctr" rtlCol="false" tIns="50800" lIns="50800" bIns="50800" rIns="50800"/>
            <a:lstStyle/>
            <a:p>
              <a:pPr algn="ctr">
                <a:lnSpc>
                  <a:spcPts val="2871"/>
                </a:lnSpc>
              </a:pPr>
            </a:p>
          </p:txBody>
        </p:sp>
      </p:grpSp>
      <p:grpSp>
        <p:nvGrpSpPr>
          <p:cNvPr name="Group 15" id="15"/>
          <p:cNvGrpSpPr/>
          <p:nvPr/>
        </p:nvGrpSpPr>
        <p:grpSpPr>
          <a:xfrm rot="0">
            <a:off x="741548" y="7040868"/>
            <a:ext cx="579635" cy="551160"/>
            <a:chOff x="0" y="0"/>
            <a:chExt cx="152661" cy="145162"/>
          </a:xfrm>
        </p:grpSpPr>
        <p:sp>
          <p:nvSpPr>
            <p:cNvPr name="Freeform 16" id="16"/>
            <p:cNvSpPr/>
            <p:nvPr/>
          </p:nvSpPr>
          <p:spPr>
            <a:xfrm flipH="false" flipV="false" rot="0">
              <a:off x="0" y="0"/>
              <a:ext cx="152661" cy="145162"/>
            </a:xfrm>
            <a:custGeom>
              <a:avLst/>
              <a:gdLst/>
              <a:ahLst/>
              <a:cxnLst/>
              <a:rect r="r" b="b" t="t" l="l"/>
              <a:pathLst>
                <a:path h="145162" w="152661">
                  <a:moveTo>
                    <a:pt x="0" y="0"/>
                  </a:moveTo>
                  <a:lnTo>
                    <a:pt x="152661" y="0"/>
                  </a:lnTo>
                  <a:lnTo>
                    <a:pt x="152661" y="145162"/>
                  </a:lnTo>
                  <a:lnTo>
                    <a:pt x="0" y="145162"/>
                  </a:lnTo>
                  <a:close/>
                </a:path>
              </a:pathLst>
            </a:custGeom>
            <a:solidFill>
              <a:srgbClr val="85131E"/>
            </a:solidFill>
          </p:spPr>
        </p:sp>
        <p:sp>
          <p:nvSpPr>
            <p:cNvPr name="TextBox 17" id="17"/>
            <p:cNvSpPr txBox="true"/>
            <p:nvPr/>
          </p:nvSpPr>
          <p:spPr>
            <a:xfrm>
              <a:off x="0" y="-38100"/>
              <a:ext cx="152661" cy="183262"/>
            </a:xfrm>
            <a:prstGeom prst="rect">
              <a:avLst/>
            </a:prstGeom>
          </p:spPr>
          <p:txBody>
            <a:bodyPr anchor="ctr" rtlCol="false" tIns="50800" lIns="50800" bIns="50800" rIns="50800"/>
            <a:lstStyle/>
            <a:p>
              <a:pPr algn="ctr">
                <a:lnSpc>
                  <a:spcPts val="2871"/>
                </a:lnSpc>
              </a:pPr>
            </a:p>
          </p:txBody>
        </p:sp>
      </p:grpSp>
      <p:grpSp>
        <p:nvGrpSpPr>
          <p:cNvPr name="Group 18" id="18"/>
          <p:cNvGrpSpPr/>
          <p:nvPr/>
        </p:nvGrpSpPr>
        <p:grpSpPr>
          <a:xfrm rot="0">
            <a:off x="17259300" y="3648706"/>
            <a:ext cx="1932259" cy="427980"/>
            <a:chOff x="0" y="0"/>
            <a:chExt cx="508908" cy="112719"/>
          </a:xfrm>
        </p:grpSpPr>
        <p:sp>
          <p:nvSpPr>
            <p:cNvPr name="Freeform 19" id="19"/>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20" id="20"/>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grpSp>
        <p:nvGrpSpPr>
          <p:cNvPr name="Group 21" id="21"/>
          <p:cNvGrpSpPr/>
          <p:nvPr/>
        </p:nvGrpSpPr>
        <p:grpSpPr>
          <a:xfrm rot="0">
            <a:off x="-900893" y="7378038"/>
            <a:ext cx="1932259" cy="427980"/>
            <a:chOff x="0" y="0"/>
            <a:chExt cx="508908" cy="112719"/>
          </a:xfrm>
        </p:grpSpPr>
        <p:sp>
          <p:nvSpPr>
            <p:cNvPr name="Freeform 22" id="22"/>
            <p:cNvSpPr/>
            <p:nvPr/>
          </p:nvSpPr>
          <p:spPr>
            <a:xfrm flipH="false" flipV="false" rot="0">
              <a:off x="0" y="0"/>
              <a:ext cx="508908" cy="112719"/>
            </a:xfrm>
            <a:custGeom>
              <a:avLst/>
              <a:gdLst/>
              <a:ahLst/>
              <a:cxnLst/>
              <a:rect r="r" b="b" t="t" l="l"/>
              <a:pathLst>
                <a:path h="112719" w="508908">
                  <a:moveTo>
                    <a:pt x="0" y="0"/>
                  </a:moveTo>
                  <a:lnTo>
                    <a:pt x="508908" y="0"/>
                  </a:lnTo>
                  <a:lnTo>
                    <a:pt x="508908" y="112719"/>
                  </a:lnTo>
                  <a:lnTo>
                    <a:pt x="0" y="112719"/>
                  </a:lnTo>
                  <a:close/>
                </a:path>
              </a:pathLst>
            </a:custGeom>
            <a:solidFill>
              <a:srgbClr val="FFFFFF"/>
            </a:solidFill>
          </p:spPr>
        </p:sp>
        <p:sp>
          <p:nvSpPr>
            <p:cNvPr name="TextBox 23" id="23"/>
            <p:cNvSpPr txBox="true"/>
            <p:nvPr/>
          </p:nvSpPr>
          <p:spPr>
            <a:xfrm>
              <a:off x="0" y="-38100"/>
              <a:ext cx="508908" cy="150819"/>
            </a:xfrm>
            <a:prstGeom prst="rect">
              <a:avLst/>
            </a:prstGeom>
          </p:spPr>
          <p:txBody>
            <a:bodyPr anchor="ctr" rtlCol="false" tIns="50800" lIns="50800" bIns="50800" rIns="50800"/>
            <a:lstStyle/>
            <a:p>
              <a:pPr algn="ctr">
                <a:lnSpc>
                  <a:spcPts val="2871"/>
                </a:lnSpc>
              </a:pPr>
            </a:p>
          </p:txBody>
        </p:sp>
      </p:grpSp>
      <p:sp>
        <p:nvSpPr>
          <p:cNvPr name="Freeform 24" id="24"/>
          <p:cNvSpPr/>
          <p:nvPr/>
        </p:nvSpPr>
        <p:spPr>
          <a:xfrm flipH="false" flipV="false" rot="0">
            <a:off x="-137042" y="34341"/>
            <a:ext cx="4122138" cy="2302056"/>
          </a:xfrm>
          <a:custGeom>
            <a:avLst/>
            <a:gdLst/>
            <a:ahLst/>
            <a:cxnLst/>
            <a:rect r="r" b="b" t="t" l="l"/>
            <a:pathLst>
              <a:path h="2302056" w="4122138">
                <a:moveTo>
                  <a:pt x="0" y="0"/>
                </a:moveTo>
                <a:lnTo>
                  <a:pt x="4122137" y="0"/>
                </a:lnTo>
                <a:lnTo>
                  <a:pt x="4122137" y="2302056"/>
                </a:lnTo>
                <a:lnTo>
                  <a:pt x="0" y="2302056"/>
                </a:lnTo>
                <a:lnTo>
                  <a:pt x="0" y="0"/>
                </a:lnTo>
                <a:close/>
              </a:path>
            </a:pathLst>
          </a:custGeom>
          <a:blipFill>
            <a:blip r:embed="rId2"/>
            <a:stretch>
              <a:fillRect l="0" t="-41914" r="0" b="-37148"/>
            </a:stretch>
          </a:blipFill>
        </p:spPr>
      </p:sp>
      <p:grpSp>
        <p:nvGrpSpPr>
          <p:cNvPr name="Group 25" id="25"/>
          <p:cNvGrpSpPr/>
          <p:nvPr/>
        </p:nvGrpSpPr>
        <p:grpSpPr>
          <a:xfrm rot="0">
            <a:off x="16394687" y="2830843"/>
            <a:ext cx="916535" cy="817864"/>
            <a:chOff x="0" y="0"/>
            <a:chExt cx="241392" cy="215404"/>
          </a:xfrm>
        </p:grpSpPr>
        <p:sp>
          <p:nvSpPr>
            <p:cNvPr name="Freeform 26" id="26"/>
            <p:cNvSpPr/>
            <p:nvPr/>
          </p:nvSpPr>
          <p:spPr>
            <a:xfrm flipH="false" flipV="false" rot="0">
              <a:off x="0" y="0"/>
              <a:ext cx="241392" cy="215404"/>
            </a:xfrm>
            <a:custGeom>
              <a:avLst/>
              <a:gdLst/>
              <a:ahLst/>
              <a:cxnLst/>
              <a:rect r="r" b="b" t="t" l="l"/>
              <a:pathLst>
                <a:path h="215404" w="241392">
                  <a:moveTo>
                    <a:pt x="0" y="0"/>
                  </a:moveTo>
                  <a:lnTo>
                    <a:pt x="241392" y="0"/>
                  </a:lnTo>
                  <a:lnTo>
                    <a:pt x="241392" y="215404"/>
                  </a:lnTo>
                  <a:lnTo>
                    <a:pt x="0" y="215404"/>
                  </a:lnTo>
                  <a:close/>
                </a:path>
              </a:pathLst>
            </a:custGeom>
            <a:solidFill>
              <a:srgbClr val="871D2A"/>
            </a:solidFill>
          </p:spPr>
        </p:sp>
        <p:sp>
          <p:nvSpPr>
            <p:cNvPr name="TextBox 27" id="27"/>
            <p:cNvSpPr txBox="true"/>
            <p:nvPr/>
          </p:nvSpPr>
          <p:spPr>
            <a:xfrm>
              <a:off x="0" y="-38100"/>
              <a:ext cx="241392" cy="253504"/>
            </a:xfrm>
            <a:prstGeom prst="rect">
              <a:avLst/>
            </a:prstGeom>
          </p:spPr>
          <p:txBody>
            <a:bodyPr anchor="ctr" rtlCol="false" tIns="50800" lIns="50800" bIns="50800" rIns="50800"/>
            <a:lstStyle/>
            <a:p>
              <a:pPr algn="ctr">
                <a:lnSpc>
                  <a:spcPts val="2871"/>
                </a:lnSpc>
              </a:pPr>
            </a:p>
          </p:txBody>
        </p:sp>
      </p:grpSp>
      <p:sp>
        <p:nvSpPr>
          <p:cNvPr name="TextBox 28" id="28"/>
          <p:cNvSpPr txBox="true"/>
          <p:nvPr/>
        </p:nvSpPr>
        <p:spPr>
          <a:xfrm rot="0">
            <a:off x="15155897" y="4785596"/>
            <a:ext cx="10721836" cy="1722565"/>
          </a:xfrm>
          <a:prstGeom prst="rect">
            <a:avLst/>
          </a:prstGeom>
        </p:spPr>
        <p:txBody>
          <a:bodyPr anchor="t" rtlCol="false" tIns="0" lIns="0" bIns="0" rIns="0">
            <a:spAutoFit/>
          </a:bodyPr>
          <a:lstStyle/>
          <a:p>
            <a:pPr algn="ctr">
              <a:lnSpc>
                <a:spcPts val="14083"/>
              </a:lnSpc>
              <a:spcBef>
                <a:spcPct val="0"/>
              </a:spcBef>
            </a:pPr>
            <a:r>
              <a:rPr lang="en-US" b="true" sz="10059">
                <a:solidFill>
                  <a:srgbClr val="FFFFFF"/>
                </a:solidFill>
                <a:latin typeface="Open Sauce Bold"/>
                <a:ea typeface="Open Sauce Bold"/>
                <a:cs typeface="Open Sauce Bold"/>
                <a:sym typeface="Open Sauce Bold"/>
              </a:rPr>
              <a:t>O</a:t>
            </a:r>
          </a:p>
        </p:txBody>
      </p:sp>
      <p:sp>
        <p:nvSpPr>
          <p:cNvPr name="TextBox 29" id="29"/>
          <p:cNvSpPr txBox="true"/>
          <p:nvPr/>
        </p:nvSpPr>
        <p:spPr>
          <a:xfrm rot="0">
            <a:off x="8210648" y="833931"/>
            <a:ext cx="1999329"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JOÃO OTAVIO</a:t>
            </a:r>
          </a:p>
        </p:txBody>
      </p:sp>
      <p:sp>
        <p:nvSpPr>
          <p:cNvPr name="TextBox 30" id="30"/>
          <p:cNvSpPr txBox="true"/>
          <p:nvPr/>
        </p:nvSpPr>
        <p:spPr>
          <a:xfrm rot="0">
            <a:off x="5918680" y="833931"/>
            <a:ext cx="1907082"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RENAN</a:t>
            </a:r>
          </a:p>
        </p:txBody>
      </p:sp>
      <p:sp>
        <p:nvSpPr>
          <p:cNvPr name="TextBox 31" id="31"/>
          <p:cNvSpPr txBox="true"/>
          <p:nvPr/>
        </p:nvSpPr>
        <p:spPr>
          <a:xfrm rot="0">
            <a:off x="3985095" y="837423"/>
            <a:ext cx="1933585"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CAETANO</a:t>
            </a:r>
          </a:p>
        </p:txBody>
      </p:sp>
      <p:sp>
        <p:nvSpPr>
          <p:cNvPr name="TextBox 32" id="32"/>
          <p:cNvSpPr txBox="true"/>
          <p:nvPr/>
        </p:nvSpPr>
        <p:spPr>
          <a:xfrm rot="0">
            <a:off x="10594864" y="837423"/>
            <a:ext cx="2224975"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PEDRO ELIAS</a:t>
            </a:r>
          </a:p>
        </p:txBody>
      </p:sp>
      <p:sp>
        <p:nvSpPr>
          <p:cNvPr name="TextBox 33" id="33"/>
          <p:cNvSpPr txBox="true"/>
          <p:nvPr/>
        </p:nvSpPr>
        <p:spPr>
          <a:xfrm rot="0">
            <a:off x="12648519" y="837423"/>
            <a:ext cx="2224975" cy="347946"/>
          </a:xfrm>
          <a:prstGeom prst="rect">
            <a:avLst/>
          </a:prstGeom>
        </p:spPr>
        <p:txBody>
          <a:bodyPr anchor="t" rtlCol="false" tIns="0" lIns="0" bIns="0" rIns="0">
            <a:spAutoFit/>
          </a:bodyPr>
          <a:lstStyle/>
          <a:p>
            <a:pPr algn="ctr" marL="0" indent="0" lvl="0">
              <a:lnSpc>
                <a:spcPts val="2871"/>
              </a:lnSpc>
              <a:spcBef>
                <a:spcPct val="0"/>
              </a:spcBef>
            </a:pPr>
            <a:r>
              <a:rPr lang="en-US" sz="2051">
                <a:solidFill>
                  <a:srgbClr val="FFFFFF"/>
                </a:solidFill>
                <a:latin typeface="Montserrat"/>
                <a:ea typeface="Montserrat"/>
                <a:cs typeface="Montserrat"/>
                <a:sym typeface="Montserrat"/>
              </a:rPr>
              <a:t>G. DUTRA</a:t>
            </a:r>
          </a:p>
        </p:txBody>
      </p:sp>
      <p:sp>
        <p:nvSpPr>
          <p:cNvPr name="TextBox 34" id="34"/>
          <p:cNvSpPr txBox="true"/>
          <p:nvPr/>
        </p:nvSpPr>
        <p:spPr>
          <a:xfrm rot="0">
            <a:off x="2109978" y="3482491"/>
            <a:ext cx="14068043" cy="3163730"/>
          </a:xfrm>
          <a:prstGeom prst="rect">
            <a:avLst/>
          </a:prstGeom>
        </p:spPr>
        <p:txBody>
          <a:bodyPr anchor="t" rtlCol="false" tIns="0" lIns="0" bIns="0" rIns="0">
            <a:spAutoFit/>
          </a:bodyPr>
          <a:lstStyle/>
          <a:p>
            <a:pPr algn="ctr">
              <a:lnSpc>
                <a:spcPts val="12369"/>
              </a:lnSpc>
            </a:pPr>
            <a:r>
              <a:rPr lang="en-US" sz="8835">
                <a:solidFill>
                  <a:srgbClr val="FFFFFF"/>
                </a:solidFill>
                <a:latin typeface="Horizon"/>
                <a:ea typeface="Horizon"/>
                <a:cs typeface="Horizon"/>
                <a:sym typeface="Horizon"/>
              </a:rPr>
              <a:t>OBRIGADO</a:t>
            </a:r>
          </a:p>
          <a:p>
            <a:pPr algn="ctr">
              <a:lnSpc>
                <a:spcPts val="12369"/>
              </a:lnSpc>
              <a:spcBef>
                <a:spcPct val="0"/>
              </a:spcBef>
            </a:pPr>
            <a:r>
              <a:rPr lang="en-US" sz="8835">
                <a:solidFill>
                  <a:srgbClr val="FFFFFF"/>
                </a:solidFill>
                <a:latin typeface="Horizon"/>
                <a:ea typeface="Horizon"/>
                <a:cs typeface="Horizon"/>
                <a:sym typeface="Horizon"/>
              </a:rPr>
              <a:t>PELA ATENÇÃO</a:t>
            </a:r>
          </a:p>
        </p:txBody>
      </p:sp>
      <p:sp>
        <p:nvSpPr>
          <p:cNvPr name="TextBox 35" id="35"/>
          <p:cNvSpPr txBox="true"/>
          <p:nvPr/>
        </p:nvSpPr>
        <p:spPr>
          <a:xfrm rot="0">
            <a:off x="17445593" y="962771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DAHAXEoj4Rg</dc:identifier>
  <dcterms:modified xsi:type="dcterms:W3CDTF">2011-08-01T06:04:30Z</dcterms:modified>
  <cp:revision>1</cp:revision>
  <dc:title>Grená</dc:title>
</cp:coreProperties>
</file>